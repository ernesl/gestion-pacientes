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19"/>
  </p:notesMasterIdLst>
  <p:sldIdLst>
    <p:sldId id="256" r:id="rId2"/>
    <p:sldId id="262" r:id="rId3"/>
    <p:sldId id="265" r:id="rId4"/>
    <p:sldId id="266" r:id="rId5"/>
    <p:sldId id="272" r:id="rId6"/>
    <p:sldId id="267" r:id="rId7"/>
    <p:sldId id="273" r:id="rId8"/>
    <p:sldId id="268" r:id="rId9"/>
    <p:sldId id="258" r:id="rId10"/>
    <p:sldId id="271" r:id="rId11"/>
    <p:sldId id="259" r:id="rId12"/>
    <p:sldId id="270" r:id="rId13"/>
    <p:sldId id="269" r:id="rId14"/>
    <p:sldId id="275" r:id="rId15"/>
    <p:sldId id="261" r:id="rId16"/>
    <p:sldId id="276" r:id="rId17"/>
    <p:sldId id="274" r:id="rId18"/>
  </p:sldIdLst>
  <p:sldSz cx="6757988" cy="9291638"/>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927" userDrawn="1">
          <p15:clr>
            <a:srgbClr val="A4A3A4"/>
          </p15:clr>
        </p15:guide>
        <p15:guide id="2" pos="212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a:srgbClr val="FF5B5B"/>
    <a:srgbClr val="033048"/>
    <a:srgbClr val="05A8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887" autoAdjust="0"/>
    <p:restoredTop sz="94658"/>
  </p:normalViewPr>
  <p:slideViewPr>
    <p:cSldViewPr snapToGrid="0" showGuides="1">
      <p:cViewPr varScale="1">
        <p:scale>
          <a:sx n="88" d="100"/>
          <a:sy n="88" d="100"/>
        </p:scale>
        <p:origin x="3272" y="200"/>
      </p:cViewPr>
      <p:guideLst>
        <p:guide orient="horz" pos="2927"/>
        <p:guide pos="212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VE"/>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9D708F69-F2B7-C24F-96E8-FF4AE470EE42}" type="datetimeFigureOut">
              <a:rPr lang="en-VE" smtClean="0"/>
              <a:t>5/4/26</a:t>
            </a:fld>
            <a:endParaRPr lang="en-VE"/>
          </a:p>
        </p:txBody>
      </p:sp>
      <p:sp>
        <p:nvSpPr>
          <p:cNvPr id="4" name="Slide Image Placeholder 3"/>
          <p:cNvSpPr>
            <a:spLocks noGrp="1" noRot="1" noChangeAspect="1"/>
          </p:cNvSpPr>
          <p:nvPr>
            <p:ph type="sldImg" idx="2"/>
          </p:nvPr>
        </p:nvSpPr>
        <p:spPr>
          <a:xfrm>
            <a:off x="3730625" y="857250"/>
            <a:ext cx="1682750" cy="2314575"/>
          </a:xfrm>
          <a:prstGeom prst="rect">
            <a:avLst/>
          </a:prstGeom>
          <a:noFill/>
          <a:ln w="12700">
            <a:solidFill>
              <a:prstClr val="black"/>
            </a:solidFill>
          </a:ln>
        </p:spPr>
        <p:txBody>
          <a:bodyPr vert="horz" lIns="91440" tIns="45720" rIns="91440" bIns="45720" rtlCol="0" anchor="ctr"/>
          <a:lstStyle/>
          <a:p>
            <a:endParaRPr lang="en-VE"/>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E"/>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VE"/>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E8290F40-B12C-6A4D-8A5B-634540DEE63F}" type="slidenum">
              <a:rPr lang="en-VE" smtClean="0"/>
              <a:t>‹#›</a:t>
            </a:fld>
            <a:endParaRPr lang="en-VE"/>
          </a:p>
        </p:txBody>
      </p:sp>
    </p:spTree>
    <p:extLst>
      <p:ext uri="{BB962C8B-B14F-4D97-AF65-F5344CB8AC3E}">
        <p14:creationId xmlns:p14="http://schemas.microsoft.com/office/powerpoint/2010/main" val="2331674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E"/>
          </a:p>
        </p:txBody>
      </p:sp>
      <p:sp>
        <p:nvSpPr>
          <p:cNvPr id="4" name="Slide Number Placeholder 3"/>
          <p:cNvSpPr>
            <a:spLocks noGrp="1"/>
          </p:cNvSpPr>
          <p:nvPr>
            <p:ph type="sldNum" sz="quarter" idx="5"/>
          </p:nvPr>
        </p:nvSpPr>
        <p:spPr/>
        <p:txBody>
          <a:bodyPr/>
          <a:lstStyle/>
          <a:p>
            <a:fld id="{E8290F40-B12C-6A4D-8A5B-634540DEE63F}" type="slidenum">
              <a:rPr lang="en-VE" smtClean="0"/>
              <a:t>1</a:t>
            </a:fld>
            <a:endParaRPr lang="en-VE"/>
          </a:p>
        </p:txBody>
      </p:sp>
    </p:spTree>
    <p:extLst>
      <p:ext uri="{BB962C8B-B14F-4D97-AF65-F5344CB8AC3E}">
        <p14:creationId xmlns:p14="http://schemas.microsoft.com/office/powerpoint/2010/main" val="34241765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506849" y="1520646"/>
            <a:ext cx="5744290" cy="3234867"/>
          </a:xfrm>
        </p:spPr>
        <p:txBody>
          <a:bodyPr anchor="b"/>
          <a:lstStyle>
            <a:lvl1pPr algn="ctr">
              <a:defRPr sz="4435"/>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844749" y="4880261"/>
            <a:ext cx="5068491" cy="2243328"/>
          </a:xfrm>
        </p:spPr>
        <p:txBody>
          <a:bodyPr/>
          <a:lstStyle>
            <a:lvl1pPr marL="0" indent="0" algn="ctr">
              <a:buNone/>
              <a:defRPr sz="1774"/>
            </a:lvl1pPr>
            <a:lvl2pPr marL="337917" indent="0" algn="ctr">
              <a:buNone/>
              <a:defRPr sz="1478"/>
            </a:lvl2pPr>
            <a:lvl3pPr marL="675833" indent="0" algn="ctr">
              <a:buNone/>
              <a:defRPr sz="1330"/>
            </a:lvl3pPr>
            <a:lvl4pPr marL="1013750" indent="0" algn="ctr">
              <a:buNone/>
              <a:defRPr sz="1183"/>
            </a:lvl4pPr>
            <a:lvl5pPr marL="1351666" indent="0" algn="ctr">
              <a:buNone/>
              <a:defRPr sz="1183"/>
            </a:lvl5pPr>
            <a:lvl6pPr marL="1689583" indent="0" algn="ctr">
              <a:buNone/>
              <a:defRPr sz="1183"/>
            </a:lvl6pPr>
            <a:lvl7pPr marL="2027499" indent="0" algn="ctr">
              <a:buNone/>
              <a:defRPr sz="1183"/>
            </a:lvl7pPr>
            <a:lvl8pPr marL="2365416" indent="0" algn="ctr">
              <a:buNone/>
              <a:defRPr sz="1183"/>
            </a:lvl8pPr>
            <a:lvl9pPr marL="2703332" indent="0" algn="ctr">
              <a:buNone/>
              <a:defRPr sz="1183"/>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C2468369-AE4A-FD46-8B4C-BF04D3051B9F}" type="datetimeFigureOut">
              <a:rPr lang="es-VE" smtClean="0"/>
              <a:t>5/4/26</a:t>
            </a:fld>
            <a:endParaRPr lang="es-VE"/>
          </a:p>
        </p:txBody>
      </p:sp>
      <p:sp>
        <p:nvSpPr>
          <p:cNvPr id="5" name="Footer Placeholder 4"/>
          <p:cNvSpPr>
            <a:spLocks noGrp="1"/>
          </p:cNvSpPr>
          <p:nvPr>
            <p:ph type="ftr" sz="quarter" idx="11"/>
          </p:nvPr>
        </p:nvSpPr>
        <p:spPr/>
        <p:txBody>
          <a:bodyPr/>
          <a:lstStyle/>
          <a:p>
            <a:endParaRPr lang="es-VE"/>
          </a:p>
        </p:txBody>
      </p:sp>
      <p:sp>
        <p:nvSpPr>
          <p:cNvPr id="6" name="Slide Number Placeholder 5"/>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2806385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468369-AE4A-FD46-8B4C-BF04D3051B9F}" type="datetimeFigureOut">
              <a:rPr lang="es-VE" smtClean="0"/>
              <a:t>5/4/26</a:t>
            </a:fld>
            <a:endParaRPr lang="es-VE"/>
          </a:p>
        </p:txBody>
      </p:sp>
      <p:sp>
        <p:nvSpPr>
          <p:cNvPr id="5" name="Footer Placeholder 4"/>
          <p:cNvSpPr>
            <a:spLocks noGrp="1"/>
          </p:cNvSpPr>
          <p:nvPr>
            <p:ph type="ftr" sz="quarter" idx="11"/>
          </p:nvPr>
        </p:nvSpPr>
        <p:spPr/>
        <p:txBody>
          <a:bodyPr/>
          <a:lstStyle/>
          <a:p>
            <a:endParaRPr lang="es-VE"/>
          </a:p>
        </p:txBody>
      </p:sp>
      <p:sp>
        <p:nvSpPr>
          <p:cNvPr id="6" name="Slide Number Placeholder 5"/>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2119957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461092" y="2316459"/>
            <a:ext cx="5828765" cy="3865063"/>
          </a:xfrm>
        </p:spPr>
        <p:txBody>
          <a:bodyPr anchor="b"/>
          <a:lstStyle>
            <a:lvl1pPr>
              <a:defRPr sz="4435"/>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461092" y="6218087"/>
            <a:ext cx="5828765" cy="2032545"/>
          </a:xfrm>
        </p:spPr>
        <p:txBody>
          <a:bodyPr/>
          <a:lstStyle>
            <a:lvl1pPr marL="0" indent="0">
              <a:buNone/>
              <a:defRPr sz="1774">
                <a:solidFill>
                  <a:schemeClr val="tx1"/>
                </a:solidFill>
              </a:defRPr>
            </a:lvl1pPr>
            <a:lvl2pPr marL="337917" indent="0">
              <a:buNone/>
              <a:defRPr sz="1478">
                <a:solidFill>
                  <a:schemeClr val="tx1">
                    <a:tint val="75000"/>
                  </a:schemeClr>
                </a:solidFill>
              </a:defRPr>
            </a:lvl2pPr>
            <a:lvl3pPr marL="675833" indent="0">
              <a:buNone/>
              <a:defRPr sz="1330">
                <a:solidFill>
                  <a:schemeClr val="tx1">
                    <a:tint val="75000"/>
                  </a:schemeClr>
                </a:solidFill>
              </a:defRPr>
            </a:lvl3pPr>
            <a:lvl4pPr marL="1013750" indent="0">
              <a:buNone/>
              <a:defRPr sz="1183">
                <a:solidFill>
                  <a:schemeClr val="tx1">
                    <a:tint val="75000"/>
                  </a:schemeClr>
                </a:solidFill>
              </a:defRPr>
            </a:lvl4pPr>
            <a:lvl5pPr marL="1351666" indent="0">
              <a:buNone/>
              <a:defRPr sz="1183">
                <a:solidFill>
                  <a:schemeClr val="tx1">
                    <a:tint val="75000"/>
                  </a:schemeClr>
                </a:solidFill>
              </a:defRPr>
            </a:lvl5pPr>
            <a:lvl6pPr marL="1689583" indent="0">
              <a:buNone/>
              <a:defRPr sz="1183">
                <a:solidFill>
                  <a:schemeClr val="tx1">
                    <a:tint val="75000"/>
                  </a:schemeClr>
                </a:solidFill>
              </a:defRPr>
            </a:lvl6pPr>
            <a:lvl7pPr marL="2027499" indent="0">
              <a:buNone/>
              <a:defRPr sz="1183">
                <a:solidFill>
                  <a:schemeClr val="tx1">
                    <a:tint val="75000"/>
                  </a:schemeClr>
                </a:solidFill>
              </a:defRPr>
            </a:lvl7pPr>
            <a:lvl8pPr marL="2365416" indent="0">
              <a:buNone/>
              <a:defRPr sz="1183">
                <a:solidFill>
                  <a:schemeClr val="tx1">
                    <a:tint val="75000"/>
                  </a:schemeClr>
                </a:solidFill>
              </a:defRPr>
            </a:lvl8pPr>
            <a:lvl9pPr marL="2703332" indent="0">
              <a:buNone/>
              <a:defRPr sz="1183">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468369-AE4A-FD46-8B4C-BF04D3051B9F}" type="datetimeFigureOut">
              <a:rPr lang="es-VE" smtClean="0"/>
              <a:t>5/4/26</a:t>
            </a:fld>
            <a:endParaRPr lang="es-VE"/>
          </a:p>
        </p:txBody>
      </p:sp>
      <p:sp>
        <p:nvSpPr>
          <p:cNvPr id="5" name="Footer Placeholder 4"/>
          <p:cNvSpPr>
            <a:spLocks noGrp="1"/>
          </p:cNvSpPr>
          <p:nvPr>
            <p:ph type="ftr" sz="quarter" idx="11"/>
          </p:nvPr>
        </p:nvSpPr>
        <p:spPr/>
        <p:txBody>
          <a:bodyPr/>
          <a:lstStyle/>
          <a:p>
            <a:endParaRPr lang="es-VE"/>
          </a:p>
        </p:txBody>
      </p:sp>
      <p:sp>
        <p:nvSpPr>
          <p:cNvPr id="6" name="Slide Number Placeholder 5"/>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37093415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464612" y="2473468"/>
            <a:ext cx="2872145" cy="589545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3421231" y="2473468"/>
            <a:ext cx="2872145" cy="589545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C2468369-AE4A-FD46-8B4C-BF04D3051B9F}" type="datetimeFigureOut">
              <a:rPr lang="es-VE" smtClean="0"/>
              <a:t>5/4/26</a:t>
            </a:fld>
            <a:endParaRPr lang="es-VE"/>
          </a:p>
        </p:txBody>
      </p:sp>
      <p:sp>
        <p:nvSpPr>
          <p:cNvPr id="6" name="Footer Placeholder 5"/>
          <p:cNvSpPr>
            <a:spLocks noGrp="1"/>
          </p:cNvSpPr>
          <p:nvPr>
            <p:ph type="ftr" sz="quarter" idx="11"/>
          </p:nvPr>
        </p:nvSpPr>
        <p:spPr/>
        <p:txBody>
          <a:bodyPr/>
          <a:lstStyle/>
          <a:p>
            <a:endParaRPr lang="es-VE"/>
          </a:p>
        </p:txBody>
      </p:sp>
      <p:sp>
        <p:nvSpPr>
          <p:cNvPr id="7" name="Slide Number Placeholder 6"/>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1173916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465492" y="494696"/>
            <a:ext cx="5828765" cy="1795954"/>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465493" y="2277743"/>
            <a:ext cx="2858945" cy="1116286"/>
          </a:xfrm>
        </p:spPr>
        <p:txBody>
          <a:bodyPr anchor="b"/>
          <a:lstStyle>
            <a:lvl1pPr marL="0" indent="0">
              <a:buNone/>
              <a:defRPr sz="1774" b="1"/>
            </a:lvl1pPr>
            <a:lvl2pPr marL="337917" indent="0">
              <a:buNone/>
              <a:defRPr sz="1478" b="1"/>
            </a:lvl2pPr>
            <a:lvl3pPr marL="675833" indent="0">
              <a:buNone/>
              <a:defRPr sz="1330" b="1"/>
            </a:lvl3pPr>
            <a:lvl4pPr marL="1013750" indent="0">
              <a:buNone/>
              <a:defRPr sz="1183" b="1"/>
            </a:lvl4pPr>
            <a:lvl5pPr marL="1351666" indent="0">
              <a:buNone/>
              <a:defRPr sz="1183" b="1"/>
            </a:lvl5pPr>
            <a:lvl6pPr marL="1689583" indent="0">
              <a:buNone/>
              <a:defRPr sz="1183" b="1"/>
            </a:lvl6pPr>
            <a:lvl7pPr marL="2027499" indent="0">
              <a:buNone/>
              <a:defRPr sz="1183" b="1"/>
            </a:lvl7pPr>
            <a:lvl8pPr marL="2365416" indent="0">
              <a:buNone/>
              <a:defRPr sz="1183" b="1"/>
            </a:lvl8pPr>
            <a:lvl9pPr marL="2703332" indent="0">
              <a:buNone/>
              <a:defRPr sz="1183" b="1"/>
            </a:lvl9pPr>
          </a:lstStyle>
          <a:p>
            <a:pPr lvl="0"/>
            <a:r>
              <a:rPr lang="es-ES"/>
              <a:t>Haga clic para modificar los estilos de texto del patrón</a:t>
            </a:r>
          </a:p>
        </p:txBody>
      </p:sp>
      <p:sp>
        <p:nvSpPr>
          <p:cNvPr id="4" name="Content Placeholder 3"/>
          <p:cNvSpPr>
            <a:spLocks noGrp="1"/>
          </p:cNvSpPr>
          <p:nvPr>
            <p:ph sz="half" idx="2"/>
          </p:nvPr>
        </p:nvSpPr>
        <p:spPr>
          <a:xfrm>
            <a:off x="465493" y="3394029"/>
            <a:ext cx="2858945" cy="4992105"/>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3421232" y="2277743"/>
            <a:ext cx="2873025" cy="1116286"/>
          </a:xfrm>
        </p:spPr>
        <p:txBody>
          <a:bodyPr anchor="b"/>
          <a:lstStyle>
            <a:lvl1pPr marL="0" indent="0">
              <a:buNone/>
              <a:defRPr sz="1774" b="1"/>
            </a:lvl1pPr>
            <a:lvl2pPr marL="337917" indent="0">
              <a:buNone/>
              <a:defRPr sz="1478" b="1"/>
            </a:lvl2pPr>
            <a:lvl3pPr marL="675833" indent="0">
              <a:buNone/>
              <a:defRPr sz="1330" b="1"/>
            </a:lvl3pPr>
            <a:lvl4pPr marL="1013750" indent="0">
              <a:buNone/>
              <a:defRPr sz="1183" b="1"/>
            </a:lvl4pPr>
            <a:lvl5pPr marL="1351666" indent="0">
              <a:buNone/>
              <a:defRPr sz="1183" b="1"/>
            </a:lvl5pPr>
            <a:lvl6pPr marL="1689583" indent="0">
              <a:buNone/>
              <a:defRPr sz="1183" b="1"/>
            </a:lvl6pPr>
            <a:lvl7pPr marL="2027499" indent="0">
              <a:buNone/>
              <a:defRPr sz="1183" b="1"/>
            </a:lvl7pPr>
            <a:lvl8pPr marL="2365416" indent="0">
              <a:buNone/>
              <a:defRPr sz="1183" b="1"/>
            </a:lvl8pPr>
            <a:lvl9pPr marL="2703332" indent="0">
              <a:buNone/>
              <a:defRPr sz="1183" b="1"/>
            </a:lvl9pPr>
          </a:lstStyle>
          <a:p>
            <a:pPr lvl="0"/>
            <a:r>
              <a:rPr lang="es-ES"/>
              <a:t>Haga clic para modificar los estilos de texto del patrón</a:t>
            </a:r>
          </a:p>
        </p:txBody>
      </p:sp>
      <p:sp>
        <p:nvSpPr>
          <p:cNvPr id="6" name="Content Placeholder 5"/>
          <p:cNvSpPr>
            <a:spLocks noGrp="1"/>
          </p:cNvSpPr>
          <p:nvPr>
            <p:ph sz="quarter" idx="4"/>
          </p:nvPr>
        </p:nvSpPr>
        <p:spPr>
          <a:xfrm>
            <a:off x="3421232" y="3394029"/>
            <a:ext cx="2873025" cy="4992105"/>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2468369-AE4A-FD46-8B4C-BF04D3051B9F}" type="datetimeFigureOut">
              <a:rPr lang="es-VE" smtClean="0"/>
              <a:t>5/4/26</a:t>
            </a:fld>
            <a:endParaRPr lang="es-VE"/>
          </a:p>
        </p:txBody>
      </p:sp>
      <p:sp>
        <p:nvSpPr>
          <p:cNvPr id="8" name="Footer Placeholder 7"/>
          <p:cNvSpPr>
            <a:spLocks noGrp="1"/>
          </p:cNvSpPr>
          <p:nvPr>
            <p:ph type="ftr" sz="quarter" idx="11"/>
          </p:nvPr>
        </p:nvSpPr>
        <p:spPr/>
        <p:txBody>
          <a:bodyPr/>
          <a:lstStyle/>
          <a:p>
            <a:endParaRPr lang="es-VE"/>
          </a:p>
        </p:txBody>
      </p:sp>
      <p:sp>
        <p:nvSpPr>
          <p:cNvPr id="9" name="Slide Number Placeholder 8"/>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19247270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C2468369-AE4A-FD46-8B4C-BF04D3051B9F}" type="datetimeFigureOut">
              <a:rPr lang="es-VE" smtClean="0"/>
              <a:t>5/4/26</a:t>
            </a:fld>
            <a:endParaRPr lang="es-VE"/>
          </a:p>
        </p:txBody>
      </p:sp>
      <p:sp>
        <p:nvSpPr>
          <p:cNvPr id="4" name="Footer Placeholder 3"/>
          <p:cNvSpPr>
            <a:spLocks noGrp="1"/>
          </p:cNvSpPr>
          <p:nvPr>
            <p:ph type="ftr" sz="quarter" idx="11"/>
          </p:nvPr>
        </p:nvSpPr>
        <p:spPr/>
        <p:txBody>
          <a:bodyPr/>
          <a:lstStyle/>
          <a:p>
            <a:endParaRPr lang="es-VE"/>
          </a:p>
        </p:txBody>
      </p:sp>
      <p:sp>
        <p:nvSpPr>
          <p:cNvPr id="5" name="Slide Number Placeholder 4"/>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3885333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468369-AE4A-FD46-8B4C-BF04D3051B9F}" type="datetimeFigureOut">
              <a:rPr lang="es-VE" smtClean="0"/>
              <a:t>5/4/26</a:t>
            </a:fld>
            <a:endParaRPr lang="es-VE"/>
          </a:p>
        </p:txBody>
      </p:sp>
      <p:sp>
        <p:nvSpPr>
          <p:cNvPr id="3" name="Footer Placeholder 2"/>
          <p:cNvSpPr>
            <a:spLocks noGrp="1"/>
          </p:cNvSpPr>
          <p:nvPr>
            <p:ph type="ftr" sz="quarter" idx="11"/>
          </p:nvPr>
        </p:nvSpPr>
        <p:spPr/>
        <p:txBody>
          <a:bodyPr/>
          <a:lstStyle/>
          <a:p>
            <a:endParaRPr lang="es-VE"/>
          </a:p>
        </p:txBody>
      </p:sp>
      <p:sp>
        <p:nvSpPr>
          <p:cNvPr id="4" name="Slide Number Placeholder 3"/>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21764611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465492" y="619442"/>
            <a:ext cx="2179627" cy="2168049"/>
          </a:xfrm>
        </p:spPr>
        <p:txBody>
          <a:bodyPr anchor="b"/>
          <a:lstStyle>
            <a:lvl1pPr>
              <a:defRPr sz="2365"/>
            </a:lvl1pPr>
          </a:lstStyle>
          <a:p>
            <a:r>
              <a:rPr lang="es-ES"/>
              <a:t>Haga clic para modificar el estilo de título del patrón</a:t>
            </a:r>
            <a:endParaRPr lang="en-US" dirty="0"/>
          </a:p>
        </p:txBody>
      </p:sp>
      <p:sp>
        <p:nvSpPr>
          <p:cNvPr id="3" name="Content Placeholder 2"/>
          <p:cNvSpPr>
            <a:spLocks noGrp="1"/>
          </p:cNvSpPr>
          <p:nvPr>
            <p:ph idx="1"/>
          </p:nvPr>
        </p:nvSpPr>
        <p:spPr>
          <a:xfrm>
            <a:off x="2873025" y="1337826"/>
            <a:ext cx="3421231" cy="6603085"/>
          </a:xfrm>
        </p:spPr>
        <p:txBody>
          <a:bodyPr/>
          <a:lstStyle>
            <a:lvl1pPr>
              <a:defRPr sz="2365"/>
            </a:lvl1pPr>
            <a:lvl2pPr>
              <a:defRPr sz="2069"/>
            </a:lvl2pPr>
            <a:lvl3pPr>
              <a:defRPr sz="1774"/>
            </a:lvl3pPr>
            <a:lvl4pPr>
              <a:defRPr sz="1478"/>
            </a:lvl4pPr>
            <a:lvl5pPr>
              <a:defRPr sz="1478"/>
            </a:lvl5pPr>
            <a:lvl6pPr>
              <a:defRPr sz="1478"/>
            </a:lvl6pPr>
            <a:lvl7pPr>
              <a:defRPr sz="1478"/>
            </a:lvl7pPr>
            <a:lvl8pPr>
              <a:defRPr sz="1478"/>
            </a:lvl8pPr>
            <a:lvl9pPr>
              <a:defRPr sz="1478"/>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465492" y="2787491"/>
            <a:ext cx="2179627" cy="5164173"/>
          </a:xfrm>
        </p:spPr>
        <p:txBody>
          <a:bodyPr/>
          <a:lstStyle>
            <a:lvl1pPr marL="0" indent="0">
              <a:buNone/>
              <a:defRPr sz="1183"/>
            </a:lvl1pPr>
            <a:lvl2pPr marL="337917" indent="0">
              <a:buNone/>
              <a:defRPr sz="1035"/>
            </a:lvl2pPr>
            <a:lvl3pPr marL="675833" indent="0">
              <a:buNone/>
              <a:defRPr sz="887"/>
            </a:lvl3pPr>
            <a:lvl4pPr marL="1013750" indent="0">
              <a:buNone/>
              <a:defRPr sz="739"/>
            </a:lvl4pPr>
            <a:lvl5pPr marL="1351666" indent="0">
              <a:buNone/>
              <a:defRPr sz="739"/>
            </a:lvl5pPr>
            <a:lvl6pPr marL="1689583" indent="0">
              <a:buNone/>
              <a:defRPr sz="739"/>
            </a:lvl6pPr>
            <a:lvl7pPr marL="2027499" indent="0">
              <a:buNone/>
              <a:defRPr sz="739"/>
            </a:lvl7pPr>
            <a:lvl8pPr marL="2365416" indent="0">
              <a:buNone/>
              <a:defRPr sz="739"/>
            </a:lvl8pPr>
            <a:lvl9pPr marL="2703332" indent="0">
              <a:buNone/>
              <a:defRPr sz="739"/>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2468369-AE4A-FD46-8B4C-BF04D3051B9F}" type="datetimeFigureOut">
              <a:rPr lang="es-VE" smtClean="0"/>
              <a:t>5/4/26</a:t>
            </a:fld>
            <a:endParaRPr lang="es-VE"/>
          </a:p>
        </p:txBody>
      </p:sp>
      <p:sp>
        <p:nvSpPr>
          <p:cNvPr id="6" name="Footer Placeholder 5"/>
          <p:cNvSpPr>
            <a:spLocks noGrp="1"/>
          </p:cNvSpPr>
          <p:nvPr>
            <p:ph type="ftr" sz="quarter" idx="11"/>
          </p:nvPr>
        </p:nvSpPr>
        <p:spPr/>
        <p:txBody>
          <a:bodyPr/>
          <a:lstStyle/>
          <a:p>
            <a:endParaRPr lang="es-VE"/>
          </a:p>
        </p:txBody>
      </p:sp>
      <p:sp>
        <p:nvSpPr>
          <p:cNvPr id="7" name="Slide Number Placeholder 6"/>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12852615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465492" y="619442"/>
            <a:ext cx="2179627" cy="2168049"/>
          </a:xfrm>
        </p:spPr>
        <p:txBody>
          <a:bodyPr anchor="b"/>
          <a:lstStyle>
            <a:lvl1pPr>
              <a:defRPr sz="2365"/>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2873025" y="1337826"/>
            <a:ext cx="3421231" cy="6603085"/>
          </a:xfrm>
        </p:spPr>
        <p:txBody>
          <a:bodyPr anchor="t"/>
          <a:lstStyle>
            <a:lvl1pPr marL="0" indent="0">
              <a:buNone/>
              <a:defRPr sz="2365"/>
            </a:lvl1pPr>
            <a:lvl2pPr marL="337917" indent="0">
              <a:buNone/>
              <a:defRPr sz="2069"/>
            </a:lvl2pPr>
            <a:lvl3pPr marL="675833" indent="0">
              <a:buNone/>
              <a:defRPr sz="1774"/>
            </a:lvl3pPr>
            <a:lvl4pPr marL="1013750" indent="0">
              <a:buNone/>
              <a:defRPr sz="1478"/>
            </a:lvl4pPr>
            <a:lvl5pPr marL="1351666" indent="0">
              <a:buNone/>
              <a:defRPr sz="1478"/>
            </a:lvl5pPr>
            <a:lvl6pPr marL="1689583" indent="0">
              <a:buNone/>
              <a:defRPr sz="1478"/>
            </a:lvl6pPr>
            <a:lvl7pPr marL="2027499" indent="0">
              <a:buNone/>
              <a:defRPr sz="1478"/>
            </a:lvl7pPr>
            <a:lvl8pPr marL="2365416" indent="0">
              <a:buNone/>
              <a:defRPr sz="1478"/>
            </a:lvl8pPr>
            <a:lvl9pPr marL="2703332" indent="0">
              <a:buNone/>
              <a:defRPr sz="1478"/>
            </a:lvl9pPr>
          </a:lstStyle>
          <a:p>
            <a:r>
              <a:rPr lang="es-ES"/>
              <a:t>Haga clic en el icono para agregar una imagen</a:t>
            </a:r>
            <a:endParaRPr lang="en-US" dirty="0"/>
          </a:p>
        </p:txBody>
      </p:sp>
      <p:sp>
        <p:nvSpPr>
          <p:cNvPr id="4" name="Text Placeholder 3"/>
          <p:cNvSpPr>
            <a:spLocks noGrp="1"/>
          </p:cNvSpPr>
          <p:nvPr>
            <p:ph type="body" sz="half" idx="2"/>
          </p:nvPr>
        </p:nvSpPr>
        <p:spPr>
          <a:xfrm>
            <a:off x="465492" y="2787491"/>
            <a:ext cx="2179627" cy="5164173"/>
          </a:xfrm>
        </p:spPr>
        <p:txBody>
          <a:bodyPr/>
          <a:lstStyle>
            <a:lvl1pPr marL="0" indent="0">
              <a:buNone/>
              <a:defRPr sz="1183"/>
            </a:lvl1pPr>
            <a:lvl2pPr marL="337917" indent="0">
              <a:buNone/>
              <a:defRPr sz="1035"/>
            </a:lvl2pPr>
            <a:lvl3pPr marL="675833" indent="0">
              <a:buNone/>
              <a:defRPr sz="887"/>
            </a:lvl3pPr>
            <a:lvl4pPr marL="1013750" indent="0">
              <a:buNone/>
              <a:defRPr sz="739"/>
            </a:lvl4pPr>
            <a:lvl5pPr marL="1351666" indent="0">
              <a:buNone/>
              <a:defRPr sz="739"/>
            </a:lvl5pPr>
            <a:lvl6pPr marL="1689583" indent="0">
              <a:buNone/>
              <a:defRPr sz="739"/>
            </a:lvl6pPr>
            <a:lvl7pPr marL="2027499" indent="0">
              <a:buNone/>
              <a:defRPr sz="739"/>
            </a:lvl7pPr>
            <a:lvl8pPr marL="2365416" indent="0">
              <a:buNone/>
              <a:defRPr sz="739"/>
            </a:lvl8pPr>
            <a:lvl9pPr marL="2703332" indent="0">
              <a:buNone/>
              <a:defRPr sz="739"/>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2468369-AE4A-FD46-8B4C-BF04D3051B9F}" type="datetimeFigureOut">
              <a:rPr lang="es-VE" smtClean="0"/>
              <a:t>5/4/26</a:t>
            </a:fld>
            <a:endParaRPr lang="es-VE"/>
          </a:p>
        </p:txBody>
      </p:sp>
      <p:sp>
        <p:nvSpPr>
          <p:cNvPr id="6" name="Footer Placeholder 5"/>
          <p:cNvSpPr>
            <a:spLocks noGrp="1"/>
          </p:cNvSpPr>
          <p:nvPr>
            <p:ph type="ftr" sz="quarter" idx="11"/>
          </p:nvPr>
        </p:nvSpPr>
        <p:spPr/>
        <p:txBody>
          <a:bodyPr/>
          <a:lstStyle/>
          <a:p>
            <a:endParaRPr lang="es-VE"/>
          </a:p>
        </p:txBody>
      </p:sp>
      <p:sp>
        <p:nvSpPr>
          <p:cNvPr id="7" name="Slide Number Placeholder 6"/>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23832636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468369-AE4A-FD46-8B4C-BF04D3051B9F}" type="datetimeFigureOut">
              <a:rPr lang="es-VE" smtClean="0"/>
              <a:t>5/4/26</a:t>
            </a:fld>
            <a:endParaRPr lang="es-VE"/>
          </a:p>
        </p:txBody>
      </p:sp>
      <p:sp>
        <p:nvSpPr>
          <p:cNvPr id="5" name="Footer Placeholder 4"/>
          <p:cNvSpPr>
            <a:spLocks noGrp="1"/>
          </p:cNvSpPr>
          <p:nvPr>
            <p:ph type="ftr" sz="quarter" idx="11"/>
          </p:nvPr>
        </p:nvSpPr>
        <p:spPr/>
        <p:txBody>
          <a:bodyPr/>
          <a:lstStyle/>
          <a:p>
            <a:endParaRPr lang="es-VE"/>
          </a:p>
        </p:txBody>
      </p:sp>
      <p:sp>
        <p:nvSpPr>
          <p:cNvPr id="6" name="Slide Number Placeholder 5"/>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1518519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836186" y="494694"/>
            <a:ext cx="1457191" cy="7874234"/>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464612" y="494694"/>
            <a:ext cx="4287099" cy="7874234"/>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468369-AE4A-FD46-8B4C-BF04D3051B9F}" type="datetimeFigureOut">
              <a:rPr lang="es-VE" smtClean="0"/>
              <a:t>5/4/26</a:t>
            </a:fld>
            <a:endParaRPr lang="es-VE"/>
          </a:p>
        </p:txBody>
      </p:sp>
      <p:sp>
        <p:nvSpPr>
          <p:cNvPr id="5" name="Footer Placeholder 4"/>
          <p:cNvSpPr>
            <a:spLocks noGrp="1"/>
          </p:cNvSpPr>
          <p:nvPr>
            <p:ph type="ftr" sz="quarter" idx="11"/>
          </p:nvPr>
        </p:nvSpPr>
        <p:spPr/>
        <p:txBody>
          <a:bodyPr/>
          <a:lstStyle/>
          <a:p>
            <a:endParaRPr lang="es-VE"/>
          </a:p>
        </p:txBody>
      </p:sp>
      <p:sp>
        <p:nvSpPr>
          <p:cNvPr id="6" name="Slide Number Placeholder 5"/>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79770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64612" y="494696"/>
            <a:ext cx="5828765" cy="1795954"/>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464612" y="2473468"/>
            <a:ext cx="5828765" cy="5895459"/>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464612" y="8611974"/>
            <a:ext cx="1520547" cy="494694"/>
          </a:xfrm>
          <a:prstGeom prst="rect">
            <a:avLst/>
          </a:prstGeom>
        </p:spPr>
        <p:txBody>
          <a:bodyPr vert="horz" lIns="91440" tIns="45720" rIns="91440" bIns="45720" rtlCol="0" anchor="ctr"/>
          <a:lstStyle>
            <a:lvl1pPr algn="l">
              <a:defRPr sz="887">
                <a:solidFill>
                  <a:schemeClr val="tx1">
                    <a:tint val="75000"/>
                  </a:schemeClr>
                </a:solidFill>
              </a:defRPr>
            </a:lvl1pPr>
          </a:lstStyle>
          <a:p>
            <a:fld id="{C2468369-AE4A-FD46-8B4C-BF04D3051B9F}" type="datetimeFigureOut">
              <a:rPr lang="es-VE" smtClean="0"/>
              <a:t>5/4/26</a:t>
            </a:fld>
            <a:endParaRPr lang="es-VE"/>
          </a:p>
        </p:txBody>
      </p:sp>
      <p:sp>
        <p:nvSpPr>
          <p:cNvPr id="5" name="Footer Placeholder 4"/>
          <p:cNvSpPr>
            <a:spLocks noGrp="1"/>
          </p:cNvSpPr>
          <p:nvPr>
            <p:ph type="ftr" sz="quarter" idx="3"/>
          </p:nvPr>
        </p:nvSpPr>
        <p:spPr>
          <a:xfrm>
            <a:off x="2238584" y="8611974"/>
            <a:ext cx="2280821" cy="494694"/>
          </a:xfrm>
          <a:prstGeom prst="rect">
            <a:avLst/>
          </a:prstGeom>
        </p:spPr>
        <p:txBody>
          <a:bodyPr vert="horz" lIns="91440" tIns="45720" rIns="91440" bIns="45720" rtlCol="0" anchor="ctr"/>
          <a:lstStyle>
            <a:lvl1pPr algn="ctr">
              <a:defRPr sz="887">
                <a:solidFill>
                  <a:schemeClr val="tx1">
                    <a:tint val="75000"/>
                  </a:schemeClr>
                </a:solidFill>
              </a:defRPr>
            </a:lvl1pPr>
          </a:lstStyle>
          <a:p>
            <a:endParaRPr lang="es-VE"/>
          </a:p>
        </p:txBody>
      </p:sp>
      <p:sp>
        <p:nvSpPr>
          <p:cNvPr id="6" name="Slide Number Placeholder 5"/>
          <p:cNvSpPr>
            <a:spLocks noGrp="1"/>
          </p:cNvSpPr>
          <p:nvPr>
            <p:ph type="sldNum" sz="quarter" idx="4"/>
          </p:nvPr>
        </p:nvSpPr>
        <p:spPr>
          <a:xfrm>
            <a:off x="4772829" y="8611974"/>
            <a:ext cx="1520547" cy="494694"/>
          </a:xfrm>
          <a:prstGeom prst="rect">
            <a:avLst/>
          </a:prstGeom>
        </p:spPr>
        <p:txBody>
          <a:bodyPr vert="horz" lIns="91440" tIns="45720" rIns="91440" bIns="45720" rtlCol="0" anchor="ctr"/>
          <a:lstStyle>
            <a:lvl1pPr algn="r">
              <a:defRPr sz="887">
                <a:solidFill>
                  <a:schemeClr val="tx1">
                    <a:tint val="75000"/>
                  </a:schemeClr>
                </a:solidFill>
              </a:defRPr>
            </a:lvl1pPr>
          </a:lstStyle>
          <a:p>
            <a:fld id="{85376CA3-0BCD-9F4E-B7A0-89F4F64F2DD5}" type="slidenum">
              <a:rPr lang="es-VE" smtClean="0"/>
              <a:t>‹#›</a:t>
            </a:fld>
            <a:endParaRPr lang="es-VE"/>
          </a:p>
        </p:txBody>
      </p:sp>
    </p:spTree>
    <p:extLst>
      <p:ext uri="{BB962C8B-B14F-4D97-AF65-F5344CB8AC3E}">
        <p14:creationId xmlns:p14="http://schemas.microsoft.com/office/powerpoint/2010/main" val="2152604075"/>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675833" rtl="0" eaLnBrk="1" latinLnBrk="0" hangingPunct="1">
        <a:lnSpc>
          <a:spcPct val="90000"/>
        </a:lnSpc>
        <a:spcBef>
          <a:spcPct val="0"/>
        </a:spcBef>
        <a:buNone/>
        <a:defRPr sz="3252" kern="1200">
          <a:solidFill>
            <a:schemeClr val="tx1"/>
          </a:solidFill>
          <a:latin typeface="+mj-lt"/>
          <a:ea typeface="+mj-ea"/>
          <a:cs typeface="+mj-cs"/>
        </a:defRPr>
      </a:lvl1pPr>
    </p:titleStyle>
    <p:bodyStyle>
      <a:lvl1pPr marL="168958" indent="-168958" algn="l" defTabSz="675833" rtl="0" eaLnBrk="1" latinLnBrk="0" hangingPunct="1">
        <a:lnSpc>
          <a:spcPct val="90000"/>
        </a:lnSpc>
        <a:spcBef>
          <a:spcPts val="739"/>
        </a:spcBef>
        <a:buFont typeface="Arial" panose="020B0604020202020204" pitchFamily="34" charset="0"/>
        <a:buChar char="•"/>
        <a:defRPr sz="2069" kern="1200">
          <a:solidFill>
            <a:schemeClr val="tx1"/>
          </a:solidFill>
          <a:latin typeface="+mn-lt"/>
          <a:ea typeface="+mn-ea"/>
          <a:cs typeface="+mn-cs"/>
        </a:defRPr>
      </a:lvl1pPr>
      <a:lvl2pPr marL="506875" indent="-168958" algn="l" defTabSz="675833" rtl="0" eaLnBrk="1" latinLnBrk="0" hangingPunct="1">
        <a:lnSpc>
          <a:spcPct val="90000"/>
        </a:lnSpc>
        <a:spcBef>
          <a:spcPts val="370"/>
        </a:spcBef>
        <a:buFont typeface="Arial" panose="020B0604020202020204" pitchFamily="34" charset="0"/>
        <a:buChar char="•"/>
        <a:defRPr sz="1774" kern="1200">
          <a:solidFill>
            <a:schemeClr val="tx1"/>
          </a:solidFill>
          <a:latin typeface="+mn-lt"/>
          <a:ea typeface="+mn-ea"/>
          <a:cs typeface="+mn-cs"/>
        </a:defRPr>
      </a:lvl2pPr>
      <a:lvl3pPr marL="844791" indent="-168958" algn="l" defTabSz="675833" rtl="0" eaLnBrk="1" latinLnBrk="0" hangingPunct="1">
        <a:lnSpc>
          <a:spcPct val="90000"/>
        </a:lnSpc>
        <a:spcBef>
          <a:spcPts val="370"/>
        </a:spcBef>
        <a:buFont typeface="Arial" panose="020B0604020202020204" pitchFamily="34" charset="0"/>
        <a:buChar char="•"/>
        <a:defRPr sz="1478" kern="1200">
          <a:solidFill>
            <a:schemeClr val="tx1"/>
          </a:solidFill>
          <a:latin typeface="+mn-lt"/>
          <a:ea typeface="+mn-ea"/>
          <a:cs typeface="+mn-cs"/>
        </a:defRPr>
      </a:lvl3pPr>
      <a:lvl4pPr marL="1182708"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4pPr>
      <a:lvl5pPr marL="1520624"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5pPr>
      <a:lvl6pPr marL="1858541"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6pPr>
      <a:lvl7pPr marL="2196457"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7pPr>
      <a:lvl8pPr marL="2534374"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8pPr>
      <a:lvl9pPr marL="2872290"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9pPr>
    </p:bodyStyle>
    <p:otherStyle>
      <a:defPPr>
        <a:defRPr lang="en-US"/>
      </a:defPPr>
      <a:lvl1pPr marL="0" algn="l" defTabSz="675833" rtl="0" eaLnBrk="1" latinLnBrk="0" hangingPunct="1">
        <a:defRPr sz="1330" kern="1200">
          <a:solidFill>
            <a:schemeClr val="tx1"/>
          </a:solidFill>
          <a:latin typeface="+mn-lt"/>
          <a:ea typeface="+mn-ea"/>
          <a:cs typeface="+mn-cs"/>
        </a:defRPr>
      </a:lvl1pPr>
      <a:lvl2pPr marL="337917" algn="l" defTabSz="675833" rtl="0" eaLnBrk="1" latinLnBrk="0" hangingPunct="1">
        <a:defRPr sz="1330" kern="1200">
          <a:solidFill>
            <a:schemeClr val="tx1"/>
          </a:solidFill>
          <a:latin typeface="+mn-lt"/>
          <a:ea typeface="+mn-ea"/>
          <a:cs typeface="+mn-cs"/>
        </a:defRPr>
      </a:lvl2pPr>
      <a:lvl3pPr marL="675833" algn="l" defTabSz="675833" rtl="0" eaLnBrk="1" latinLnBrk="0" hangingPunct="1">
        <a:defRPr sz="1330" kern="1200">
          <a:solidFill>
            <a:schemeClr val="tx1"/>
          </a:solidFill>
          <a:latin typeface="+mn-lt"/>
          <a:ea typeface="+mn-ea"/>
          <a:cs typeface="+mn-cs"/>
        </a:defRPr>
      </a:lvl3pPr>
      <a:lvl4pPr marL="1013750" algn="l" defTabSz="675833" rtl="0" eaLnBrk="1" latinLnBrk="0" hangingPunct="1">
        <a:defRPr sz="1330" kern="1200">
          <a:solidFill>
            <a:schemeClr val="tx1"/>
          </a:solidFill>
          <a:latin typeface="+mn-lt"/>
          <a:ea typeface="+mn-ea"/>
          <a:cs typeface="+mn-cs"/>
        </a:defRPr>
      </a:lvl4pPr>
      <a:lvl5pPr marL="1351666" algn="l" defTabSz="675833" rtl="0" eaLnBrk="1" latinLnBrk="0" hangingPunct="1">
        <a:defRPr sz="1330" kern="1200">
          <a:solidFill>
            <a:schemeClr val="tx1"/>
          </a:solidFill>
          <a:latin typeface="+mn-lt"/>
          <a:ea typeface="+mn-ea"/>
          <a:cs typeface="+mn-cs"/>
        </a:defRPr>
      </a:lvl5pPr>
      <a:lvl6pPr marL="1689583" algn="l" defTabSz="675833" rtl="0" eaLnBrk="1" latinLnBrk="0" hangingPunct="1">
        <a:defRPr sz="1330" kern="1200">
          <a:solidFill>
            <a:schemeClr val="tx1"/>
          </a:solidFill>
          <a:latin typeface="+mn-lt"/>
          <a:ea typeface="+mn-ea"/>
          <a:cs typeface="+mn-cs"/>
        </a:defRPr>
      </a:lvl6pPr>
      <a:lvl7pPr marL="2027499" algn="l" defTabSz="675833" rtl="0" eaLnBrk="1" latinLnBrk="0" hangingPunct="1">
        <a:defRPr sz="1330" kern="1200">
          <a:solidFill>
            <a:schemeClr val="tx1"/>
          </a:solidFill>
          <a:latin typeface="+mn-lt"/>
          <a:ea typeface="+mn-ea"/>
          <a:cs typeface="+mn-cs"/>
        </a:defRPr>
      </a:lvl7pPr>
      <a:lvl8pPr marL="2365416" algn="l" defTabSz="675833" rtl="0" eaLnBrk="1" latinLnBrk="0" hangingPunct="1">
        <a:defRPr sz="1330" kern="1200">
          <a:solidFill>
            <a:schemeClr val="tx1"/>
          </a:solidFill>
          <a:latin typeface="+mn-lt"/>
          <a:ea typeface="+mn-ea"/>
          <a:cs typeface="+mn-cs"/>
        </a:defRPr>
      </a:lvl8pPr>
      <a:lvl9pPr marL="2703332" algn="l" defTabSz="675833" rtl="0" eaLnBrk="1" latinLnBrk="0" hangingPunct="1">
        <a:defRPr sz="13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9.png"/><Relationship Id="rId7" Type="http://schemas.openxmlformats.org/officeDocument/2006/relationships/image" Target="../media/image11.jpe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png"/><Relationship Id="rId10" Type="http://schemas.openxmlformats.org/officeDocument/2006/relationships/image" Target="../media/image5.svg"/><Relationship Id="rId4" Type="http://schemas.openxmlformats.org/officeDocument/2006/relationships/image" Target="../media/image1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8.emf"/></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8" Type="http://schemas.openxmlformats.org/officeDocument/2006/relationships/image" Target="../media/image25.jpeg"/><Relationship Id="rId13" Type="http://schemas.openxmlformats.org/officeDocument/2006/relationships/image" Target="../media/image29.png"/><Relationship Id="rId3" Type="http://schemas.openxmlformats.org/officeDocument/2006/relationships/image" Target="../media/image20.png"/><Relationship Id="rId7" Type="http://schemas.openxmlformats.org/officeDocument/2006/relationships/image" Target="../media/image24.jpeg"/><Relationship Id="rId12" Type="http://schemas.openxmlformats.org/officeDocument/2006/relationships/image" Target="../media/image28.jpe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23.jpeg"/><Relationship Id="rId11" Type="http://schemas.microsoft.com/office/2007/relationships/hdphoto" Target="../media/hdphoto1.wdp"/><Relationship Id="rId5" Type="http://schemas.openxmlformats.org/officeDocument/2006/relationships/image" Target="../media/image22.png"/><Relationship Id="rId10" Type="http://schemas.openxmlformats.org/officeDocument/2006/relationships/image" Target="../media/image27.png"/><Relationship Id="rId4" Type="http://schemas.openxmlformats.org/officeDocument/2006/relationships/image" Target="../media/image21.png"/><Relationship Id="rId9" Type="http://schemas.openxmlformats.org/officeDocument/2006/relationships/image" Target="../media/image26.jpeg"/><Relationship Id="rId14" Type="http://schemas.openxmlformats.org/officeDocument/2006/relationships/image" Target="../media/image30.jpe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hyperlink" Target="https://www.youtube.com/watch?v=wFWL3ZXvPP4" TargetMode="External"/><Relationship Id="rId4" Type="http://schemas.openxmlformats.org/officeDocument/2006/relationships/hyperlink" Target="https://www.youtube.com/watch?v=cuRc7uYdWb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DECE669-881B-A78C-77E1-9644B5D4EEFF}"/>
              </a:ext>
            </a:extLst>
          </p:cNvPr>
          <p:cNvPicPr>
            <a:picLocks noChangeAspect="1"/>
          </p:cNvPicPr>
          <p:nvPr/>
        </p:nvPicPr>
        <p:blipFill>
          <a:blip r:embed="rId3"/>
          <a:stretch>
            <a:fillRect/>
          </a:stretch>
        </p:blipFill>
        <p:spPr>
          <a:xfrm>
            <a:off x="0" y="-10969"/>
            <a:ext cx="1769324" cy="2319017"/>
          </a:xfrm>
          <a:prstGeom prst="rect">
            <a:avLst/>
          </a:prstGeom>
        </p:spPr>
      </p:pic>
      <p:pic>
        <p:nvPicPr>
          <p:cNvPr id="2" name="Imagen 1">
            <a:extLst>
              <a:ext uri="{FF2B5EF4-FFF2-40B4-BE49-F238E27FC236}">
                <a16:creationId xmlns:a16="http://schemas.microsoft.com/office/drawing/2014/main" id="{FCF280A8-B368-173B-C671-022D571EC9F4}"/>
              </a:ext>
            </a:extLst>
          </p:cNvPr>
          <p:cNvPicPr>
            <a:picLocks noChangeAspect="1"/>
          </p:cNvPicPr>
          <p:nvPr/>
        </p:nvPicPr>
        <p:blipFill>
          <a:blip r:embed="rId4"/>
          <a:stretch>
            <a:fillRect/>
          </a:stretch>
        </p:blipFill>
        <p:spPr>
          <a:xfrm>
            <a:off x="0" y="8669809"/>
            <a:ext cx="6757988" cy="621829"/>
          </a:xfrm>
          <a:prstGeom prst="rect">
            <a:avLst/>
          </a:prstGeom>
        </p:spPr>
      </p:pic>
      <p:pic>
        <p:nvPicPr>
          <p:cNvPr id="4" name="Imagen 3">
            <a:extLst>
              <a:ext uri="{FF2B5EF4-FFF2-40B4-BE49-F238E27FC236}">
                <a16:creationId xmlns:a16="http://schemas.microsoft.com/office/drawing/2014/main" id="{9C1055C6-CEF5-679E-64F6-56E9B7CC91F4}"/>
              </a:ext>
            </a:extLst>
          </p:cNvPr>
          <p:cNvPicPr>
            <a:picLocks noChangeAspect="1"/>
          </p:cNvPicPr>
          <p:nvPr/>
        </p:nvPicPr>
        <p:blipFill>
          <a:blip r:embed="rId5"/>
          <a:srcRect l="41188" b="-636"/>
          <a:stretch>
            <a:fillRect/>
          </a:stretch>
        </p:blipFill>
        <p:spPr>
          <a:xfrm>
            <a:off x="2756263" y="160421"/>
            <a:ext cx="3935642" cy="2595842"/>
          </a:xfrm>
          <a:prstGeom prst="rect">
            <a:avLst/>
          </a:prstGeom>
        </p:spPr>
      </p:pic>
      <p:sp>
        <p:nvSpPr>
          <p:cNvPr id="6" name="CuadroTexto 5">
            <a:extLst>
              <a:ext uri="{FF2B5EF4-FFF2-40B4-BE49-F238E27FC236}">
                <a16:creationId xmlns:a16="http://schemas.microsoft.com/office/drawing/2014/main" id="{B754A7F6-69BC-2DE1-76FB-1CD6A4C9DEE5}"/>
              </a:ext>
            </a:extLst>
          </p:cNvPr>
          <p:cNvSpPr txBox="1"/>
          <p:nvPr/>
        </p:nvSpPr>
        <p:spPr>
          <a:xfrm>
            <a:off x="66083" y="2139681"/>
            <a:ext cx="5999748" cy="1200329"/>
          </a:xfrm>
          <a:prstGeom prst="rect">
            <a:avLst/>
          </a:prstGeom>
          <a:noFill/>
        </p:spPr>
        <p:txBody>
          <a:bodyPr wrap="square" rtlCol="0">
            <a:spAutoFit/>
          </a:bodyPr>
          <a:lstStyle/>
          <a:p>
            <a:r>
              <a:rPr lang="es-VE" sz="36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PLAN DE</a:t>
            </a:r>
          </a:p>
          <a:p>
            <a:r>
              <a:rPr lang="es-VE" sz="36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ALIMENTACIÓN</a:t>
            </a:r>
          </a:p>
        </p:txBody>
      </p:sp>
      <p:sp>
        <p:nvSpPr>
          <p:cNvPr id="8" name="CuadroTexto 7">
            <a:extLst>
              <a:ext uri="{FF2B5EF4-FFF2-40B4-BE49-F238E27FC236}">
                <a16:creationId xmlns:a16="http://schemas.microsoft.com/office/drawing/2014/main" id="{A3311A8D-0E56-354C-309B-4F756D5268A7}"/>
              </a:ext>
            </a:extLst>
          </p:cNvPr>
          <p:cNvSpPr txBox="1"/>
          <p:nvPr/>
        </p:nvSpPr>
        <p:spPr>
          <a:xfrm>
            <a:off x="1899514" y="3340010"/>
            <a:ext cx="4792391" cy="1631216"/>
          </a:xfrm>
          <a:prstGeom prst="rect">
            <a:avLst/>
          </a:prstGeom>
          <a:noFill/>
        </p:spPr>
        <p:txBody>
          <a:bodyPr wrap="square" rtlCol="0">
            <a:spAutoFit/>
          </a:bodyPr>
          <a:lstStyle/>
          <a:p>
            <a:r>
              <a:rPr lang="es-VE" sz="2000" b="1" dirty="0">
                <a:latin typeface="Arial Black" panose="020B0604020202020204" pitchFamily="34" charset="0"/>
                <a:cs typeface="Arial Black" panose="020B0604020202020204" pitchFamily="34" charset="0"/>
              </a:rPr>
              <a:t>Paciente: {{PACIENTE}} </a:t>
            </a:r>
          </a:p>
          <a:p>
            <a:r>
              <a:rPr lang="es-VE" sz="2000" b="1" dirty="0">
                <a:latin typeface="Arial Black" panose="020B0604020202020204" pitchFamily="34" charset="0"/>
                <a:cs typeface="Arial Black" panose="020B0604020202020204" pitchFamily="34" charset="0"/>
              </a:rPr>
              <a:t>Disciplina: {{DISCIPLINA}}</a:t>
            </a:r>
          </a:p>
          <a:p>
            <a:r>
              <a:rPr lang="es-VE" sz="2000" b="1" dirty="0">
                <a:latin typeface="Arial Black" panose="020B0604020202020204" pitchFamily="34" charset="0"/>
                <a:cs typeface="Arial Black" panose="020B0604020202020204" pitchFamily="34" charset="0"/>
              </a:rPr>
              <a:t>Objetivo: {{OBJETIVO}}</a:t>
            </a:r>
          </a:p>
          <a:p>
            <a:r>
              <a:rPr lang="es-VE" sz="2000" b="1" dirty="0">
                <a:latin typeface="Arial Black" panose="020B0604020202020204" pitchFamily="34" charset="0"/>
                <a:cs typeface="Arial Black" panose="020B0604020202020204" pitchFamily="34" charset="0"/>
              </a:rPr>
              <a:t>Sexo: {{SEXO}}</a:t>
            </a:r>
          </a:p>
          <a:p>
            <a:r>
              <a:rPr lang="es-VE" sz="2000" b="1" dirty="0">
                <a:latin typeface="Arial Black" panose="020B0604020202020204" pitchFamily="34" charset="0"/>
                <a:cs typeface="Arial Black" panose="020B0604020202020204" pitchFamily="34" charset="0"/>
              </a:rPr>
              <a:t>Edad: {{EDAD}}</a:t>
            </a:r>
          </a:p>
        </p:txBody>
      </p:sp>
      <p:sp>
        <p:nvSpPr>
          <p:cNvPr id="9" name="CuadroTexto 8">
            <a:extLst>
              <a:ext uri="{FF2B5EF4-FFF2-40B4-BE49-F238E27FC236}">
                <a16:creationId xmlns:a16="http://schemas.microsoft.com/office/drawing/2014/main" id="{1D897114-946E-7267-669E-72D181C487C0}"/>
              </a:ext>
            </a:extLst>
          </p:cNvPr>
          <p:cNvSpPr txBox="1"/>
          <p:nvPr/>
        </p:nvSpPr>
        <p:spPr>
          <a:xfrm>
            <a:off x="240632" y="4988873"/>
            <a:ext cx="6451273" cy="3600986"/>
          </a:xfrm>
          <a:prstGeom prst="rect">
            <a:avLst/>
          </a:prstGeom>
          <a:noFill/>
        </p:spPr>
        <p:txBody>
          <a:bodyPr wrap="square" rtlCol="0">
            <a:spAutoFit/>
          </a:bodyPr>
          <a:lstStyle/>
          <a:p>
            <a:r>
              <a:rPr lang="es-VE" sz="1200" dirty="0">
                <a:solidFill>
                  <a:srgbClr val="033048"/>
                </a:solidFill>
                <a:latin typeface="Arial" panose="020B0604020202020204" pitchFamily="34" charset="0"/>
                <a:cs typeface="Arial" panose="020B0604020202020204" pitchFamily="34" charset="0"/>
              </a:rPr>
              <a:t>A continuación te presento tu plan de alimentación. Lo primero que debes conocer es que el mismo está diseñado tomando en cuenta todos y cada uno de los datos y resultados obtenidos en la consulta, por lo tanto es </a:t>
            </a:r>
            <a:r>
              <a:rPr lang="es-VE" sz="1200" b="1" dirty="0">
                <a:solidFill>
                  <a:srgbClr val="033048"/>
                </a:solidFill>
                <a:latin typeface="Arial" panose="020B0604020202020204" pitchFamily="34" charset="0"/>
                <a:cs typeface="Arial" panose="020B0604020202020204" pitchFamily="34" charset="0"/>
              </a:rPr>
              <a:t>PERSONAL E INDIVIDUAL</a:t>
            </a:r>
            <a:r>
              <a:rPr lang="es-VE" sz="1200" dirty="0">
                <a:solidFill>
                  <a:srgbClr val="033048"/>
                </a:solidFill>
                <a:latin typeface="Arial" panose="020B0604020202020204" pitchFamily="34" charset="0"/>
                <a:cs typeface="Arial" panose="020B0604020202020204" pitchFamily="34" charset="0"/>
              </a:rPr>
              <a:t>, lo que indica que no le será funcional a otra persona.</a:t>
            </a:r>
          </a:p>
          <a:p>
            <a:r>
              <a:rPr lang="es-VE" sz="1200" dirty="0">
                <a:solidFill>
                  <a:srgbClr val="033048"/>
                </a:solidFill>
                <a:latin typeface="Arial" panose="020B0604020202020204" pitchFamily="34" charset="0"/>
                <a:cs typeface="Arial" panose="020B0604020202020204" pitchFamily="34" charset="0"/>
              </a:rPr>
              <a:t>Inicialmente debes conocer que existen 6 grupos de alimentos con los cuales vamos a trabajar, y a partir de ellos hablaremos de </a:t>
            </a:r>
            <a:r>
              <a:rPr lang="es-VE" sz="1200" b="1" dirty="0">
                <a:solidFill>
                  <a:srgbClr val="033048"/>
                </a:solidFill>
                <a:latin typeface="Arial" panose="020B0604020202020204" pitchFamily="34" charset="0"/>
                <a:cs typeface="Arial" panose="020B0604020202020204" pitchFamily="34" charset="0"/>
              </a:rPr>
              <a:t>”RACIONES CORRESPONDIENTES”</a:t>
            </a:r>
            <a:r>
              <a:rPr lang="es-VE" sz="1200" dirty="0">
                <a:solidFill>
                  <a:srgbClr val="033048"/>
                </a:solidFill>
                <a:latin typeface="Arial" panose="020B0604020202020204" pitchFamily="34" charset="0"/>
                <a:cs typeface="Arial" panose="020B0604020202020204" pitchFamily="34" charset="0"/>
              </a:rPr>
              <a:t>, esto basicamente se describe como la cantidad total por tiempo de comida y durante todo el día de raciones a consumir de cada uno de los alimentos que puedas pertenecer a los 6 grupos que muestro seguidamente:</a:t>
            </a:r>
          </a:p>
          <a:p>
            <a:endParaRPr lang="es-VE" sz="1200" dirty="0">
              <a:solidFill>
                <a:srgbClr val="033048"/>
              </a:solidFill>
              <a:latin typeface="Arial" panose="020B0604020202020204" pitchFamily="34" charset="0"/>
              <a:cs typeface="Arial" panose="020B0604020202020204" pitchFamily="34" charset="0"/>
            </a:endParaRPr>
          </a:p>
          <a:p>
            <a:endParaRPr lang="es-VE" sz="1200" dirty="0">
              <a:solidFill>
                <a:srgbClr val="033048"/>
              </a:solidFill>
              <a:latin typeface="Arial" panose="020B0604020202020204" pitchFamily="34" charset="0"/>
              <a:cs typeface="Arial" panose="020B0604020202020204" pitchFamily="34" charset="0"/>
            </a:endParaRPr>
          </a:p>
          <a:p>
            <a:endParaRPr lang="es-VE" sz="1200" dirty="0">
              <a:solidFill>
                <a:srgbClr val="033048"/>
              </a:solidFill>
              <a:latin typeface="Arial" panose="020B0604020202020204" pitchFamily="34" charset="0"/>
              <a:cs typeface="Arial" panose="020B0604020202020204" pitchFamily="34" charset="0"/>
            </a:endParaRPr>
          </a:p>
          <a:p>
            <a:endParaRPr lang="es-VE" sz="1200" dirty="0">
              <a:solidFill>
                <a:srgbClr val="033048"/>
              </a:solidFill>
              <a:latin typeface="Arial" panose="020B0604020202020204" pitchFamily="34" charset="0"/>
              <a:cs typeface="Arial" panose="020B0604020202020204" pitchFamily="34" charset="0"/>
            </a:endParaRPr>
          </a:p>
          <a:p>
            <a:endParaRPr lang="es-VE" sz="1200" dirty="0">
              <a:solidFill>
                <a:srgbClr val="033048"/>
              </a:solidFill>
              <a:latin typeface="Arial" panose="020B0604020202020204" pitchFamily="34" charset="0"/>
              <a:cs typeface="Arial" panose="020B0604020202020204" pitchFamily="34" charset="0"/>
            </a:endParaRPr>
          </a:p>
          <a:p>
            <a:r>
              <a:rPr lang="es-VE" sz="1200" dirty="0">
                <a:solidFill>
                  <a:srgbClr val="033048"/>
                </a:solidFill>
                <a:latin typeface="Arial" panose="020B0604020202020204" pitchFamily="34" charset="0"/>
                <a:cs typeface="Arial" panose="020B0604020202020204" pitchFamily="34" charset="0"/>
              </a:rPr>
              <a:t>La cantidad y la frecuencia del consumo de cada uno de los grupos va estar directamente</a:t>
            </a:r>
          </a:p>
          <a:p>
            <a:r>
              <a:rPr lang="es-VE" sz="1200" dirty="0">
                <a:solidFill>
                  <a:srgbClr val="033048"/>
                </a:solidFill>
                <a:latin typeface="Arial" panose="020B0604020202020204" pitchFamily="34" charset="0"/>
                <a:cs typeface="Arial" panose="020B0604020202020204" pitchFamily="34" charset="0"/>
              </a:rPr>
              <a:t>relacionado con la planificación física y/o carga de entrenamiento o actividades que realices en tu día a día.</a:t>
            </a:r>
          </a:p>
          <a:p>
            <a:r>
              <a:rPr lang="es-VE" sz="1200" dirty="0">
                <a:solidFill>
                  <a:srgbClr val="033048"/>
                </a:solidFill>
                <a:latin typeface="Arial" panose="020B0604020202020204" pitchFamily="34" charset="0"/>
                <a:cs typeface="Arial" panose="020B0604020202020204" pitchFamily="34" charset="0"/>
              </a:rPr>
              <a:t>En la página siguiente conseguirás tu distribuición diaria y por tiempo de comida de cada uno de los grupos de alimentos adecuados a tus requerimientos de energía.</a:t>
            </a:r>
          </a:p>
        </p:txBody>
      </p:sp>
      <p:pic>
        <p:nvPicPr>
          <p:cNvPr id="11" name="Imagen 10">
            <a:extLst>
              <a:ext uri="{FF2B5EF4-FFF2-40B4-BE49-F238E27FC236}">
                <a16:creationId xmlns:a16="http://schemas.microsoft.com/office/drawing/2014/main" id="{953762A5-AD96-F6E3-A456-8764882072B7}"/>
              </a:ext>
            </a:extLst>
          </p:cNvPr>
          <p:cNvPicPr>
            <a:picLocks noChangeAspect="1"/>
          </p:cNvPicPr>
          <p:nvPr/>
        </p:nvPicPr>
        <p:blipFill>
          <a:blip r:embed="rId6"/>
          <a:stretch>
            <a:fillRect/>
          </a:stretch>
        </p:blipFill>
        <p:spPr>
          <a:xfrm>
            <a:off x="805431" y="6758214"/>
            <a:ext cx="5147127" cy="690054"/>
          </a:xfrm>
          <a:prstGeom prst="rect">
            <a:avLst/>
          </a:prstGeom>
        </p:spPr>
      </p:pic>
      <p:sp>
        <p:nvSpPr>
          <p:cNvPr id="5" name="CuadroTexto 4">
            <a:extLst>
              <a:ext uri="{FF2B5EF4-FFF2-40B4-BE49-F238E27FC236}">
                <a16:creationId xmlns:a16="http://schemas.microsoft.com/office/drawing/2014/main" id="{64F2ACFD-1AD4-9122-B894-7E545D0F3232}"/>
              </a:ext>
            </a:extLst>
          </p:cNvPr>
          <p:cNvSpPr txBox="1"/>
          <p:nvPr/>
        </p:nvSpPr>
        <p:spPr>
          <a:xfrm>
            <a:off x="4608191" y="2756263"/>
            <a:ext cx="1667415" cy="261610"/>
          </a:xfrm>
          <a:prstGeom prst="rect">
            <a:avLst/>
          </a:prstGeom>
          <a:noFill/>
        </p:spPr>
        <p:txBody>
          <a:bodyPr wrap="square" rtlCol="0">
            <a:spAutoFit/>
          </a:bodyPr>
          <a:lstStyle/>
          <a:p>
            <a:r>
              <a:rPr lang="es-VE" sz="1100" b="1" i="1" u="sng" dirty="0">
                <a:latin typeface="Arial Black" panose="020B0604020202020204" pitchFamily="34" charset="0"/>
                <a:cs typeface="Arial Black" panose="020B0604020202020204" pitchFamily="34" charset="0"/>
              </a:rPr>
              <a:t>UCV-MPPS: 5489</a:t>
            </a:r>
          </a:p>
        </p:txBody>
      </p:sp>
    </p:spTree>
    <p:extLst>
      <p:ext uri="{BB962C8B-B14F-4D97-AF65-F5344CB8AC3E}">
        <p14:creationId xmlns:p14="http://schemas.microsoft.com/office/powerpoint/2010/main" val="36863148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grpSp>
        <p:nvGrpSpPr>
          <p:cNvPr id="6" name="Group 2">
            <a:extLst>
              <a:ext uri="{FF2B5EF4-FFF2-40B4-BE49-F238E27FC236}">
                <a16:creationId xmlns:a16="http://schemas.microsoft.com/office/drawing/2014/main" id="{D9681552-15B9-09B4-1397-93A45D300013}"/>
              </a:ext>
            </a:extLst>
          </p:cNvPr>
          <p:cNvGrpSpPr/>
          <p:nvPr/>
        </p:nvGrpSpPr>
        <p:grpSpPr>
          <a:xfrm>
            <a:off x="133722" y="823356"/>
            <a:ext cx="2746263" cy="7160070"/>
            <a:chOff x="107276" y="741540"/>
            <a:chExt cx="1252944" cy="4493688"/>
          </a:xfrm>
        </p:grpSpPr>
        <p:sp>
          <p:nvSpPr>
            <p:cNvPr id="7" name="Freeform 3">
              <a:extLst>
                <a:ext uri="{FF2B5EF4-FFF2-40B4-BE49-F238E27FC236}">
                  <a16:creationId xmlns:a16="http://schemas.microsoft.com/office/drawing/2014/main" id="{9AE6B8DE-10C5-7A09-F9C7-A64AAC4BFF3D}"/>
                </a:ext>
              </a:extLst>
            </p:cNvPr>
            <p:cNvSpPr/>
            <p:nvPr/>
          </p:nvSpPr>
          <p:spPr>
            <a:xfrm>
              <a:off x="107276" y="741540"/>
              <a:ext cx="1252944" cy="4493688"/>
            </a:xfrm>
            <a:custGeom>
              <a:avLst/>
              <a:gdLst/>
              <a:ahLst/>
              <a:cxnLst/>
              <a:rect l="l" t="t" r="r" b="b"/>
              <a:pathLst>
                <a:path w="1252944" h="4493688">
                  <a:moveTo>
                    <a:pt x="0" y="0"/>
                  </a:moveTo>
                  <a:lnTo>
                    <a:pt x="1252944" y="0"/>
                  </a:lnTo>
                  <a:lnTo>
                    <a:pt x="1252944" y="4493688"/>
                  </a:lnTo>
                  <a:lnTo>
                    <a:pt x="0" y="4493688"/>
                  </a:lnTo>
                  <a:close/>
                </a:path>
              </a:pathLst>
            </a:custGeom>
            <a:solidFill>
              <a:schemeClr val="accent5">
                <a:lumMod val="75000"/>
              </a:schemeClr>
            </a:solidFill>
          </p:spPr>
          <p:txBody>
            <a:bodyPr/>
            <a:lstStyle/>
            <a:p>
              <a:endParaRPr lang="es-VE" dirty="0"/>
            </a:p>
          </p:txBody>
        </p:sp>
      </p:grpSp>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4" name="CuadroTexto 3">
            <a:extLst>
              <a:ext uri="{FF2B5EF4-FFF2-40B4-BE49-F238E27FC236}">
                <a16:creationId xmlns:a16="http://schemas.microsoft.com/office/drawing/2014/main" id="{BC81DFD8-2D49-38C9-8F7E-68F25D5FBE74}"/>
              </a:ext>
            </a:extLst>
          </p:cNvPr>
          <p:cNvSpPr txBox="1"/>
          <p:nvPr/>
        </p:nvSpPr>
        <p:spPr>
          <a:xfrm>
            <a:off x="404948" y="122813"/>
            <a:ext cx="6757988" cy="523220"/>
          </a:xfrm>
          <a:prstGeom prst="rect">
            <a:avLst/>
          </a:prstGeom>
          <a:noFill/>
        </p:spPr>
        <p:txBody>
          <a:bodyPr wrap="square" rtlCol="0">
            <a:spAutoFit/>
          </a:bodyPr>
          <a:lstStyle/>
          <a:p>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DISTRIBUCIÓN DE RACIONES</a:t>
            </a:r>
          </a:p>
        </p:txBody>
      </p:sp>
      <p:sp>
        <p:nvSpPr>
          <p:cNvPr id="27" name="TextBox 56">
            <a:extLst>
              <a:ext uri="{FF2B5EF4-FFF2-40B4-BE49-F238E27FC236}">
                <a16:creationId xmlns:a16="http://schemas.microsoft.com/office/drawing/2014/main" id="{C047A1BC-E10F-B1D8-1816-C9F89B4D5551}"/>
              </a:ext>
            </a:extLst>
          </p:cNvPr>
          <p:cNvSpPr txBox="1"/>
          <p:nvPr/>
        </p:nvSpPr>
        <p:spPr>
          <a:xfrm>
            <a:off x="133722" y="933594"/>
            <a:ext cx="2583351" cy="962661"/>
          </a:xfrm>
          <a:prstGeom prst="rect">
            <a:avLst/>
          </a:prstGeom>
        </p:spPr>
        <p:txBody>
          <a:bodyPr wrap="square" lIns="0" tIns="0" rIns="0" bIns="0" rtlCol="0" anchor="t">
            <a:noAutofit/>
          </a:bodyPr>
          <a:lstStyle/>
          <a:p>
            <a:pPr algn="ctr">
              <a:lnSpc>
                <a:spcPts val="3355"/>
              </a:lnSpc>
              <a:spcAft>
                <a:spcPts val="1000"/>
              </a:spcAft>
            </a:pPr>
            <a:r>
              <a:rPr lang="es-VE" b="1" kern="1200" spc="145" dirty="0">
                <a:solidFill>
                  <a:srgbClr val="FFFFFF"/>
                </a:solidFill>
                <a:effectLst/>
                <a:latin typeface="Arial" panose="020B0604020202020204" pitchFamily="34" charset="0"/>
                <a:ea typeface="Calibri" panose="020F0502020204030204" pitchFamily="34" charset="0"/>
              </a:rPr>
              <a:t>RACIONES TOTALES DEL DÍA</a:t>
            </a:r>
            <a:endParaRPr lang="es-VE" sz="1000" dirty="0">
              <a:effectLst/>
              <a:latin typeface="Calibri" panose="020F0502020204030204" pitchFamily="34" charset="0"/>
              <a:ea typeface="Calibri" panose="020F0502020204030204" pitchFamily="34" charset="0"/>
            </a:endParaRPr>
          </a:p>
        </p:txBody>
      </p:sp>
      <p:sp>
        <p:nvSpPr>
          <p:cNvPr id="28" name="Freeform 82">
            <a:extLst>
              <a:ext uri="{FF2B5EF4-FFF2-40B4-BE49-F238E27FC236}">
                <a16:creationId xmlns:a16="http://schemas.microsoft.com/office/drawing/2014/main" id="{3BA6EDBF-096F-9455-435B-BADF28D4305E}"/>
              </a:ext>
            </a:extLst>
          </p:cNvPr>
          <p:cNvSpPr/>
          <p:nvPr/>
        </p:nvSpPr>
        <p:spPr>
          <a:xfrm rot="5400000">
            <a:off x="903771" y="2134687"/>
            <a:ext cx="1183853" cy="927463"/>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grpSp>
        <p:nvGrpSpPr>
          <p:cNvPr id="29" name="Group 19">
            <a:extLst>
              <a:ext uri="{FF2B5EF4-FFF2-40B4-BE49-F238E27FC236}">
                <a16:creationId xmlns:a16="http://schemas.microsoft.com/office/drawing/2014/main" id="{9434E6C2-53E6-C7D7-948B-7C3C1FFD7E06}"/>
              </a:ext>
            </a:extLst>
          </p:cNvPr>
          <p:cNvGrpSpPr/>
          <p:nvPr/>
        </p:nvGrpSpPr>
        <p:grpSpPr>
          <a:xfrm>
            <a:off x="288357" y="4069789"/>
            <a:ext cx="208280" cy="168275"/>
            <a:chOff x="257045" y="4764774"/>
            <a:chExt cx="6350000" cy="5126990"/>
          </a:xfrm>
        </p:grpSpPr>
        <p:sp>
          <p:nvSpPr>
            <p:cNvPr id="40" name="Freeform 20">
              <a:extLst>
                <a:ext uri="{FF2B5EF4-FFF2-40B4-BE49-F238E27FC236}">
                  <a16:creationId xmlns:a16="http://schemas.microsoft.com/office/drawing/2014/main" id="{271C8891-8EAC-63B1-991B-CBC729FEE3A1}"/>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a:p>
          </p:txBody>
        </p:sp>
      </p:grpSp>
      <p:grpSp>
        <p:nvGrpSpPr>
          <p:cNvPr id="30" name="Group 21">
            <a:extLst>
              <a:ext uri="{FF2B5EF4-FFF2-40B4-BE49-F238E27FC236}">
                <a16:creationId xmlns:a16="http://schemas.microsoft.com/office/drawing/2014/main" id="{E49C366C-4D8A-DA15-2679-C8AFFDD3A955}"/>
              </a:ext>
            </a:extLst>
          </p:cNvPr>
          <p:cNvGrpSpPr/>
          <p:nvPr/>
        </p:nvGrpSpPr>
        <p:grpSpPr>
          <a:xfrm>
            <a:off x="328362" y="4610174"/>
            <a:ext cx="208280" cy="168275"/>
            <a:chOff x="296771" y="5304943"/>
            <a:chExt cx="6350000" cy="5126990"/>
          </a:xfrm>
        </p:grpSpPr>
        <p:sp>
          <p:nvSpPr>
            <p:cNvPr id="39" name="Freeform 22">
              <a:extLst>
                <a:ext uri="{FF2B5EF4-FFF2-40B4-BE49-F238E27FC236}">
                  <a16:creationId xmlns:a16="http://schemas.microsoft.com/office/drawing/2014/main" id="{F4B9DB6F-3B24-5BDA-FDD1-356B2316197E}"/>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31" name="Group 27">
            <a:extLst>
              <a:ext uri="{FF2B5EF4-FFF2-40B4-BE49-F238E27FC236}">
                <a16:creationId xmlns:a16="http://schemas.microsoft.com/office/drawing/2014/main" id="{7D82679E-1107-AB5A-B2C1-7C1102F7972F}"/>
              </a:ext>
            </a:extLst>
          </p:cNvPr>
          <p:cNvGrpSpPr/>
          <p:nvPr/>
        </p:nvGrpSpPr>
        <p:grpSpPr>
          <a:xfrm>
            <a:off x="328362" y="6299909"/>
            <a:ext cx="208280" cy="168275"/>
            <a:chOff x="296771" y="6994768"/>
            <a:chExt cx="6350000" cy="5126990"/>
          </a:xfrm>
        </p:grpSpPr>
        <p:sp>
          <p:nvSpPr>
            <p:cNvPr id="38" name="Freeform 28">
              <a:extLst>
                <a:ext uri="{FF2B5EF4-FFF2-40B4-BE49-F238E27FC236}">
                  <a16:creationId xmlns:a16="http://schemas.microsoft.com/office/drawing/2014/main" id="{13AA2C99-6538-73B0-1A53-095CC19D4EAC}"/>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a:p>
          </p:txBody>
        </p:sp>
      </p:grpSp>
      <p:grpSp>
        <p:nvGrpSpPr>
          <p:cNvPr id="33" name="Group 23">
            <a:extLst>
              <a:ext uri="{FF2B5EF4-FFF2-40B4-BE49-F238E27FC236}">
                <a16:creationId xmlns:a16="http://schemas.microsoft.com/office/drawing/2014/main" id="{6516E68B-70E4-AB1F-E241-6656BABAAF18}"/>
              </a:ext>
            </a:extLst>
          </p:cNvPr>
          <p:cNvGrpSpPr/>
          <p:nvPr/>
        </p:nvGrpSpPr>
        <p:grpSpPr>
          <a:xfrm>
            <a:off x="322647" y="5149924"/>
            <a:ext cx="208280" cy="168275"/>
            <a:chOff x="39726" y="1634099"/>
            <a:chExt cx="6350000" cy="5126990"/>
          </a:xfrm>
        </p:grpSpPr>
        <p:sp>
          <p:nvSpPr>
            <p:cNvPr id="36" name="Freeform 24">
              <a:extLst>
                <a:ext uri="{FF2B5EF4-FFF2-40B4-BE49-F238E27FC236}">
                  <a16:creationId xmlns:a16="http://schemas.microsoft.com/office/drawing/2014/main" id="{444B376A-0325-E26C-D2D3-FCD7E3355CF5}"/>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34" name="Group 25">
            <a:extLst>
              <a:ext uri="{FF2B5EF4-FFF2-40B4-BE49-F238E27FC236}">
                <a16:creationId xmlns:a16="http://schemas.microsoft.com/office/drawing/2014/main" id="{FC33CFE1-81AB-70FB-8440-791F99AF3D76}"/>
              </a:ext>
            </a:extLst>
          </p:cNvPr>
          <p:cNvGrpSpPr/>
          <p:nvPr/>
        </p:nvGrpSpPr>
        <p:grpSpPr>
          <a:xfrm>
            <a:off x="334077" y="5703644"/>
            <a:ext cx="208280" cy="168275"/>
            <a:chOff x="39726" y="2199413"/>
            <a:chExt cx="6350000" cy="5126990"/>
          </a:xfrm>
        </p:grpSpPr>
        <p:sp>
          <p:nvSpPr>
            <p:cNvPr id="35" name="Freeform 26">
              <a:extLst>
                <a:ext uri="{FF2B5EF4-FFF2-40B4-BE49-F238E27FC236}">
                  <a16:creationId xmlns:a16="http://schemas.microsoft.com/office/drawing/2014/main" id="{3DE11998-CEE9-C823-0037-BBF44E6866DD}"/>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a:p>
          </p:txBody>
        </p:sp>
      </p:grpSp>
      <p:sp>
        <p:nvSpPr>
          <p:cNvPr id="41" name="TextBox 58">
            <a:extLst>
              <a:ext uri="{FF2B5EF4-FFF2-40B4-BE49-F238E27FC236}">
                <a16:creationId xmlns:a16="http://schemas.microsoft.com/office/drawing/2014/main" id="{29E90F70-796B-AA20-D7A2-D9E2935622A8}"/>
              </a:ext>
            </a:extLst>
          </p:cNvPr>
          <p:cNvSpPr txBox="1"/>
          <p:nvPr/>
        </p:nvSpPr>
        <p:spPr>
          <a:xfrm>
            <a:off x="585831" y="4046611"/>
            <a:ext cx="2091690" cy="769441"/>
          </a:xfrm>
          <a:prstGeom prst="rect">
            <a:avLst/>
          </a:prstGeom>
        </p:spPr>
        <p:txBody>
          <a:bodyPr wrap="square" lIns="0" tIns="0" rIns="0" bIns="0" rtlCol="0" anchor="t">
            <a:spAutoFit/>
          </a:bodyPr>
          <a:lstStyle/>
          <a:p>
            <a:pPr algn="just">
              <a:lnSpc>
                <a:spcPts val="2015"/>
              </a:lnSpc>
              <a:spcAft>
                <a:spcPts val="1000"/>
              </a:spcAft>
            </a:pPr>
            <a:r>
              <a:rPr lang="es-VE" sz="1900" b="1" kern="1200" spc="115" dirty="0">
                <a:solidFill>
                  <a:srgbClr val="FFFFFF"/>
                </a:solidFill>
                <a:effectLst/>
                <a:latin typeface="Arial" panose="020B0604020202020204" pitchFamily="34" charset="0"/>
                <a:ea typeface="Calibri" panose="020F0502020204030204" pitchFamily="34" charset="0"/>
              </a:rPr>
              <a:t>VEGETALES</a:t>
            </a:r>
            <a:r>
              <a:rPr lang="es-VE" sz="1900" b="1" spc="115" dirty="0">
                <a:solidFill>
                  <a:srgbClr val="FFFFFF"/>
                </a:solidFill>
                <a:latin typeface="Arial" panose="020B0604020202020204" pitchFamily="34" charset="0"/>
                <a:ea typeface="Calibri" panose="020F0502020204030204" pitchFamily="34" charset="0"/>
              </a:rPr>
              <a:t>: {{TOTAL_VEGETALES}}  </a:t>
            </a:r>
            <a:endParaRPr lang="es-VE" sz="1100" dirty="0">
              <a:effectLst/>
              <a:latin typeface="Calibri" panose="020F0502020204030204" pitchFamily="34" charset="0"/>
              <a:ea typeface="Calibri" panose="020F0502020204030204" pitchFamily="34" charset="0"/>
            </a:endParaRPr>
          </a:p>
        </p:txBody>
      </p:sp>
      <p:sp>
        <p:nvSpPr>
          <p:cNvPr id="42" name="TextBox 59">
            <a:extLst>
              <a:ext uri="{FF2B5EF4-FFF2-40B4-BE49-F238E27FC236}">
                <a16:creationId xmlns:a16="http://schemas.microsoft.com/office/drawing/2014/main" id="{A304B188-C200-30F0-AC90-7E101DE1A9E2}"/>
              </a:ext>
            </a:extLst>
          </p:cNvPr>
          <p:cNvSpPr txBox="1"/>
          <p:nvPr/>
        </p:nvSpPr>
        <p:spPr>
          <a:xfrm>
            <a:off x="697591" y="4627199"/>
            <a:ext cx="1868170" cy="769441"/>
          </a:xfrm>
          <a:prstGeom prst="rect">
            <a:avLst/>
          </a:prstGeom>
        </p:spPr>
        <p:txBody>
          <a:bodyPr lIns="0" tIns="0" rIns="0" bIns="0" rtlCol="0" anchor="t">
            <a:spAutoFit/>
          </a:bodyPr>
          <a:lstStyle/>
          <a:p>
            <a:pPr algn="just">
              <a:lnSpc>
                <a:spcPts val="2015"/>
              </a:lnSpc>
              <a:spcAft>
                <a:spcPts val="1000"/>
              </a:spcAft>
            </a:pPr>
            <a:r>
              <a:rPr lang="es-VE" sz="1900" b="1" kern="1200" spc="115" dirty="0">
                <a:solidFill>
                  <a:schemeClr val="bg1"/>
                </a:solidFill>
                <a:effectLst/>
                <a:latin typeface="Arial" panose="020B0604020202020204" pitchFamily="34" charset="0"/>
                <a:ea typeface="Calibri" panose="020F0502020204030204" pitchFamily="34" charset="0"/>
              </a:rPr>
              <a:t>FRUTAS</a:t>
            </a:r>
            <a:r>
              <a:rPr lang="es-VE" sz="1900" b="1" spc="115" dirty="0">
                <a:solidFill>
                  <a:schemeClr val="bg1"/>
                </a:solidFill>
                <a:latin typeface="Arial" panose="020B0604020202020204" pitchFamily="34" charset="0"/>
                <a:ea typeface="Calibri" panose="020F0502020204030204" pitchFamily="34" charset="0"/>
              </a:rPr>
              <a:t>: {{TOTAL_FRUTAS}}  </a:t>
            </a:r>
            <a:endParaRPr lang="es-VE" sz="1100" dirty="0">
              <a:solidFill>
                <a:schemeClr val="bg1"/>
              </a:solidFill>
              <a:effectLst/>
              <a:latin typeface="Calibri" panose="020F0502020204030204" pitchFamily="34" charset="0"/>
              <a:ea typeface="Calibri" panose="020F0502020204030204" pitchFamily="34" charset="0"/>
            </a:endParaRPr>
          </a:p>
        </p:txBody>
      </p:sp>
      <p:sp>
        <p:nvSpPr>
          <p:cNvPr id="43" name="TextBox 60">
            <a:extLst>
              <a:ext uri="{FF2B5EF4-FFF2-40B4-BE49-F238E27FC236}">
                <a16:creationId xmlns:a16="http://schemas.microsoft.com/office/drawing/2014/main" id="{BFED8317-8004-E63D-29BE-4822C5FF93E5}"/>
              </a:ext>
            </a:extLst>
          </p:cNvPr>
          <p:cNvSpPr txBox="1"/>
          <p:nvPr/>
        </p:nvSpPr>
        <p:spPr>
          <a:xfrm>
            <a:off x="660126" y="5126746"/>
            <a:ext cx="1943100" cy="769441"/>
          </a:xfrm>
          <a:prstGeom prst="rect">
            <a:avLst/>
          </a:prstGeom>
        </p:spPr>
        <p:txBody>
          <a:bodyPr wrap="square" lIns="0" tIns="0" rIns="0" bIns="0" rtlCol="0" anchor="t">
            <a:spAutoFit/>
          </a:bodyPr>
          <a:lstStyle/>
          <a:p>
            <a:pPr algn="just">
              <a:lnSpc>
                <a:spcPts val="2015"/>
              </a:lnSpc>
              <a:spcAft>
                <a:spcPts val="1000"/>
              </a:spcAft>
            </a:pPr>
            <a:r>
              <a:rPr lang="es-VE" sz="1900" b="1" kern="1200" spc="115" dirty="0">
                <a:solidFill>
                  <a:srgbClr val="FFFFFF"/>
                </a:solidFill>
                <a:effectLst/>
                <a:latin typeface="Arial" panose="020B0604020202020204" pitchFamily="34" charset="0"/>
                <a:ea typeface="Calibri" panose="020F0502020204030204" pitchFamily="34" charset="0"/>
              </a:rPr>
              <a:t>ALMIDONES</a:t>
            </a:r>
            <a:r>
              <a:rPr lang="es-VE" sz="1900" b="1" spc="115" dirty="0">
                <a:solidFill>
                  <a:srgbClr val="FFFFFF"/>
                </a:solidFill>
                <a:latin typeface="Arial" panose="020B0604020202020204" pitchFamily="34" charset="0"/>
                <a:ea typeface="Calibri" panose="020F0502020204030204" pitchFamily="34" charset="0"/>
              </a:rPr>
              <a:t>: {{TOTAL_ALMIDONES}} </a:t>
            </a:r>
            <a:endParaRPr lang="es-VE" sz="1100" dirty="0">
              <a:effectLst/>
              <a:latin typeface="Calibri" panose="020F0502020204030204" pitchFamily="34" charset="0"/>
              <a:ea typeface="Calibri" panose="020F0502020204030204" pitchFamily="34" charset="0"/>
            </a:endParaRPr>
          </a:p>
        </p:txBody>
      </p:sp>
      <p:sp>
        <p:nvSpPr>
          <p:cNvPr id="45" name="TextBox 61">
            <a:extLst>
              <a:ext uri="{FF2B5EF4-FFF2-40B4-BE49-F238E27FC236}">
                <a16:creationId xmlns:a16="http://schemas.microsoft.com/office/drawing/2014/main" id="{0BEC2674-CF6C-302A-D5A5-A6B5A7058544}"/>
              </a:ext>
            </a:extLst>
          </p:cNvPr>
          <p:cNvSpPr txBox="1"/>
          <p:nvPr/>
        </p:nvSpPr>
        <p:spPr>
          <a:xfrm>
            <a:off x="608691" y="5690894"/>
            <a:ext cx="2068830" cy="769441"/>
          </a:xfrm>
          <a:prstGeom prst="rect">
            <a:avLst/>
          </a:prstGeom>
        </p:spPr>
        <p:txBody>
          <a:bodyPr wrap="square" lIns="0" tIns="0" rIns="0" bIns="0" rtlCol="0" anchor="t">
            <a:spAutoFit/>
          </a:bodyPr>
          <a:lstStyle/>
          <a:p>
            <a:pPr algn="just">
              <a:lnSpc>
                <a:spcPts val="2015"/>
              </a:lnSpc>
              <a:spcAft>
                <a:spcPts val="1000"/>
              </a:spcAft>
            </a:pPr>
            <a:r>
              <a:rPr lang="es-VE" sz="1900" b="1" kern="1200" spc="115" dirty="0">
                <a:solidFill>
                  <a:srgbClr val="FFFFFF"/>
                </a:solidFill>
                <a:effectLst/>
                <a:latin typeface="Arial" panose="020B0604020202020204" pitchFamily="34" charset="0"/>
                <a:ea typeface="Calibri" panose="020F0502020204030204" pitchFamily="34" charset="0"/>
              </a:rPr>
              <a:t>PROTEICOS</a:t>
            </a:r>
            <a:r>
              <a:rPr lang="es-VE" sz="1900" b="1" spc="115" dirty="0">
                <a:solidFill>
                  <a:srgbClr val="FFFFFF"/>
                </a:solidFill>
                <a:latin typeface="Arial" panose="020B0604020202020204" pitchFamily="34" charset="0"/>
                <a:ea typeface="Calibri" panose="020F0502020204030204" pitchFamily="34" charset="0"/>
              </a:rPr>
              <a:t>: {{TOTAL_PROTEINAS}} </a:t>
            </a:r>
            <a:endParaRPr lang="es-VE" sz="1100" dirty="0">
              <a:effectLst/>
              <a:latin typeface="Calibri" panose="020F0502020204030204" pitchFamily="34" charset="0"/>
              <a:ea typeface="Calibri" panose="020F0502020204030204" pitchFamily="34" charset="0"/>
            </a:endParaRPr>
          </a:p>
        </p:txBody>
      </p:sp>
      <p:sp>
        <p:nvSpPr>
          <p:cNvPr id="46" name="TextBox 62">
            <a:extLst>
              <a:ext uri="{FF2B5EF4-FFF2-40B4-BE49-F238E27FC236}">
                <a16:creationId xmlns:a16="http://schemas.microsoft.com/office/drawing/2014/main" id="{EE656434-CCC9-C9D7-2289-1B43FFA24072}"/>
              </a:ext>
            </a:extLst>
          </p:cNvPr>
          <p:cNvSpPr txBox="1"/>
          <p:nvPr/>
        </p:nvSpPr>
        <p:spPr>
          <a:xfrm>
            <a:off x="660126" y="6282715"/>
            <a:ext cx="1868170" cy="769441"/>
          </a:xfrm>
          <a:prstGeom prst="rect">
            <a:avLst/>
          </a:prstGeom>
        </p:spPr>
        <p:txBody>
          <a:bodyPr lIns="0" tIns="0" rIns="0" bIns="0" rtlCol="0" anchor="t">
            <a:spAutoFit/>
          </a:bodyPr>
          <a:lstStyle/>
          <a:p>
            <a:pPr algn="just">
              <a:lnSpc>
                <a:spcPts val="2015"/>
              </a:lnSpc>
              <a:spcAft>
                <a:spcPts val="1000"/>
              </a:spcAft>
            </a:pPr>
            <a:r>
              <a:rPr lang="es-VE" sz="1900" b="1" kern="1200" spc="115" dirty="0">
                <a:solidFill>
                  <a:srgbClr val="FFFFFF"/>
                </a:solidFill>
                <a:effectLst/>
                <a:latin typeface="Arial" panose="020B0604020202020204" pitchFamily="34" charset="0"/>
                <a:ea typeface="Calibri" panose="020F0502020204030204" pitchFamily="34" charset="0"/>
              </a:rPr>
              <a:t>GRASAS: </a:t>
            </a:r>
            <a:r>
              <a:rPr lang="es-VE" sz="1900" b="1" spc="115" dirty="0">
                <a:solidFill>
                  <a:srgbClr val="FFFFFF"/>
                </a:solidFill>
                <a:latin typeface="Arial" panose="020B0604020202020204" pitchFamily="34" charset="0"/>
                <a:ea typeface="Calibri" panose="020F0502020204030204" pitchFamily="34" charset="0"/>
              </a:rPr>
              <a:t>{{TOTAL_GRASAS}} </a:t>
            </a:r>
            <a:endParaRPr lang="es-VE" sz="1100" dirty="0">
              <a:effectLst/>
              <a:latin typeface="Calibri" panose="020F0502020204030204" pitchFamily="34" charset="0"/>
              <a:ea typeface="Calibri" panose="020F0502020204030204" pitchFamily="34" charset="0"/>
            </a:endParaRPr>
          </a:p>
        </p:txBody>
      </p:sp>
      <p:sp>
        <p:nvSpPr>
          <p:cNvPr id="47" name="TextBox 63">
            <a:extLst>
              <a:ext uri="{FF2B5EF4-FFF2-40B4-BE49-F238E27FC236}">
                <a16:creationId xmlns:a16="http://schemas.microsoft.com/office/drawing/2014/main" id="{F391E7A2-4C01-A43D-807C-E138FDBBEE02}"/>
              </a:ext>
            </a:extLst>
          </p:cNvPr>
          <p:cNvSpPr txBox="1"/>
          <p:nvPr/>
        </p:nvSpPr>
        <p:spPr>
          <a:xfrm>
            <a:off x="178978" y="6858492"/>
            <a:ext cx="2538095" cy="244875"/>
          </a:xfrm>
          <a:prstGeom prst="rect">
            <a:avLst/>
          </a:prstGeom>
        </p:spPr>
        <p:txBody>
          <a:bodyPr wrap="square" lIns="0" tIns="0" rIns="0" bIns="0" rtlCol="0" anchor="t">
            <a:spAutoFit/>
          </a:bodyPr>
          <a:lstStyle/>
          <a:p>
            <a:pPr algn="just">
              <a:lnSpc>
                <a:spcPts val="2015"/>
              </a:lnSpc>
              <a:spcAft>
                <a:spcPts val="1000"/>
              </a:spcAft>
            </a:pPr>
            <a:r>
              <a:rPr lang="es-VE" sz="1600" b="1" kern="1200" spc="115" dirty="0">
                <a:solidFill>
                  <a:srgbClr val="00FFFF"/>
                </a:solidFill>
                <a:effectLst/>
                <a:latin typeface="Arial" panose="020B0604020202020204" pitchFamily="34" charset="0"/>
                <a:ea typeface="Calibri" panose="020F0502020204030204" pitchFamily="34" charset="0"/>
              </a:rPr>
              <a:t>AGUA: 3,325 litros /día</a:t>
            </a:r>
            <a:endParaRPr lang="es-VE" sz="1100" dirty="0">
              <a:solidFill>
                <a:srgbClr val="00FFFF"/>
              </a:solidFill>
              <a:effectLst/>
              <a:latin typeface="Calibri" panose="020F0502020204030204" pitchFamily="34" charset="0"/>
              <a:ea typeface="Calibri" panose="020F0502020204030204" pitchFamily="34" charset="0"/>
            </a:endParaRPr>
          </a:p>
        </p:txBody>
      </p:sp>
      <p:sp>
        <p:nvSpPr>
          <p:cNvPr id="2" name="TextBox 57">
            <a:extLst>
              <a:ext uri="{FF2B5EF4-FFF2-40B4-BE49-F238E27FC236}">
                <a16:creationId xmlns:a16="http://schemas.microsoft.com/office/drawing/2014/main" id="{08B81BA7-2C80-51DC-151E-10E24E4F0F1A}"/>
              </a:ext>
            </a:extLst>
          </p:cNvPr>
          <p:cNvSpPr txBox="1"/>
          <p:nvPr/>
        </p:nvSpPr>
        <p:spPr>
          <a:xfrm>
            <a:off x="3060154" y="736660"/>
            <a:ext cx="3564112" cy="7100277"/>
          </a:xfrm>
          <a:prstGeom prst="rect">
            <a:avLst/>
          </a:prstGeom>
        </p:spPr>
        <p:txBody>
          <a:bodyPr wrap="square" lIns="0" tIns="0" rIns="0" bIns="0" rtlCol="0" anchor="t">
            <a:spAutoFit/>
          </a:bodyPr>
          <a:lstStyle/>
          <a:p>
            <a:pPr algn="just">
              <a:lnSpc>
                <a:spcPct val="150000"/>
              </a:lnSpc>
              <a:spcAft>
                <a:spcPts val="1000"/>
              </a:spcAft>
            </a:pPr>
            <a:r>
              <a:rPr lang="es-VE" sz="1900" b="1" i="1" spc="115" dirty="0">
                <a:solidFill>
                  <a:schemeClr val="bg1"/>
                </a:solidFill>
                <a:ea typeface="Calibri" panose="020F0502020204030204" pitchFamily="34" charset="0"/>
              </a:rPr>
              <a:t>{{PACIENTE}}, acá logras observar a tu izquierda el total de raciones que te corresponden en el día, es decir, todo lo que debes consumir en todo el día según los grupos de alimentos que te han sido asignados.</a:t>
            </a:r>
            <a:endParaRPr lang="es-VE" sz="1900" b="1" i="1" spc="115" dirty="0">
              <a:solidFill>
                <a:schemeClr val="bg1"/>
              </a:solidFill>
              <a:effectLst/>
              <a:ea typeface="Calibri" panose="020F0502020204030204" pitchFamily="34" charset="0"/>
            </a:endParaRPr>
          </a:p>
          <a:p>
            <a:pPr algn="just">
              <a:lnSpc>
                <a:spcPct val="150000"/>
              </a:lnSpc>
              <a:spcAft>
                <a:spcPts val="1000"/>
              </a:spcAft>
            </a:pPr>
            <a:r>
              <a:rPr lang="es-VE" sz="1900" b="1" i="1" spc="115" dirty="0">
                <a:solidFill>
                  <a:schemeClr val="bg1"/>
                </a:solidFill>
                <a:ea typeface="Calibri" panose="020F0502020204030204" pitchFamily="34" charset="0"/>
              </a:rPr>
              <a:t>A continuación tendrás una distribución similar pero por tiempos de comida, iniciando por la primera comida del día. </a:t>
            </a:r>
            <a:r>
              <a:rPr lang="es-VE" sz="1900" b="1" i="1" spc="115" dirty="0">
                <a:solidFill>
                  <a:srgbClr val="00FFFF"/>
                </a:solidFill>
                <a:ea typeface="Calibri" panose="020F0502020204030204" pitchFamily="34" charset="0"/>
              </a:rPr>
              <a:t>Recuerda que la misma puede ser distribuida como desees, SIEMPRE Y CUANDO respetes el TOTAL DIARIO.</a:t>
            </a:r>
            <a:endParaRPr lang="es-VE" sz="1100" i="1" dirty="0">
              <a:solidFill>
                <a:srgbClr val="00FFFF"/>
              </a:solidFill>
              <a:effectLst/>
              <a:ea typeface="Calibri" panose="020F0502020204030204" pitchFamily="34" charset="0"/>
            </a:endParaRPr>
          </a:p>
        </p:txBody>
      </p:sp>
      <p:sp>
        <p:nvSpPr>
          <p:cNvPr id="5" name="Freeform 82">
            <a:extLst>
              <a:ext uri="{FF2B5EF4-FFF2-40B4-BE49-F238E27FC236}">
                <a16:creationId xmlns:a16="http://schemas.microsoft.com/office/drawing/2014/main" id="{EEBB0232-F6E2-57CB-2270-CFC78160B3FD}"/>
              </a:ext>
            </a:extLst>
          </p:cNvPr>
          <p:cNvSpPr/>
          <p:nvPr/>
        </p:nvSpPr>
        <p:spPr>
          <a:xfrm>
            <a:off x="5551744" y="7699725"/>
            <a:ext cx="1072522" cy="567402"/>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Tree>
    <p:extLst>
      <p:ext uri="{BB962C8B-B14F-4D97-AF65-F5344CB8AC3E}">
        <p14:creationId xmlns:p14="http://schemas.microsoft.com/office/powerpoint/2010/main" val="11792362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379120" y="-16057"/>
            <a:ext cx="5999748"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PRE-DESAYUNO - Hora:</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1387664548"/>
              </p:ext>
            </p:extLst>
          </p:nvPr>
        </p:nvGraphicFramePr>
        <p:xfrm>
          <a:off x="264964" y="770236"/>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9956">
                  <a:extLst>
                    <a:ext uri="{9D8B030D-6E8A-4147-A177-3AD203B41FA5}">
                      <a16:colId xmlns:a16="http://schemas.microsoft.com/office/drawing/2014/main" val="1348210058"/>
                    </a:ext>
                  </a:extLst>
                </a:gridCol>
                <a:gridCol w="104995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algn="ctr"/>
                      <a:r>
                        <a:rPr lang="es-VE" dirty="0"/>
                        <a:t>{{PRE_LACTEOS}}</a:t>
                      </a:r>
                    </a:p>
                  </a:txBody>
                  <a:tcPr/>
                </a:tc>
                <a:tc>
                  <a:txBody>
                    <a:bodyPr/>
                    <a:lstStyle/>
                    <a:p>
                      <a:pPr algn="ctr"/>
                      <a:r>
                        <a:rPr lang="es-VE" dirty="0"/>
                        <a:t>{{PRE_VEGETALES}}</a:t>
                      </a:r>
                    </a:p>
                  </a:txBody>
                  <a:tcPr/>
                </a:tc>
                <a:tc>
                  <a:txBody>
                    <a:bodyPr/>
                    <a:lstStyle/>
                    <a:p>
                      <a:pPr algn="ctr"/>
                      <a:r>
                        <a:rPr lang="es-VE" dirty="0"/>
                        <a:t>{{PRE_FRUTAS}}</a:t>
                      </a:r>
                    </a:p>
                  </a:txBody>
                  <a:tcPr/>
                </a:tc>
                <a:tc>
                  <a:txBody>
                    <a:bodyPr/>
                    <a:lstStyle/>
                    <a:p>
                      <a:pPr algn="ctr"/>
                      <a:r>
                        <a:rPr lang="es-VE" dirty="0"/>
                        <a:t>{{PRE_ALMIDONES}}</a:t>
                      </a:r>
                    </a:p>
                  </a:txBody>
                  <a:tcPr/>
                </a:tc>
                <a:tc>
                  <a:txBody>
                    <a:bodyPr/>
                    <a:lstStyle/>
                    <a:p>
                      <a:pPr algn="ctr"/>
                      <a:r>
                        <a:rPr lang="es-VE" dirty="0"/>
                        <a:t>{{PRE_PROTEINAS}}</a:t>
                      </a:r>
                    </a:p>
                  </a:txBody>
                  <a:tcPr/>
                </a:tc>
                <a:tc>
                  <a:txBody>
                    <a:bodyPr/>
                    <a:lstStyle/>
                    <a:p>
                      <a:pPr algn="ctr"/>
                      <a:r>
                        <a:rPr lang="es-VE" dirty="0"/>
                        <a:t>{{PRE_GRASAS}}</a:t>
                      </a:r>
                    </a:p>
                  </a:txBody>
                  <a:tcPr/>
                </a:tc>
                <a:extLst>
                  <a:ext uri="{0D108BD9-81ED-4DB2-BD59-A6C34878D82A}">
                    <a16:rowId xmlns:a16="http://schemas.microsoft.com/office/drawing/2014/main" val="1007372756"/>
                  </a:ext>
                </a:extLst>
              </a:tr>
            </a:tbl>
          </a:graphicData>
        </a:graphic>
      </p:graphicFrame>
      <p:grpSp>
        <p:nvGrpSpPr>
          <p:cNvPr id="12" name="COL_PRE_VEGETALES">
            <a:extLst>
              <a:ext uri="{FF2B5EF4-FFF2-40B4-BE49-F238E27FC236}">
                <a16:creationId xmlns:a16="http://schemas.microsoft.com/office/drawing/2014/main" id="{917F574D-4E75-0573-5BF5-C86DED472866}"/>
              </a:ext>
            </a:extLst>
          </p:cNvPr>
          <p:cNvGrpSpPr/>
          <p:nvPr/>
        </p:nvGrpSpPr>
        <p:grpSpPr>
          <a:xfrm rot="5205064">
            <a:off x="1718740" y="543238"/>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a:p>
          </p:txBody>
        </p:sp>
      </p:grpSp>
      <p:grpSp>
        <p:nvGrpSpPr>
          <p:cNvPr id="14" name="COL_PRE_FRUTAS">
            <a:extLst>
              <a:ext uri="{FF2B5EF4-FFF2-40B4-BE49-F238E27FC236}">
                <a16:creationId xmlns:a16="http://schemas.microsoft.com/office/drawing/2014/main" id="{6352C8DD-7421-4B1E-3329-A7AEF64A43E6}"/>
              </a:ext>
            </a:extLst>
          </p:cNvPr>
          <p:cNvGrpSpPr/>
          <p:nvPr/>
        </p:nvGrpSpPr>
        <p:grpSpPr>
          <a:xfrm rot="5205064">
            <a:off x="2792750" y="536769"/>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16" name="COL_PRE_GRASAS">
            <a:extLst>
              <a:ext uri="{FF2B5EF4-FFF2-40B4-BE49-F238E27FC236}">
                <a16:creationId xmlns:a16="http://schemas.microsoft.com/office/drawing/2014/main" id="{1EEC53C4-6182-27D8-18DF-1E5D578505DE}"/>
              </a:ext>
            </a:extLst>
          </p:cNvPr>
          <p:cNvGrpSpPr/>
          <p:nvPr/>
        </p:nvGrpSpPr>
        <p:grpSpPr>
          <a:xfrm rot="5205064">
            <a:off x="5885082" y="548936"/>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dirty="0"/>
            </a:p>
          </p:txBody>
        </p:sp>
      </p:grpSp>
      <p:grpSp>
        <p:nvGrpSpPr>
          <p:cNvPr id="18" name="COL_PRE_LACTEOS">
            <a:extLst>
              <a:ext uri="{FF2B5EF4-FFF2-40B4-BE49-F238E27FC236}">
                <a16:creationId xmlns:a16="http://schemas.microsoft.com/office/drawing/2014/main" id="{F738774E-0460-FC46-8E96-50F3145B5223}"/>
              </a:ext>
            </a:extLst>
          </p:cNvPr>
          <p:cNvGrpSpPr/>
          <p:nvPr/>
        </p:nvGrpSpPr>
        <p:grpSpPr>
          <a:xfrm rot="5205064">
            <a:off x="640442" y="536768"/>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dirty="0"/>
            </a:p>
          </p:txBody>
        </p:sp>
      </p:grpSp>
      <p:grpSp>
        <p:nvGrpSpPr>
          <p:cNvPr id="20" name="COL_PRE_ALMIDONES">
            <a:extLst>
              <a:ext uri="{FF2B5EF4-FFF2-40B4-BE49-F238E27FC236}">
                <a16:creationId xmlns:a16="http://schemas.microsoft.com/office/drawing/2014/main" id="{7C2FF4C1-17D4-E50A-6AA0-EBCCA1D9F187}"/>
              </a:ext>
            </a:extLst>
          </p:cNvPr>
          <p:cNvGrpSpPr/>
          <p:nvPr/>
        </p:nvGrpSpPr>
        <p:grpSpPr>
          <a:xfrm rot="5205064">
            <a:off x="3776856" y="536769"/>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22" name="COL_PRE_PROTEINAS">
            <a:extLst>
              <a:ext uri="{FF2B5EF4-FFF2-40B4-BE49-F238E27FC236}">
                <a16:creationId xmlns:a16="http://schemas.microsoft.com/office/drawing/2014/main" id="{99EE7A54-D936-0D68-E05F-062E3B622E78}"/>
              </a:ext>
            </a:extLst>
          </p:cNvPr>
          <p:cNvGrpSpPr/>
          <p:nvPr/>
        </p:nvGrpSpPr>
        <p:grpSpPr>
          <a:xfrm rot="5205064">
            <a:off x="4830969" y="557064"/>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a:p>
          </p:txBody>
        </p:sp>
      </p:grpSp>
      <p:graphicFrame>
        <p:nvGraphicFramePr>
          <p:cNvPr id="26" name="STACK_3">
            <a:extLst>
              <a:ext uri="{FF2B5EF4-FFF2-40B4-BE49-F238E27FC236}">
                <a16:creationId xmlns:a16="http://schemas.microsoft.com/office/drawing/2014/main" id="{9717528F-7743-AC89-3AB2-8B757A680062}"/>
              </a:ext>
            </a:extLst>
          </p:cNvPr>
          <p:cNvGraphicFramePr>
            <a:graphicFrameLocks noGrp="1"/>
          </p:cNvGraphicFramePr>
          <p:nvPr>
            <p:extLst>
              <p:ext uri="{D42A27DB-BD31-4B8C-83A1-F6EECF244321}">
                <p14:modId xmlns:p14="http://schemas.microsoft.com/office/powerpoint/2010/main" val="21201417"/>
              </p:ext>
            </p:extLst>
          </p:nvPr>
        </p:nvGraphicFramePr>
        <p:xfrm>
          <a:off x="0" y="2204871"/>
          <a:ext cx="6757988" cy="6233334"/>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98617">
                  <a:extLst>
                    <a:ext uri="{9D8B030D-6E8A-4147-A177-3AD203B41FA5}">
                      <a16:colId xmlns:a16="http://schemas.microsoft.com/office/drawing/2014/main" val="4004187718"/>
                    </a:ext>
                  </a:extLst>
                </a:gridCol>
                <a:gridCol w="1463040">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LÁCTEOS </a:t>
                      </a:r>
                      <a:r>
                        <a:rPr lang="en-US" sz="1330" b="1" i="1" kern="1200" dirty="0">
                          <a:solidFill>
                            <a:schemeClr val="tx1"/>
                          </a:solidFill>
                          <a:effectLst/>
                          <a:latin typeface="+mn-lt"/>
                          <a:ea typeface="+mn-ea"/>
                          <a:cs typeface="+mn-cs"/>
                        </a:rPr>
                        <a:t>{{COL_PRE_LACTEOS}}</a:t>
                      </a:r>
                      <a:endParaRPr lang="es-VE" b="1"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50000"/>
                        <a:lumOff val="5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b="1" i="1" dirty="0">
                          <a:solidFill>
                            <a:schemeClr val="tx1"/>
                          </a:solidFill>
                        </a:rPr>
                        <a:t>FRUTAS </a:t>
                      </a:r>
                      <a:r>
                        <a:rPr lang="en-US" sz="1330" b="1" i="1" kern="1200" dirty="0">
                          <a:solidFill>
                            <a:schemeClr val="tx1"/>
                          </a:solidFill>
                          <a:effectLst/>
                          <a:latin typeface="+mn-lt"/>
                          <a:ea typeface="+mn-ea"/>
                          <a:cs typeface="+mn-cs"/>
                        </a:rPr>
                        <a:t>{{COL_PRE_FRUTAS}}</a:t>
                      </a:r>
                      <a:endParaRPr lang="es-VE" b="1"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b="1" i="1" dirty="0">
                          <a:solidFill>
                            <a:schemeClr val="tx1"/>
                          </a:solidFill>
                        </a:rPr>
                        <a:t>ALMIDONES </a:t>
                      </a:r>
                      <a:r>
                        <a:rPr lang="en-US" sz="1330" b="1" i="1" kern="1200" dirty="0">
                          <a:solidFill>
                            <a:schemeClr val="tx1"/>
                          </a:solidFill>
                          <a:effectLst/>
                          <a:latin typeface="+mn-lt"/>
                          <a:ea typeface="+mn-ea"/>
                          <a:cs typeface="+mn-cs"/>
                        </a:rPr>
                        <a:t>{{COL_PRE_ALMIDONES}}</a:t>
                      </a:r>
                      <a:endParaRPr lang="es-VE" b="1"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b="1" i="1" dirty="0">
                          <a:solidFill>
                            <a:schemeClr val="tx1"/>
                          </a:solidFill>
                        </a:rPr>
                        <a:t>PROTEÍNAS </a:t>
                      </a:r>
                      <a:r>
                        <a:rPr lang="en-US" sz="1330" b="1" i="1" kern="1200" dirty="0">
                          <a:solidFill>
                            <a:schemeClr val="tx1"/>
                          </a:solidFill>
                          <a:effectLst/>
                          <a:latin typeface="+mn-lt"/>
                          <a:ea typeface="+mn-ea"/>
                          <a:cs typeface="+mn-cs"/>
                        </a:rPr>
                        <a:t>{{COL_PRE_PROTEINAS}}</a:t>
                      </a:r>
                      <a:endParaRPr lang="es-VE" b="1"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00" b="1" i="1" dirty="0">
                          <a:solidFill>
                            <a:schemeClr val="tx1"/>
                          </a:solidFill>
                        </a:rPr>
                        <a:t>GRASAS </a:t>
                      </a:r>
                      <a:r>
                        <a:rPr lang="en-US" sz="1330" b="1" i="1" kern="1200" dirty="0">
                          <a:solidFill>
                            <a:schemeClr val="tx1"/>
                          </a:solidFill>
                          <a:effectLst/>
                          <a:latin typeface="+mn-lt"/>
                          <a:ea typeface="+mn-ea"/>
                          <a:cs typeface="+mn-cs"/>
                        </a:rPr>
                        <a:t>{{COL_PRE_GRASAS}}</a:t>
                      </a:r>
                      <a:endParaRPr lang="es-VE" sz="1300" b="1"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2">
                  <a:txBody>
                    <a:bodyPr/>
                    <a:lstStyle/>
                    <a:p>
                      <a:pPr algn="ctr"/>
                      <a:r>
                        <a:rPr lang="es-VE" sz="1050" dirty="0"/>
                        <a:t>1 taza de leche</a:t>
                      </a:r>
                    </a:p>
                    <a:p>
                      <a:pPr algn="ctr"/>
                      <a:r>
                        <a:rPr lang="es-VE" sz="1050" b="1" dirty="0"/>
                        <a:t> (ml/gramos):</a:t>
                      </a:r>
                    </a:p>
                    <a:p>
                      <a:pPr algn="ctr"/>
                      <a:r>
                        <a:rPr lang="es-VE" sz="1050" b="1" dirty="0"/>
                        <a:t>240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0">
                  <a:txBody>
                    <a:bodyPr/>
                    <a:lstStyle/>
                    <a:p>
                      <a:pPr algn="ctr"/>
                      <a:r>
                        <a:rPr lang="es-VE" sz="1050" dirty="0"/>
                        <a:t>1 ración de frutas entera/</a:t>
                      </a:r>
                    </a:p>
                    <a:p>
                      <a:pPr algn="ctr"/>
                      <a:r>
                        <a:rPr lang="es-VE" sz="1050" dirty="0"/>
                        <a:t>jugo</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arepa pequeña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  (80 cruda)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Pesar crudo 25-30 g por encima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050" dirty="0"/>
                        <a:t>1 </a:t>
                      </a:r>
                      <a:r>
                        <a:rPr lang="pt-BR" sz="1050" dirty="0" err="1"/>
                        <a:t>lonja</a:t>
                      </a:r>
                      <a:r>
                        <a:rPr lang="pt-BR" sz="1050" dirty="0"/>
                        <a:t>/s de </a:t>
                      </a:r>
                      <a:r>
                        <a:rPr lang="pt-BR" sz="1050" dirty="0" err="1"/>
                        <a:t>aguacate</a:t>
                      </a:r>
                      <a:endParaRPr lang="pt-BR" sz="105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564805">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a:t>
                      </a:r>
                      <a:r>
                        <a:rPr lang="es-VE" sz="1050" b="0" dirty="0" err="1"/>
                        <a:t>reb</a:t>
                      </a:r>
                      <a:r>
                        <a:rPr lang="es-VE" sz="1050" b="0" dirty="0"/>
                        <a:t> de pan cuadrado integral/blanco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dirty="0"/>
                        <a:t>1 </a:t>
                      </a:r>
                      <a:r>
                        <a:rPr lang="pt-BR" sz="1050" dirty="0" err="1"/>
                        <a:t>lonja</a:t>
                      </a:r>
                      <a:r>
                        <a:rPr lang="pt-BR" sz="1050" dirty="0"/>
                        <a:t>/s </a:t>
                      </a:r>
                      <a:r>
                        <a:rPr lang="pt-BR" sz="1050" dirty="0" err="1"/>
                        <a:t>tocineta</a:t>
                      </a:r>
                      <a:r>
                        <a:rPr lang="es-VE" sz="1050" b="1" dirty="0"/>
                        <a:t>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rowSpan="2">
                  <a:txBody>
                    <a:bodyPr/>
                    <a:lstStyle/>
                    <a:p>
                      <a:pPr algn="ctr"/>
                      <a:r>
                        <a:rPr lang="es-VE" sz="1050" dirty="0"/>
                        <a:t>¾ taza deyogurt firme </a:t>
                      </a:r>
                    </a:p>
                    <a:p>
                      <a:pPr algn="ctr"/>
                      <a:r>
                        <a:rPr lang="es-VE" sz="1050" b="1" dirty="0"/>
                        <a:t>(ml/gramos):</a:t>
                      </a:r>
                    </a:p>
                    <a:p>
                      <a:pPr algn="ctr"/>
                      <a:r>
                        <a:rPr lang="es-VE" sz="1050" b="1" dirty="0"/>
                        <a:t>150</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algn="ctr"/>
                      <a:r>
                        <a:rPr lang="es-VE" sz="1050" dirty="0"/>
                        <a:t>1 trozo/ 2 cdas</a:t>
                      </a:r>
                    </a:p>
                    <a:p>
                      <a:pPr algn="ctr"/>
                      <a:r>
                        <a:rPr lang="es-VE" sz="1050" dirty="0"/>
                        <a:t>de carne pollo o pescado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rowSpan="2">
                  <a:txBody>
                    <a:bodyPr/>
                    <a:lstStyle/>
                    <a:p>
                      <a:pPr algn="ctr"/>
                      <a:r>
                        <a:rPr lang="es-VE" sz="1050" dirty="0"/>
                        <a:t>2 ½ cdas de leche en polvo </a:t>
                      </a:r>
                      <a:r>
                        <a:rPr lang="es-VE" sz="1050" b="1" dirty="0"/>
                        <a:t> (ml/gramos):35</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1 trozo de batata-apio-yuca-ocumo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papa mediana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4">
                  <a:txBody>
                    <a:bodyPr/>
                    <a:lstStyle/>
                    <a:p>
                      <a:pPr algn="ctr"/>
                      <a:r>
                        <a:rPr lang="es-VE" sz="1050" b="1" dirty="0"/>
                        <a:t>1 unidad de yogurt tipo griego </a:t>
                      </a:r>
                    </a:p>
                    <a:p>
                      <a:pPr algn="ctr"/>
                      <a:r>
                        <a:rPr lang="es-VE" sz="1000" b="1" dirty="0"/>
                        <a:t>(</a:t>
                      </a:r>
                      <a:r>
                        <a:rPr lang="es-VE" sz="1000" b="1" dirty="0" err="1"/>
                        <a:t>yolo</a:t>
                      </a:r>
                      <a:r>
                        <a:rPr lang="es-VE" sz="1000" b="1" dirty="0"/>
                        <a:t>-</a:t>
                      </a:r>
                      <a:r>
                        <a:rPr lang="es-VE" sz="1000" b="1" dirty="0" err="1"/>
                        <a:t>yogpro</a:t>
                      </a:r>
                      <a:r>
                        <a:rPr lang="es-VE" sz="1000" b="1" dirty="0"/>
                        <a:t>-boom)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s-VE" sz="1050" b="1"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¼ taza de avena o crema de arroz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1 </a:t>
                      </a:r>
                      <a:r>
                        <a:rPr lang="es-VE" sz="1050" dirty="0" err="1"/>
                        <a:t>scoop</a:t>
                      </a:r>
                      <a:r>
                        <a:rPr lang="es-VE" sz="1050" dirty="0"/>
                        <a:t> de proteína en </a:t>
                      </a:r>
                      <a:r>
                        <a:rPr lang="es-VE" sz="1050" b="1" dirty="0"/>
                        <a:t>(ml/gramos): 30-35</a:t>
                      </a:r>
                    </a:p>
                    <a:p>
                      <a:pPr algn="ctr"/>
                      <a:r>
                        <a:rPr lang="es-VE" sz="1050" b="1" dirty="0">
                          <a:solidFill>
                            <a:srgbClr val="FF0000"/>
                          </a:solidFill>
                        </a:rPr>
                        <a:t>NO MULTIPLICAR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Aceitunas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½ taza de cereal (tipo </a:t>
                      </a:r>
                      <a:r>
                        <a:rPr lang="es-VE" sz="1050" dirty="0" err="1"/>
                        <a:t>corn</a:t>
                      </a:r>
                      <a:r>
                        <a:rPr lang="es-VE" sz="1050" dirty="0"/>
                        <a:t> </a:t>
                      </a:r>
                      <a:r>
                        <a:rPr lang="es-VE" sz="1050" dirty="0" err="1"/>
                        <a:t>flakes</a:t>
                      </a:r>
                      <a:r>
                        <a:rPr lang="es-VE" sz="1050" dirty="0"/>
                        <a:t>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Cucharadita/s de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Mantequilla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r>
                        <a:rPr lang="es-VE" sz="105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480909">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unidad de cachapa </a:t>
                      </a:r>
                      <a:r>
                        <a:rPr lang="es-VE" sz="1050" b="0" dirty="0" err="1"/>
                        <a:t>peq</a:t>
                      </a:r>
                      <a:r>
                        <a:rPr lang="es-VE" sz="1050" b="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endParaRPr lang="es-VE" sz="1050" b="1" dirty="0">
                        <a:solidFill>
                          <a:srgbClr val="FF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bl>
          </a:graphicData>
        </a:graphic>
      </p:graphicFrame>
      <p:sp>
        <p:nvSpPr>
          <p:cNvPr id="27" name="STACK_2_2">
            <a:extLst>
              <a:ext uri="{FF2B5EF4-FFF2-40B4-BE49-F238E27FC236}">
                <a16:creationId xmlns:a16="http://schemas.microsoft.com/office/drawing/2014/main" id="{18FEB007-7A30-4D5C-76DC-961FDBE1DDCD}"/>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28" name="STACK_2_1">
            <a:extLst>
              <a:ext uri="{FF2B5EF4-FFF2-40B4-BE49-F238E27FC236}">
                <a16:creationId xmlns:a16="http://schemas.microsoft.com/office/drawing/2014/main" id="{70086C7A-2632-8E7B-741B-0D4BC3B8710E}"/>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
        <p:nvSpPr>
          <p:cNvPr id="29" name="STACK_2_3">
            <a:extLst>
              <a:ext uri="{FF2B5EF4-FFF2-40B4-BE49-F238E27FC236}">
                <a16:creationId xmlns:a16="http://schemas.microsoft.com/office/drawing/2014/main" id="{4FFA4C23-A34D-D585-20C2-79EDF0BF2F6D}"/>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pic>
        <p:nvPicPr>
          <p:cNvPr id="32" name="COL_PRE_LACTEOS STACK_3_4&#10;COL_PRE_LACTEOS STACK_3_4&#10;COL_PRE_LACTEOS STACK_3_4&#10;COL_PRE_LACTEOS STACK_3_4">
            <a:extLst>
              <a:ext uri="{FF2B5EF4-FFF2-40B4-BE49-F238E27FC236}">
                <a16:creationId xmlns:a16="http://schemas.microsoft.com/office/drawing/2014/main" id="{CF324056-7D54-4DEB-B841-ED1E63EA027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22143" b="16429"/>
          <a:stretch/>
        </p:blipFill>
        <p:spPr bwMode="auto">
          <a:xfrm>
            <a:off x="98125" y="6871224"/>
            <a:ext cx="776676" cy="476675"/>
          </a:xfrm>
          <a:prstGeom prst="rect">
            <a:avLst/>
          </a:prstGeom>
          <a:noFill/>
          <a:ln>
            <a:noFill/>
          </a:ln>
          <a:extLst>
            <a:ext uri="{53640926-AAD7-44D8-BBD7-CCE9431645EC}">
              <a14:shadowObscured xmlns:a14="http://schemas.microsoft.com/office/drawing/2010/main"/>
            </a:ext>
          </a:extLst>
        </p:spPr>
      </p:pic>
      <p:pic>
        <p:nvPicPr>
          <p:cNvPr id="33" name="COL_PRE_LACTEOS STACK_3_4&#10;COL_PRE_LACTEOS STACK_3_4&#10;COL_PRE_LACTEOS STACK_3_4&#10;COL_PRE_LACTEOS STACK_3_4">
            <a:extLst>
              <a:ext uri="{FF2B5EF4-FFF2-40B4-BE49-F238E27FC236}">
                <a16:creationId xmlns:a16="http://schemas.microsoft.com/office/drawing/2014/main" id="{61DB9CA8-19BF-9B1F-4D1E-4D4FC9A45A0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1644" y="7347899"/>
            <a:ext cx="609638" cy="580421"/>
          </a:xfrm>
          <a:prstGeom prst="rect">
            <a:avLst/>
          </a:prstGeom>
          <a:noFill/>
        </p:spPr>
      </p:pic>
      <p:sp>
        <p:nvSpPr>
          <p:cNvPr id="4" name="CuadroTexto 3">
            <a:extLst>
              <a:ext uri="{FF2B5EF4-FFF2-40B4-BE49-F238E27FC236}">
                <a16:creationId xmlns:a16="http://schemas.microsoft.com/office/drawing/2014/main" id="{50CE3821-A34F-1923-2334-1FBCD83391CA}"/>
              </a:ext>
            </a:extLst>
          </p:cNvPr>
          <p:cNvSpPr txBox="1"/>
          <p:nvPr/>
        </p:nvSpPr>
        <p:spPr>
          <a:xfrm>
            <a:off x="-100431" y="8203459"/>
            <a:ext cx="6858419"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EJEMPLO: </a:t>
            </a:r>
            <a:r>
              <a:rPr lang="es-VE" sz="1100" b="1" dirty="0">
                <a:latin typeface="Arial Black" panose="020B0604020202020204" pitchFamily="34" charset="0"/>
                <a:cs typeface="Arial Black" panose="020B0604020202020204" pitchFamily="34" charset="0"/>
              </a:rPr>
              <a:t>2 reb de pan blanco + 60 g de jamón + 1 cambur</a:t>
            </a:r>
          </a:p>
          <a:p>
            <a:pPr algn="ctr"/>
            <a:r>
              <a:rPr lang="es-VE" sz="1100" b="1" dirty="0">
                <a:latin typeface="Arial Black" panose="020B0604020202020204" pitchFamily="34" charset="0"/>
                <a:cs typeface="Arial Black" panose="020B0604020202020204" pitchFamily="34" charset="0"/>
              </a:rPr>
              <a:t> </a:t>
            </a:r>
            <a:r>
              <a:rPr lang="es-VE" sz="900" b="1" dirty="0">
                <a:highlight>
                  <a:srgbClr val="FFFF00"/>
                </a:highlight>
                <a:latin typeface="Arial Black" panose="020B0604020202020204" pitchFamily="34" charset="0"/>
                <a:cs typeface="Arial Black" panose="020B0604020202020204" pitchFamily="34" charset="0"/>
              </a:rPr>
              <a:t>SI NO ENTRENAS OMITE LA FRUTA Y LOS ALMIDONES Y PASAS LAS 2 PROTEINAS PARA OTRA COMIDA</a:t>
            </a:r>
            <a:endParaRPr lang="es-VE" sz="1100" b="1" dirty="0">
              <a:highlight>
                <a:srgbClr val="FFFF00"/>
              </a:highlight>
              <a:latin typeface="Arial Black" panose="020B0604020202020204" pitchFamily="34" charset="0"/>
              <a:cs typeface="Arial Black" panose="020B0604020202020204" pitchFamily="34" charset="0"/>
            </a:endParaRPr>
          </a:p>
        </p:txBody>
      </p:sp>
    </p:spTree>
    <p:extLst>
      <p:ext uri="{BB962C8B-B14F-4D97-AF65-F5344CB8AC3E}">
        <p14:creationId xmlns:p14="http://schemas.microsoft.com/office/powerpoint/2010/main" val="3788897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379120" y="-16057"/>
            <a:ext cx="5999748"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DESAYUNO - Hora: 6:00-8:00</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1317279335"/>
              </p:ext>
            </p:extLst>
          </p:nvPr>
        </p:nvGraphicFramePr>
        <p:xfrm>
          <a:off x="264964" y="775682"/>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9956">
                  <a:extLst>
                    <a:ext uri="{9D8B030D-6E8A-4147-A177-3AD203B41FA5}">
                      <a16:colId xmlns:a16="http://schemas.microsoft.com/office/drawing/2014/main" val="1348210058"/>
                    </a:ext>
                  </a:extLst>
                </a:gridCol>
                <a:gridCol w="104995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{{DES_LACTEOS}}</a:t>
                      </a:r>
                    </a:p>
                  </a:txBody>
                  <a:tcPr/>
                </a:tc>
                <a:tc>
                  <a:txBody>
                    <a:bodyPr/>
                    <a:lstStyle/>
                    <a:p>
                      <a:pPr algn="ctr"/>
                      <a:r>
                        <a:rPr lang="es-VE" dirty="0"/>
                        <a:t>{{DES_VEGETALES}}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{{DES_FRUTAS}}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{{DES_ALMIDONES}}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{{DES_PROTEINAS}}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{{DES_GRASAS}}</a:t>
                      </a:r>
                    </a:p>
                  </a:txBody>
                  <a:tcPr/>
                </a:tc>
                <a:extLst>
                  <a:ext uri="{0D108BD9-81ED-4DB2-BD59-A6C34878D82A}">
                    <a16:rowId xmlns:a16="http://schemas.microsoft.com/office/drawing/2014/main" val="1007372756"/>
                  </a:ext>
                </a:extLst>
              </a:tr>
            </a:tbl>
          </a:graphicData>
        </a:graphic>
      </p:graphicFrame>
      <p:grpSp>
        <p:nvGrpSpPr>
          <p:cNvPr id="12" name="COL_DES_VEGETALES">
            <a:extLst>
              <a:ext uri="{FF2B5EF4-FFF2-40B4-BE49-F238E27FC236}">
                <a16:creationId xmlns:a16="http://schemas.microsoft.com/office/drawing/2014/main" id="{917F574D-4E75-0573-5BF5-C86DED472866}"/>
              </a:ext>
            </a:extLst>
          </p:cNvPr>
          <p:cNvGrpSpPr/>
          <p:nvPr/>
        </p:nvGrpSpPr>
        <p:grpSpPr>
          <a:xfrm rot="5205064">
            <a:off x="1718740" y="548684"/>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a:p>
          </p:txBody>
        </p:sp>
      </p:grpSp>
      <p:grpSp>
        <p:nvGrpSpPr>
          <p:cNvPr id="14" name="COL_DES_FRUTAS">
            <a:extLst>
              <a:ext uri="{FF2B5EF4-FFF2-40B4-BE49-F238E27FC236}">
                <a16:creationId xmlns:a16="http://schemas.microsoft.com/office/drawing/2014/main" id="{6352C8DD-7421-4B1E-3329-A7AEF64A43E6}"/>
              </a:ext>
            </a:extLst>
          </p:cNvPr>
          <p:cNvGrpSpPr/>
          <p:nvPr/>
        </p:nvGrpSpPr>
        <p:grpSpPr>
          <a:xfrm rot="5205064">
            <a:off x="2792750" y="542215"/>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16" name="COL_DES_GRASAS">
            <a:extLst>
              <a:ext uri="{FF2B5EF4-FFF2-40B4-BE49-F238E27FC236}">
                <a16:creationId xmlns:a16="http://schemas.microsoft.com/office/drawing/2014/main" id="{1EEC53C4-6182-27D8-18DF-1E5D578505DE}"/>
              </a:ext>
            </a:extLst>
          </p:cNvPr>
          <p:cNvGrpSpPr/>
          <p:nvPr/>
        </p:nvGrpSpPr>
        <p:grpSpPr>
          <a:xfrm rot="5205064">
            <a:off x="5885082" y="554382"/>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dirty="0"/>
            </a:p>
          </p:txBody>
        </p:sp>
      </p:grpSp>
      <p:grpSp>
        <p:nvGrpSpPr>
          <p:cNvPr id="18" name="COL_DES_LACTEOS">
            <a:extLst>
              <a:ext uri="{FF2B5EF4-FFF2-40B4-BE49-F238E27FC236}">
                <a16:creationId xmlns:a16="http://schemas.microsoft.com/office/drawing/2014/main" id="{F738774E-0460-FC46-8E96-50F3145B5223}"/>
              </a:ext>
            </a:extLst>
          </p:cNvPr>
          <p:cNvGrpSpPr/>
          <p:nvPr/>
        </p:nvGrpSpPr>
        <p:grpSpPr>
          <a:xfrm rot="5205064">
            <a:off x="640442" y="542214"/>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a:p>
          </p:txBody>
        </p:sp>
      </p:grpSp>
      <p:grpSp>
        <p:nvGrpSpPr>
          <p:cNvPr id="20" name="COL_DES_ALMIDONES">
            <a:extLst>
              <a:ext uri="{FF2B5EF4-FFF2-40B4-BE49-F238E27FC236}">
                <a16:creationId xmlns:a16="http://schemas.microsoft.com/office/drawing/2014/main" id="{7C2FF4C1-17D4-E50A-6AA0-EBCCA1D9F187}"/>
              </a:ext>
            </a:extLst>
          </p:cNvPr>
          <p:cNvGrpSpPr/>
          <p:nvPr/>
        </p:nvGrpSpPr>
        <p:grpSpPr>
          <a:xfrm rot="5205064">
            <a:off x="3776856" y="542215"/>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22" name="COL_DES_PROTEINAS">
            <a:extLst>
              <a:ext uri="{FF2B5EF4-FFF2-40B4-BE49-F238E27FC236}">
                <a16:creationId xmlns:a16="http://schemas.microsoft.com/office/drawing/2014/main" id="{99EE7A54-D936-0D68-E05F-062E3B622E78}"/>
              </a:ext>
            </a:extLst>
          </p:cNvPr>
          <p:cNvGrpSpPr/>
          <p:nvPr/>
        </p:nvGrpSpPr>
        <p:grpSpPr>
          <a:xfrm rot="5205064">
            <a:off x="4830969" y="562510"/>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a:p>
          </p:txBody>
        </p:sp>
      </p:grpSp>
      <p:graphicFrame>
        <p:nvGraphicFramePr>
          <p:cNvPr id="26" name="STACK_3">
            <a:extLst>
              <a:ext uri="{FF2B5EF4-FFF2-40B4-BE49-F238E27FC236}">
                <a16:creationId xmlns:a16="http://schemas.microsoft.com/office/drawing/2014/main" id="{9717528F-7743-AC89-3AB2-8B757A680062}"/>
              </a:ext>
            </a:extLst>
          </p:cNvPr>
          <p:cNvGraphicFramePr>
            <a:graphicFrameLocks noGrp="1"/>
          </p:cNvGraphicFramePr>
          <p:nvPr>
            <p:extLst>
              <p:ext uri="{D42A27DB-BD31-4B8C-83A1-F6EECF244321}">
                <p14:modId xmlns:p14="http://schemas.microsoft.com/office/powerpoint/2010/main" val="1987685767"/>
              </p:ext>
            </p:extLst>
          </p:nvPr>
        </p:nvGraphicFramePr>
        <p:xfrm>
          <a:off x="0" y="2204871"/>
          <a:ext cx="6757988" cy="6323925"/>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85554">
                  <a:extLst>
                    <a:ext uri="{9D8B030D-6E8A-4147-A177-3AD203B41FA5}">
                      <a16:colId xmlns:a16="http://schemas.microsoft.com/office/drawing/2014/main" val="4004187718"/>
                    </a:ext>
                  </a:extLst>
                </a:gridCol>
                <a:gridCol w="1476103">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LÁCTEOS</a:t>
                      </a:r>
                    </a:p>
                    <a:p>
                      <a:pPr algn="ctr"/>
                      <a:r>
                        <a:rPr lang="es-VE" i="1" dirty="0">
                          <a:solidFill>
                            <a:schemeClr val="tx1"/>
                          </a:solidFill>
                        </a:rPr>
                        <a:t>{{COL_DES_LACTEOS}}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50000"/>
                        <a:lumOff val="5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FRUTAS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{{COL_DES_FRUTAS}}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i="1" dirty="0">
                          <a:solidFill>
                            <a:schemeClr val="tx1"/>
                          </a:solidFill>
                        </a:rPr>
                        <a:t>ALMIDONES</a:t>
                      </a:r>
                    </a:p>
                    <a:p>
                      <a:pPr algn="ctr"/>
                      <a:r>
                        <a:rPr lang="es-VE" i="1" dirty="0">
                          <a:solidFill>
                            <a:schemeClr val="tx1"/>
                          </a:solidFill>
                        </a:rPr>
                        <a:t>{{COL_DES_ALMIDONES}}</a:t>
                      </a:r>
                    </a:p>
                    <a:p>
                      <a:pPr algn="ctr"/>
                      <a:endParaRPr lang="es-VE"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i="1" dirty="0">
                          <a:solidFill>
                            <a:schemeClr val="tx1"/>
                          </a:solidFill>
                        </a:rPr>
                        <a:t>PROTEÍNAS</a:t>
                      </a:r>
                    </a:p>
                    <a:p>
                      <a:pPr algn="ctr"/>
                      <a:r>
                        <a:rPr lang="es-VE" i="1" dirty="0">
                          <a:solidFill>
                            <a:schemeClr val="tx1"/>
                          </a:solidFill>
                        </a:rPr>
                        <a:t>{{COL_DES_PROTEINAS}}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00" i="1" dirty="0">
                          <a:solidFill>
                            <a:schemeClr val="tx1"/>
                          </a:solidFill>
                        </a:rPr>
                        <a:t>GRASAS</a:t>
                      </a:r>
                    </a:p>
                    <a:p>
                      <a:pPr algn="ctr"/>
                      <a:r>
                        <a:rPr lang="es-VE" sz="1300" i="1" dirty="0">
                          <a:solidFill>
                            <a:schemeClr val="tx1"/>
                          </a:solidFill>
                        </a:rPr>
                        <a:t>{{COL_DES_GRASAS}}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2">
                  <a:txBody>
                    <a:bodyPr/>
                    <a:lstStyle/>
                    <a:p>
                      <a:pPr algn="ctr"/>
                      <a:r>
                        <a:rPr lang="es-VE" sz="1050" dirty="0"/>
                        <a:t>1 taza de leche</a:t>
                      </a:r>
                    </a:p>
                    <a:p>
                      <a:pPr algn="ctr"/>
                      <a:r>
                        <a:rPr lang="es-VE" sz="1050" b="1" dirty="0"/>
                        <a:t> (ml/gramos):</a:t>
                      </a:r>
                    </a:p>
                    <a:p>
                      <a:pPr algn="ctr"/>
                      <a:r>
                        <a:rPr lang="es-VE" sz="1050" b="1" dirty="0"/>
                        <a:t>240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0">
                  <a:txBody>
                    <a:bodyPr/>
                    <a:lstStyle/>
                    <a:p>
                      <a:pPr algn="ctr"/>
                      <a:r>
                        <a:rPr lang="es-VE" sz="1050" dirty="0"/>
                        <a:t>1 ración de frutas entera/</a:t>
                      </a:r>
                    </a:p>
                    <a:p>
                      <a:pPr algn="ctr"/>
                      <a:r>
                        <a:rPr lang="es-VE" sz="1050" dirty="0"/>
                        <a:t>jugo</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arepa pequeña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Pesar crudo 25-30 g por encima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050" dirty="0"/>
                        <a:t>1 </a:t>
                      </a:r>
                      <a:r>
                        <a:rPr lang="pt-BR" sz="1050" dirty="0" err="1"/>
                        <a:t>lonja</a:t>
                      </a:r>
                      <a:r>
                        <a:rPr lang="pt-BR" sz="1050" dirty="0"/>
                        <a:t>/s de </a:t>
                      </a:r>
                      <a:r>
                        <a:rPr lang="pt-BR" sz="1050" dirty="0" err="1"/>
                        <a:t>aguacate</a:t>
                      </a:r>
                      <a:endParaRPr lang="pt-BR" sz="105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564805">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a:t>
                      </a:r>
                      <a:r>
                        <a:rPr lang="es-VE" sz="1050" b="0" dirty="0" err="1"/>
                        <a:t>reb</a:t>
                      </a:r>
                      <a:r>
                        <a:rPr lang="es-VE" sz="1050" b="0" dirty="0"/>
                        <a:t> de pan cuadrado integral/blanco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dirty="0"/>
                        <a:t>1 </a:t>
                      </a:r>
                      <a:r>
                        <a:rPr lang="pt-BR" sz="1050" dirty="0" err="1"/>
                        <a:t>lonja</a:t>
                      </a:r>
                      <a:r>
                        <a:rPr lang="pt-BR" sz="1050" dirty="0"/>
                        <a:t>/s </a:t>
                      </a:r>
                      <a:r>
                        <a:rPr lang="pt-BR" sz="1050" dirty="0" err="1"/>
                        <a:t>tocineta</a:t>
                      </a:r>
                      <a:r>
                        <a:rPr lang="es-VE" sz="1050" b="1" dirty="0"/>
                        <a:t>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rowSpan="2">
                  <a:txBody>
                    <a:bodyPr/>
                    <a:lstStyle/>
                    <a:p>
                      <a:pPr algn="ctr"/>
                      <a:r>
                        <a:rPr lang="es-VE" sz="1050" dirty="0"/>
                        <a:t>¾ taza </a:t>
                      </a:r>
                      <a:r>
                        <a:rPr lang="es-VE" sz="1050" dirty="0" err="1"/>
                        <a:t>deyogurt</a:t>
                      </a:r>
                      <a:r>
                        <a:rPr lang="es-VE" sz="1050" dirty="0"/>
                        <a:t> firme </a:t>
                      </a:r>
                    </a:p>
                    <a:p>
                      <a:pPr algn="ctr"/>
                      <a:r>
                        <a:rPr lang="es-VE" sz="1050" b="1" dirty="0"/>
                        <a:t>(ml/gramos):</a:t>
                      </a:r>
                    </a:p>
                    <a:p>
                      <a:pPr algn="ctr"/>
                      <a:r>
                        <a:rPr lang="es-VE" sz="1050" b="1" dirty="0"/>
                        <a:t>150</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algn="ctr"/>
                      <a:r>
                        <a:rPr lang="es-VE" sz="1050" dirty="0"/>
                        <a:t>1 trozo/ 2 cdas</a:t>
                      </a:r>
                    </a:p>
                    <a:p>
                      <a:pPr algn="ctr"/>
                      <a:r>
                        <a:rPr lang="es-VE" sz="1050" dirty="0"/>
                        <a:t>de carne pollo o pescado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rowSpan="2">
                  <a:txBody>
                    <a:bodyPr/>
                    <a:lstStyle/>
                    <a:p>
                      <a:pPr algn="ctr"/>
                      <a:r>
                        <a:rPr lang="es-VE" sz="1050" dirty="0"/>
                        <a:t>2 ½ cdas de leche en polvo </a:t>
                      </a:r>
                      <a:r>
                        <a:rPr lang="es-VE" sz="1050" b="1" dirty="0"/>
                        <a:t> (ml/gramos):35</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1 trozo de batata-apio-yuca-ocumo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papa mediana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4">
                  <a:txBody>
                    <a:bodyPr/>
                    <a:lstStyle/>
                    <a:p>
                      <a:pPr algn="ctr"/>
                      <a:r>
                        <a:rPr lang="es-VE" sz="1050" b="1" dirty="0"/>
                        <a:t>1 unidad de yogurt tipo griego </a:t>
                      </a:r>
                    </a:p>
                    <a:p>
                      <a:pPr algn="ctr"/>
                      <a:r>
                        <a:rPr lang="es-VE" sz="1000" b="1" dirty="0"/>
                        <a:t>(</a:t>
                      </a:r>
                      <a:r>
                        <a:rPr lang="es-VE" sz="1000" b="1" dirty="0" err="1"/>
                        <a:t>yolo</a:t>
                      </a:r>
                      <a:r>
                        <a:rPr lang="es-VE" sz="1000" b="1" dirty="0"/>
                        <a:t>-</a:t>
                      </a:r>
                      <a:r>
                        <a:rPr lang="es-VE" sz="1000" b="1" dirty="0" err="1"/>
                        <a:t>yogpro</a:t>
                      </a:r>
                      <a:r>
                        <a:rPr lang="es-VE" sz="1000" b="1" dirty="0"/>
                        <a:t>-boom)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1 </a:t>
                      </a:r>
                      <a:r>
                        <a:rPr lang="es-VE" sz="1050" dirty="0" err="1"/>
                        <a:t>scoop</a:t>
                      </a:r>
                      <a:r>
                        <a:rPr lang="es-VE" sz="1050" dirty="0"/>
                        <a:t> de proteína en </a:t>
                      </a:r>
                      <a:r>
                        <a:rPr lang="es-VE" sz="1050" b="1" dirty="0"/>
                        <a:t>(ml/gramos): 30-35</a:t>
                      </a:r>
                    </a:p>
                    <a:p>
                      <a:pPr algn="ctr"/>
                      <a:r>
                        <a:rPr lang="es-VE" sz="1050" b="1" dirty="0">
                          <a:solidFill>
                            <a:srgbClr val="FF0000"/>
                          </a:solidFill>
                        </a:rPr>
                        <a:t>NO MULTIPLICAR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¼ taza de avena o crema de arroz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Aceitunas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½ taza de cereal (tipo </a:t>
                      </a:r>
                      <a:r>
                        <a:rPr lang="es-VE" sz="1050" dirty="0" err="1"/>
                        <a:t>corn</a:t>
                      </a:r>
                      <a:r>
                        <a:rPr lang="es-VE" sz="1050" dirty="0"/>
                        <a:t> </a:t>
                      </a:r>
                      <a:r>
                        <a:rPr lang="es-VE" sz="1050" dirty="0" err="1"/>
                        <a:t>flakes</a:t>
                      </a:r>
                      <a:r>
                        <a:rPr lang="es-VE" sz="1050" dirty="0"/>
                        <a:t>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Cucharadita/s de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Mantequilla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r>
                        <a:rPr lang="es-VE" sz="105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480909">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unidad de cachapa </a:t>
                      </a:r>
                      <a:r>
                        <a:rPr lang="es-VE" sz="1050" b="0" dirty="0" err="1"/>
                        <a:t>peq</a:t>
                      </a:r>
                      <a:r>
                        <a:rPr lang="es-VE" sz="1050" b="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bl>
          </a:graphicData>
        </a:graphic>
      </p:graphicFrame>
      <p:sp>
        <p:nvSpPr>
          <p:cNvPr id="31" name="CuadroTexto 30">
            <a:extLst>
              <a:ext uri="{FF2B5EF4-FFF2-40B4-BE49-F238E27FC236}">
                <a16:creationId xmlns:a16="http://schemas.microsoft.com/office/drawing/2014/main" id="{007AB626-328F-E1CC-BB13-D7CC82D1D8DB}"/>
              </a:ext>
            </a:extLst>
          </p:cNvPr>
          <p:cNvSpPr txBox="1"/>
          <p:nvPr/>
        </p:nvSpPr>
        <p:spPr>
          <a:xfrm>
            <a:off x="-15485" y="8175558"/>
            <a:ext cx="6858419" cy="253916"/>
          </a:xfrm>
          <a:prstGeom prst="rect">
            <a:avLst/>
          </a:prstGeom>
          <a:noFill/>
        </p:spPr>
        <p:txBody>
          <a:bodyPr wrap="square" rtlCol="0">
            <a:spAutoFit/>
          </a:bodyPr>
          <a:lstStyle/>
          <a:p>
            <a:pPr algn="ctr"/>
            <a:r>
              <a:rPr lang="es-VE" sz="1050" b="1" dirty="0">
                <a:solidFill>
                  <a:srgbClr val="05A8FF"/>
                </a:solidFill>
                <a:latin typeface="Arial Black" panose="020B0604020202020204" pitchFamily="34" charset="0"/>
                <a:cs typeface="Arial Black" panose="020B0604020202020204" pitchFamily="34" charset="0"/>
              </a:rPr>
              <a:t>EJEMPLO: </a:t>
            </a:r>
            <a:r>
              <a:rPr lang="es-VE" sz="1050" b="1" dirty="0">
                <a:latin typeface="Arial Black" panose="020B0604020202020204" pitchFamily="34" charset="0"/>
                <a:cs typeface="Arial Black" panose="020B0604020202020204" pitchFamily="34" charset="0"/>
              </a:rPr>
              <a:t>3 huevos revueltos + 3 </a:t>
            </a:r>
            <a:r>
              <a:rPr lang="es-VE" sz="1050" b="1" dirty="0" err="1">
                <a:latin typeface="Arial Black" panose="020B0604020202020204" pitchFamily="34" charset="0"/>
                <a:cs typeface="Arial Black" panose="020B0604020202020204" pitchFamily="34" charset="0"/>
              </a:rPr>
              <a:t>reb</a:t>
            </a:r>
            <a:r>
              <a:rPr lang="es-VE" sz="1050" b="1" dirty="0">
                <a:latin typeface="Arial Black" panose="020B0604020202020204" pitchFamily="34" charset="0"/>
                <a:cs typeface="Arial Black" panose="020B0604020202020204" pitchFamily="34" charset="0"/>
              </a:rPr>
              <a:t>. de pan + 1 lonja de aguacate +1 manzana</a:t>
            </a:r>
          </a:p>
        </p:txBody>
      </p:sp>
      <p:sp>
        <p:nvSpPr>
          <p:cNvPr id="5" name="CuadroTexto 4">
            <a:extLst>
              <a:ext uri="{FF2B5EF4-FFF2-40B4-BE49-F238E27FC236}">
                <a16:creationId xmlns:a16="http://schemas.microsoft.com/office/drawing/2014/main" id="{28A68A17-EBCD-5C86-5239-E1A83D1C7382}"/>
              </a:ext>
            </a:extLst>
          </p:cNvPr>
          <p:cNvSpPr txBox="1"/>
          <p:nvPr/>
        </p:nvSpPr>
        <p:spPr>
          <a:xfrm>
            <a:off x="-18909" y="8385951"/>
            <a:ext cx="6858419" cy="230832"/>
          </a:xfrm>
          <a:prstGeom prst="rect">
            <a:avLst/>
          </a:prstGeom>
          <a:noFill/>
        </p:spPr>
        <p:txBody>
          <a:bodyPr wrap="square" rtlCol="0">
            <a:spAutoFit/>
          </a:bodyPr>
          <a:lstStyle/>
          <a:p>
            <a:pPr algn="ctr"/>
            <a:r>
              <a:rPr lang="es-VE" sz="900" b="1" dirty="0">
                <a:latin typeface="Arial Black" panose="020B0604020202020204" pitchFamily="34" charset="0"/>
                <a:cs typeface="Arial Black" panose="020B0604020202020204" pitchFamily="34" charset="0"/>
              </a:rPr>
              <a:t>Para alcanzar 180 g de pollo debes pesar 210-220 g crudos</a:t>
            </a:r>
          </a:p>
        </p:txBody>
      </p:sp>
      <p:sp>
        <p:nvSpPr>
          <p:cNvPr id="9" name="STACK_2_2">
            <a:extLst>
              <a:ext uri="{FF2B5EF4-FFF2-40B4-BE49-F238E27FC236}">
                <a16:creationId xmlns:a16="http://schemas.microsoft.com/office/drawing/2014/main" id="{40A7758D-B464-A137-1671-828C680F5836}"/>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10" name="STACK_2_1">
            <a:extLst>
              <a:ext uri="{FF2B5EF4-FFF2-40B4-BE49-F238E27FC236}">
                <a16:creationId xmlns:a16="http://schemas.microsoft.com/office/drawing/2014/main" id="{D9E7495F-C97E-9A90-D427-E34CF7271C19}"/>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
        <p:nvSpPr>
          <p:cNvPr id="24" name="STACK_2_3">
            <a:extLst>
              <a:ext uri="{FF2B5EF4-FFF2-40B4-BE49-F238E27FC236}">
                <a16:creationId xmlns:a16="http://schemas.microsoft.com/office/drawing/2014/main" id="{2EDC842D-E5E8-D632-BAC8-A92E85917281}"/>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pic>
        <p:nvPicPr>
          <p:cNvPr id="7" name="COL_DES_LACTEOS STACK_3_4">
            <a:extLst>
              <a:ext uri="{FF2B5EF4-FFF2-40B4-BE49-F238E27FC236}">
                <a16:creationId xmlns:a16="http://schemas.microsoft.com/office/drawing/2014/main" id="{5F1CB992-6A91-BF16-B869-6AFA93EAD606}"/>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22143" b="16429"/>
          <a:stretch/>
        </p:blipFill>
        <p:spPr bwMode="auto">
          <a:xfrm>
            <a:off x="98125" y="6871224"/>
            <a:ext cx="776676" cy="476675"/>
          </a:xfrm>
          <a:prstGeom prst="rect">
            <a:avLst/>
          </a:prstGeom>
          <a:noFill/>
          <a:ln>
            <a:noFill/>
          </a:ln>
          <a:extLst>
            <a:ext uri="{53640926-AAD7-44D8-BBD7-CCE9431645EC}">
              <a14:shadowObscured xmlns:a14="http://schemas.microsoft.com/office/drawing/2010/main"/>
            </a:ext>
          </a:extLst>
        </p:spPr>
      </p:pic>
      <p:pic>
        <p:nvPicPr>
          <p:cNvPr id="8" name="COL_DES_LACTEOS STACK_3_4">
            <a:extLst>
              <a:ext uri="{FF2B5EF4-FFF2-40B4-BE49-F238E27FC236}">
                <a16:creationId xmlns:a16="http://schemas.microsoft.com/office/drawing/2014/main" id="{26E477F1-6DC0-91EA-4B6C-1961126133A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1644" y="7347899"/>
            <a:ext cx="609638" cy="580421"/>
          </a:xfrm>
          <a:prstGeom prst="rect">
            <a:avLst/>
          </a:prstGeom>
          <a:noFill/>
        </p:spPr>
      </p:pic>
    </p:spTree>
    <p:extLst>
      <p:ext uri="{BB962C8B-B14F-4D97-AF65-F5344CB8AC3E}">
        <p14:creationId xmlns:p14="http://schemas.microsoft.com/office/powerpoint/2010/main" val="155206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379120" y="-16057"/>
            <a:ext cx="5999748"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MERIENDA - Hora: 9:30-10:30</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593594684"/>
              </p:ext>
            </p:extLst>
          </p:nvPr>
        </p:nvGraphicFramePr>
        <p:xfrm>
          <a:off x="264964" y="797525"/>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4046">
                  <a:extLst>
                    <a:ext uri="{9D8B030D-6E8A-4147-A177-3AD203B41FA5}">
                      <a16:colId xmlns:a16="http://schemas.microsoft.com/office/drawing/2014/main" val="1348210058"/>
                    </a:ext>
                  </a:extLst>
                </a:gridCol>
                <a:gridCol w="105586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{{MAM_LACTEOS}}</a:t>
                      </a:r>
                    </a:p>
                  </a:txBody>
                  <a:tcPr/>
                </a:tc>
                <a:tc>
                  <a:txBody>
                    <a:bodyPr/>
                    <a:lstStyle/>
                    <a:p>
                      <a:pPr algn="ctr"/>
                      <a:r>
                        <a:rPr lang="es-VE" dirty="0"/>
                        <a:t>{{MAM_VEGETALES}}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{{MAM_FRUTAS}}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{{MAM_ALMIDONES}}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{{MAM_PROTEINAS}}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{{MAM_GRASAS}}</a:t>
                      </a:r>
                    </a:p>
                  </a:txBody>
                  <a:tcPr/>
                </a:tc>
                <a:extLst>
                  <a:ext uri="{0D108BD9-81ED-4DB2-BD59-A6C34878D82A}">
                    <a16:rowId xmlns:a16="http://schemas.microsoft.com/office/drawing/2014/main" val="1007372756"/>
                  </a:ext>
                </a:extLst>
              </a:tr>
            </a:tbl>
          </a:graphicData>
        </a:graphic>
      </p:graphicFrame>
      <p:grpSp>
        <p:nvGrpSpPr>
          <p:cNvPr id="12" name="COL_MAM_VEGETALES">
            <a:extLst>
              <a:ext uri="{FF2B5EF4-FFF2-40B4-BE49-F238E27FC236}">
                <a16:creationId xmlns:a16="http://schemas.microsoft.com/office/drawing/2014/main" id="{917F574D-4E75-0573-5BF5-C86DED472866}"/>
              </a:ext>
            </a:extLst>
          </p:cNvPr>
          <p:cNvGrpSpPr/>
          <p:nvPr/>
        </p:nvGrpSpPr>
        <p:grpSpPr>
          <a:xfrm rot="5205064">
            <a:off x="1718740" y="570527"/>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a:p>
          </p:txBody>
        </p:sp>
      </p:grpSp>
      <p:grpSp>
        <p:nvGrpSpPr>
          <p:cNvPr id="14" name="COL_MAM_FRUTAS">
            <a:extLst>
              <a:ext uri="{FF2B5EF4-FFF2-40B4-BE49-F238E27FC236}">
                <a16:creationId xmlns:a16="http://schemas.microsoft.com/office/drawing/2014/main" id="{6352C8DD-7421-4B1E-3329-A7AEF64A43E6}"/>
              </a:ext>
            </a:extLst>
          </p:cNvPr>
          <p:cNvGrpSpPr/>
          <p:nvPr/>
        </p:nvGrpSpPr>
        <p:grpSpPr>
          <a:xfrm rot="5205064">
            <a:off x="2792750" y="564058"/>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16" name="COL_MAM_GRASAS">
            <a:extLst>
              <a:ext uri="{FF2B5EF4-FFF2-40B4-BE49-F238E27FC236}">
                <a16:creationId xmlns:a16="http://schemas.microsoft.com/office/drawing/2014/main" id="{1EEC53C4-6182-27D8-18DF-1E5D578505DE}"/>
              </a:ext>
            </a:extLst>
          </p:cNvPr>
          <p:cNvGrpSpPr/>
          <p:nvPr/>
        </p:nvGrpSpPr>
        <p:grpSpPr>
          <a:xfrm rot="5205064">
            <a:off x="5885082" y="576225"/>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a:p>
          </p:txBody>
        </p:sp>
      </p:grpSp>
      <p:grpSp>
        <p:nvGrpSpPr>
          <p:cNvPr id="18" name="COL_MAM_LACTEOS">
            <a:extLst>
              <a:ext uri="{FF2B5EF4-FFF2-40B4-BE49-F238E27FC236}">
                <a16:creationId xmlns:a16="http://schemas.microsoft.com/office/drawing/2014/main" id="{F738774E-0460-FC46-8E96-50F3145B5223}"/>
              </a:ext>
            </a:extLst>
          </p:cNvPr>
          <p:cNvGrpSpPr/>
          <p:nvPr/>
        </p:nvGrpSpPr>
        <p:grpSpPr>
          <a:xfrm rot="5205064">
            <a:off x="640442" y="564057"/>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a:p>
          </p:txBody>
        </p:sp>
      </p:grpSp>
      <p:grpSp>
        <p:nvGrpSpPr>
          <p:cNvPr id="20" name="COL_MAM_ALMIDONES">
            <a:extLst>
              <a:ext uri="{FF2B5EF4-FFF2-40B4-BE49-F238E27FC236}">
                <a16:creationId xmlns:a16="http://schemas.microsoft.com/office/drawing/2014/main" id="{7C2FF4C1-17D4-E50A-6AA0-EBCCA1D9F187}"/>
              </a:ext>
            </a:extLst>
          </p:cNvPr>
          <p:cNvGrpSpPr/>
          <p:nvPr/>
        </p:nvGrpSpPr>
        <p:grpSpPr>
          <a:xfrm rot="5205064">
            <a:off x="3776856" y="564058"/>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dirty="0"/>
            </a:p>
          </p:txBody>
        </p:sp>
      </p:grpSp>
      <p:grpSp>
        <p:nvGrpSpPr>
          <p:cNvPr id="22" name="COL_MAM_PROTEINAS">
            <a:extLst>
              <a:ext uri="{FF2B5EF4-FFF2-40B4-BE49-F238E27FC236}">
                <a16:creationId xmlns:a16="http://schemas.microsoft.com/office/drawing/2014/main" id="{99EE7A54-D936-0D68-E05F-062E3B622E78}"/>
              </a:ext>
            </a:extLst>
          </p:cNvPr>
          <p:cNvGrpSpPr/>
          <p:nvPr/>
        </p:nvGrpSpPr>
        <p:grpSpPr>
          <a:xfrm rot="5205064">
            <a:off x="4830969" y="584353"/>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a:p>
          </p:txBody>
        </p:sp>
      </p:grpSp>
      <p:graphicFrame>
        <p:nvGraphicFramePr>
          <p:cNvPr id="26" name="STACK_3">
            <a:extLst>
              <a:ext uri="{FF2B5EF4-FFF2-40B4-BE49-F238E27FC236}">
                <a16:creationId xmlns:a16="http://schemas.microsoft.com/office/drawing/2014/main" id="{9717528F-7743-AC89-3AB2-8B757A680062}"/>
              </a:ext>
            </a:extLst>
          </p:cNvPr>
          <p:cNvGraphicFramePr>
            <a:graphicFrameLocks noGrp="1"/>
          </p:cNvGraphicFramePr>
          <p:nvPr>
            <p:extLst>
              <p:ext uri="{D42A27DB-BD31-4B8C-83A1-F6EECF244321}">
                <p14:modId xmlns:p14="http://schemas.microsoft.com/office/powerpoint/2010/main" val="3619230691"/>
              </p:ext>
            </p:extLst>
          </p:nvPr>
        </p:nvGraphicFramePr>
        <p:xfrm>
          <a:off x="0" y="2204871"/>
          <a:ext cx="6757988" cy="6436026"/>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01952">
                  <a:extLst>
                    <a:ext uri="{9D8B030D-6E8A-4147-A177-3AD203B41FA5}">
                      <a16:colId xmlns:a16="http://schemas.microsoft.com/office/drawing/2014/main" val="4004187718"/>
                    </a:ext>
                  </a:extLst>
                </a:gridCol>
                <a:gridCol w="1559705">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LÁCTEOS</a:t>
                      </a:r>
                    </a:p>
                    <a:p>
                      <a:pPr algn="ctr"/>
                      <a:r>
                        <a:rPr lang="es-VE" i="1" dirty="0">
                          <a:solidFill>
                            <a:schemeClr val="tx1"/>
                          </a:solidFill>
                        </a:rPr>
                        <a:t>{{COL_MAM_LACTEOS}}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50000"/>
                        <a:lumOff val="5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FRUTAS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{{COL_MAM_FRUTAS}}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i="1" dirty="0">
                          <a:solidFill>
                            <a:schemeClr val="tx1"/>
                          </a:solidFill>
                        </a:rPr>
                        <a:t>ALMIDONES</a:t>
                      </a:r>
                    </a:p>
                    <a:p>
                      <a:pPr algn="ctr"/>
                      <a:r>
                        <a:rPr lang="es-VE" i="1" dirty="0">
                          <a:solidFill>
                            <a:schemeClr val="tx1"/>
                          </a:solidFill>
                        </a:rPr>
                        <a:t>{{COL_MAM_ALMIDONES}}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i="1" dirty="0">
                          <a:solidFill>
                            <a:schemeClr val="tx1"/>
                          </a:solidFill>
                        </a:rPr>
                        <a:t>PROTEÍNAS</a:t>
                      </a:r>
                    </a:p>
                    <a:p>
                      <a:pPr algn="ctr"/>
                      <a:r>
                        <a:rPr lang="es-VE" i="1" dirty="0">
                          <a:solidFill>
                            <a:schemeClr val="tx1"/>
                          </a:solidFill>
                        </a:rPr>
                        <a:t>{{COL_MAM_PROTEINAS}}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00" i="1" dirty="0">
                          <a:solidFill>
                            <a:schemeClr val="tx1"/>
                          </a:solidFill>
                        </a:rPr>
                        <a:t>GRASAS</a:t>
                      </a:r>
                    </a:p>
                    <a:p>
                      <a:pPr algn="ctr"/>
                      <a:r>
                        <a:rPr lang="es-VE" sz="1200" i="1" dirty="0">
                          <a:solidFill>
                            <a:schemeClr val="tx1"/>
                          </a:solidFill>
                        </a:rPr>
                        <a:t>{{COL_MAM_GRASAS}}</a:t>
                      </a:r>
                      <a:endParaRPr lang="es-VE" sz="1300"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2">
                  <a:txBody>
                    <a:bodyPr/>
                    <a:lstStyle/>
                    <a:p>
                      <a:pPr algn="ctr"/>
                      <a:r>
                        <a:rPr lang="es-VE" sz="1050" dirty="0"/>
                        <a:t>1 taza de leche</a:t>
                      </a:r>
                    </a:p>
                    <a:p>
                      <a:pPr algn="ctr"/>
                      <a:r>
                        <a:rPr lang="es-VE" sz="1050" b="1" dirty="0"/>
                        <a:t> (ml/gramos):</a:t>
                      </a:r>
                    </a:p>
                    <a:p>
                      <a:pPr algn="ctr"/>
                      <a:r>
                        <a:rPr lang="es-VE" sz="1050" b="1" dirty="0"/>
                        <a:t>240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0">
                  <a:txBody>
                    <a:bodyPr/>
                    <a:lstStyle/>
                    <a:p>
                      <a:pPr algn="ctr"/>
                      <a:r>
                        <a:rPr lang="es-VE" sz="1050" dirty="0"/>
                        <a:t>1 ración de frutas entera/</a:t>
                      </a:r>
                    </a:p>
                    <a:p>
                      <a:pPr algn="ctr"/>
                      <a:r>
                        <a:rPr lang="es-VE" sz="1050" dirty="0"/>
                        <a:t>jugo</a:t>
                      </a:r>
                    </a:p>
                    <a:p>
                      <a:pPr algn="ctr"/>
                      <a:endParaRPr lang="es-VE" sz="1050" dirty="0"/>
                    </a:p>
                    <a:p>
                      <a:pPr algn="ctr"/>
                      <a:r>
                        <a:rPr lang="es-VE" sz="1050" dirty="0"/>
                        <a:t>Consumir como se subraya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endParaRPr lang="es-VE" sz="1050" b="1"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2 torticas de arroz inflado</a:t>
                      </a:r>
                    </a:p>
                    <a:p>
                      <a:pPr algn="ctr"/>
                      <a:endParaRPr lang="es-VE" sz="1050" b="1"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½ puño de frutos secos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564805">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a:t>
                      </a:r>
                      <a:r>
                        <a:rPr lang="es-VE" sz="1050" b="0" dirty="0" err="1"/>
                        <a:t>reb</a:t>
                      </a:r>
                      <a:r>
                        <a:rPr lang="es-VE" sz="1050" b="0" dirty="0"/>
                        <a:t> de pan cuadrado integral/blanco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6 almendras/ merey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rowSpan="2">
                  <a:txBody>
                    <a:bodyPr/>
                    <a:lstStyle/>
                    <a:p>
                      <a:pPr algn="ctr"/>
                      <a:r>
                        <a:rPr lang="es-VE" sz="1050" dirty="0"/>
                        <a:t>¾ taza </a:t>
                      </a:r>
                      <a:r>
                        <a:rPr lang="es-VE" sz="1050" dirty="0" err="1"/>
                        <a:t>deyogurt</a:t>
                      </a:r>
                      <a:r>
                        <a:rPr lang="es-VE" sz="1050" dirty="0"/>
                        <a:t> firme </a:t>
                      </a:r>
                    </a:p>
                    <a:p>
                      <a:pPr algn="ctr"/>
                      <a:r>
                        <a:rPr lang="es-VE" sz="1050" b="1" dirty="0"/>
                        <a:t>(ml/gramos):</a:t>
                      </a:r>
                    </a:p>
                    <a:p>
                      <a:pPr algn="ctr"/>
                      <a:r>
                        <a:rPr lang="es-VE" sz="1050" b="1" dirty="0"/>
                        <a:t>150</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algn="ctr"/>
                      <a:endParaRPr lang="es-VE" sz="1050" dirty="0"/>
                    </a:p>
                    <a:p>
                      <a:pPr algn="ctr"/>
                      <a:r>
                        <a:rPr lang="es-VE" sz="1050" dirty="0"/>
                        <a:t>1 trozo/ 2 cdas</a:t>
                      </a:r>
                    </a:p>
                    <a:p>
                      <a:pPr algn="ctr"/>
                      <a:r>
                        <a:rPr lang="es-VE" sz="1050" dirty="0"/>
                        <a:t>de carne pollo o pescado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rowSpan="2">
                  <a:txBody>
                    <a:bodyPr/>
                    <a:lstStyle/>
                    <a:p>
                      <a:pPr algn="ctr"/>
                      <a:r>
                        <a:rPr lang="es-VE" sz="1050" dirty="0"/>
                        <a:t>2 ½ cdas de leche en polvo </a:t>
                      </a:r>
                    </a:p>
                    <a:p>
                      <a:pPr algn="ctr"/>
                      <a:r>
                        <a:rPr lang="es-VE" sz="1050" b="1" dirty="0"/>
                        <a:t> (ml/gramos):35</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b="1" dirty="0"/>
                        <a:t>1 barrita/s de cereal </a:t>
                      </a:r>
                    </a:p>
                    <a:p>
                      <a:pPr algn="ctr"/>
                      <a:r>
                        <a:rPr lang="es-VE" sz="1050" b="1" dirty="0"/>
                        <a:t>(Avelina o Natural Valley)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pt-BR" sz="1050" b="1" dirty="0"/>
                        <a:t>1 paquete/s de </a:t>
                      </a:r>
                      <a:r>
                        <a:rPr lang="pt-BR" sz="1050" b="1" dirty="0" err="1"/>
                        <a:t>galleta</a:t>
                      </a:r>
                      <a:r>
                        <a:rPr lang="pt-BR" sz="1050" b="1" dirty="0"/>
                        <a:t> tipo soda o similar</a:t>
                      </a:r>
                      <a:endParaRPr lang="es-VE" sz="1050" b="1"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4">
                  <a:txBody>
                    <a:bodyPr/>
                    <a:lstStyle/>
                    <a:p>
                      <a:pPr algn="ctr"/>
                      <a:r>
                        <a:rPr lang="es-VE" sz="1050" b="1" dirty="0"/>
                        <a:t>1 unidad de yogurt tipo griego </a:t>
                      </a:r>
                    </a:p>
                    <a:p>
                      <a:pPr algn="ctr"/>
                      <a:r>
                        <a:rPr lang="es-VE" sz="1000" b="1" dirty="0"/>
                        <a:t>(</a:t>
                      </a:r>
                      <a:r>
                        <a:rPr lang="es-VE" sz="1000" b="1" dirty="0" err="1"/>
                        <a:t>yolo</a:t>
                      </a:r>
                      <a:r>
                        <a:rPr lang="es-VE" sz="1000" b="1" dirty="0"/>
                        <a:t>-</a:t>
                      </a:r>
                      <a:r>
                        <a:rPr lang="es-VE" sz="1000" b="1" dirty="0" err="1"/>
                        <a:t>yogpro</a:t>
                      </a:r>
                      <a:r>
                        <a:rPr lang="es-VE" sz="1000" b="1" dirty="0"/>
                        <a:t>-boom)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1 </a:t>
                      </a:r>
                      <a:r>
                        <a:rPr lang="es-VE" sz="1050" dirty="0" err="1"/>
                        <a:t>scoop</a:t>
                      </a:r>
                      <a:r>
                        <a:rPr lang="es-VE" sz="1050" dirty="0"/>
                        <a:t> de proteína en </a:t>
                      </a:r>
                      <a:r>
                        <a:rPr lang="es-VE" sz="1050" b="1" dirty="0"/>
                        <a:t>(ml/gramos): 30-35</a:t>
                      </a:r>
                    </a:p>
                    <a:p>
                      <a:pPr algn="ctr"/>
                      <a:r>
                        <a:rPr lang="es-VE" sz="1050" b="1" dirty="0">
                          <a:solidFill>
                            <a:srgbClr val="FF0000"/>
                          </a:solidFill>
                        </a:rPr>
                        <a:t>NO MULTIPLICAR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¼ taza de avena o crema de arroz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2 cdas de coco rallado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½ taza de cereal (tipo </a:t>
                      </a:r>
                      <a:r>
                        <a:rPr lang="es-VE" sz="1050" dirty="0" err="1"/>
                        <a:t>corn</a:t>
                      </a:r>
                      <a:r>
                        <a:rPr lang="es-VE" sz="1050" dirty="0"/>
                        <a:t> </a:t>
                      </a:r>
                      <a:r>
                        <a:rPr lang="es-VE" sz="1050" dirty="0" err="1"/>
                        <a:t>flakes</a:t>
                      </a:r>
                      <a:r>
                        <a:rPr lang="es-VE" sz="1050" dirty="0"/>
                        <a:t>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6 unidades de pistacho / semillas de calabaza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480909">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dirty="0"/>
                        <a:t>¼ taza de granola (20 g)</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bl>
          </a:graphicData>
        </a:graphic>
      </p:graphicFrame>
      <p:sp>
        <p:nvSpPr>
          <p:cNvPr id="31" name="CuadroTexto 30">
            <a:extLst>
              <a:ext uri="{FF2B5EF4-FFF2-40B4-BE49-F238E27FC236}">
                <a16:creationId xmlns:a16="http://schemas.microsoft.com/office/drawing/2014/main" id="{007AB626-328F-E1CC-BB13-D7CC82D1D8DB}"/>
              </a:ext>
            </a:extLst>
          </p:cNvPr>
          <p:cNvSpPr txBox="1"/>
          <p:nvPr/>
        </p:nvSpPr>
        <p:spPr>
          <a:xfrm>
            <a:off x="-15485" y="8327335"/>
            <a:ext cx="6858419" cy="253916"/>
          </a:xfrm>
          <a:prstGeom prst="rect">
            <a:avLst/>
          </a:prstGeom>
          <a:noFill/>
        </p:spPr>
        <p:txBody>
          <a:bodyPr wrap="square" rtlCol="0">
            <a:spAutoFit/>
          </a:bodyPr>
          <a:lstStyle/>
          <a:p>
            <a:pPr algn="ctr"/>
            <a:r>
              <a:rPr lang="es-VE" sz="1050" b="1" dirty="0">
                <a:solidFill>
                  <a:srgbClr val="05A8FF"/>
                </a:solidFill>
                <a:latin typeface="Arial Black" panose="020B0604020202020204" pitchFamily="34" charset="0"/>
                <a:cs typeface="Arial Black" panose="020B0604020202020204" pitchFamily="34" charset="0"/>
              </a:rPr>
              <a:t>EJEMPLO: </a:t>
            </a:r>
            <a:r>
              <a:rPr lang="es-VE" sz="1050" b="1" dirty="0">
                <a:latin typeface="Arial Black" panose="020B0604020202020204" pitchFamily="34" charset="0"/>
                <a:cs typeface="Arial Black" panose="020B0604020202020204" pitchFamily="34" charset="0"/>
              </a:rPr>
              <a:t>3 huevos revueltos + 3 </a:t>
            </a:r>
            <a:r>
              <a:rPr lang="es-VE" sz="1050" b="1" dirty="0" err="1">
                <a:latin typeface="Arial Black" panose="020B0604020202020204" pitchFamily="34" charset="0"/>
                <a:cs typeface="Arial Black" panose="020B0604020202020204" pitchFamily="34" charset="0"/>
              </a:rPr>
              <a:t>reb</a:t>
            </a:r>
            <a:r>
              <a:rPr lang="es-VE" sz="1050" b="1" dirty="0">
                <a:latin typeface="Arial Black" panose="020B0604020202020204" pitchFamily="34" charset="0"/>
                <a:cs typeface="Arial Black" panose="020B0604020202020204" pitchFamily="34" charset="0"/>
              </a:rPr>
              <a:t>. de pan + 1 lonja de aguacate +1 manzana</a:t>
            </a:r>
          </a:p>
        </p:txBody>
      </p:sp>
      <p:sp>
        <p:nvSpPr>
          <p:cNvPr id="24" name="STACK_2_2">
            <a:extLst>
              <a:ext uri="{FF2B5EF4-FFF2-40B4-BE49-F238E27FC236}">
                <a16:creationId xmlns:a16="http://schemas.microsoft.com/office/drawing/2014/main" id="{9A83CD01-C562-B0FE-EE35-4CAA31F555C7}"/>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25" name="STACK_2_1">
            <a:extLst>
              <a:ext uri="{FF2B5EF4-FFF2-40B4-BE49-F238E27FC236}">
                <a16:creationId xmlns:a16="http://schemas.microsoft.com/office/drawing/2014/main" id="{0AB0BA49-AA98-0161-8C62-012DD094C936}"/>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
        <p:nvSpPr>
          <p:cNvPr id="30" name="STACK_2_3">
            <a:extLst>
              <a:ext uri="{FF2B5EF4-FFF2-40B4-BE49-F238E27FC236}">
                <a16:creationId xmlns:a16="http://schemas.microsoft.com/office/drawing/2014/main" id="{BD039190-F866-BA5A-63C3-3E79C933CA09}"/>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pic>
        <p:nvPicPr>
          <p:cNvPr id="6" name="COL_MAM_LACTEOS STACK_3_4">
            <a:extLst>
              <a:ext uri="{FF2B5EF4-FFF2-40B4-BE49-F238E27FC236}">
                <a16:creationId xmlns:a16="http://schemas.microsoft.com/office/drawing/2014/main" id="{B8819E96-E2ED-4B18-9061-408EC9DBB32B}"/>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22143" b="16429"/>
          <a:stretch/>
        </p:blipFill>
        <p:spPr bwMode="auto">
          <a:xfrm>
            <a:off x="98125" y="6871224"/>
            <a:ext cx="776676" cy="476675"/>
          </a:xfrm>
          <a:prstGeom prst="rect">
            <a:avLst/>
          </a:prstGeom>
          <a:noFill/>
          <a:ln>
            <a:noFill/>
          </a:ln>
          <a:extLst>
            <a:ext uri="{53640926-AAD7-44D8-BBD7-CCE9431645EC}">
              <a14:shadowObscured xmlns:a14="http://schemas.microsoft.com/office/drawing/2010/main"/>
            </a:ext>
          </a:extLst>
        </p:spPr>
      </p:pic>
      <p:pic>
        <p:nvPicPr>
          <p:cNvPr id="7" name="COL_MAM_LACTEOS STACK_3_4">
            <a:extLst>
              <a:ext uri="{FF2B5EF4-FFF2-40B4-BE49-F238E27FC236}">
                <a16:creationId xmlns:a16="http://schemas.microsoft.com/office/drawing/2014/main" id="{9D3E7E5A-2C1D-8B03-131B-A677EEC9D2C1}"/>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1644" y="7347899"/>
            <a:ext cx="609638" cy="580421"/>
          </a:xfrm>
          <a:prstGeom prst="rect">
            <a:avLst/>
          </a:prstGeom>
          <a:noFill/>
        </p:spPr>
      </p:pic>
    </p:spTree>
    <p:extLst>
      <p:ext uri="{BB962C8B-B14F-4D97-AF65-F5344CB8AC3E}">
        <p14:creationId xmlns:p14="http://schemas.microsoft.com/office/powerpoint/2010/main" val="3802847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18909" y="-20745"/>
            <a:ext cx="6858419"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ALMUERZO- Hora: 12:00-13:00</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3396728078"/>
              </p:ext>
            </p:extLst>
          </p:nvPr>
        </p:nvGraphicFramePr>
        <p:xfrm>
          <a:off x="264964" y="741394"/>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9956">
                  <a:extLst>
                    <a:ext uri="{9D8B030D-6E8A-4147-A177-3AD203B41FA5}">
                      <a16:colId xmlns:a16="http://schemas.microsoft.com/office/drawing/2014/main" val="1348210058"/>
                    </a:ext>
                  </a:extLst>
                </a:gridCol>
                <a:gridCol w="104995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algn="ctr"/>
                      <a:r>
                        <a:rPr lang="es-VE" dirty="0"/>
                        <a:t>{{ALM_LACTEOS}}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{{ALM_VEGETALES}}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{{ALM_FRUTAS}}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{{ALM_ALMIDONES}}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{{ALM_PROTEINAS}}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{{ALM_GRASAS}}</a:t>
                      </a:r>
                    </a:p>
                  </a:txBody>
                  <a:tcPr/>
                </a:tc>
                <a:extLst>
                  <a:ext uri="{0D108BD9-81ED-4DB2-BD59-A6C34878D82A}">
                    <a16:rowId xmlns:a16="http://schemas.microsoft.com/office/drawing/2014/main" val="1007372756"/>
                  </a:ext>
                </a:extLst>
              </a:tr>
            </a:tbl>
          </a:graphicData>
        </a:graphic>
      </p:graphicFrame>
      <p:grpSp>
        <p:nvGrpSpPr>
          <p:cNvPr id="12" name="COL_ALM_VEGETALES">
            <a:extLst>
              <a:ext uri="{FF2B5EF4-FFF2-40B4-BE49-F238E27FC236}">
                <a16:creationId xmlns:a16="http://schemas.microsoft.com/office/drawing/2014/main" id="{917F574D-4E75-0573-5BF5-C86DED472866}"/>
              </a:ext>
            </a:extLst>
          </p:cNvPr>
          <p:cNvGrpSpPr/>
          <p:nvPr/>
        </p:nvGrpSpPr>
        <p:grpSpPr>
          <a:xfrm rot="5205064">
            <a:off x="1718740" y="514396"/>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dirty="0"/>
            </a:p>
          </p:txBody>
        </p:sp>
      </p:grpSp>
      <p:grpSp>
        <p:nvGrpSpPr>
          <p:cNvPr id="14" name="COL_ALM_FRUTAS">
            <a:extLst>
              <a:ext uri="{FF2B5EF4-FFF2-40B4-BE49-F238E27FC236}">
                <a16:creationId xmlns:a16="http://schemas.microsoft.com/office/drawing/2014/main" id="{6352C8DD-7421-4B1E-3329-A7AEF64A43E6}"/>
              </a:ext>
            </a:extLst>
          </p:cNvPr>
          <p:cNvGrpSpPr/>
          <p:nvPr/>
        </p:nvGrpSpPr>
        <p:grpSpPr>
          <a:xfrm rot="5205064">
            <a:off x="2792750" y="507927"/>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16" name="COL_ALM_GRASAS">
            <a:extLst>
              <a:ext uri="{FF2B5EF4-FFF2-40B4-BE49-F238E27FC236}">
                <a16:creationId xmlns:a16="http://schemas.microsoft.com/office/drawing/2014/main" id="{1EEC53C4-6182-27D8-18DF-1E5D578505DE}"/>
              </a:ext>
            </a:extLst>
          </p:cNvPr>
          <p:cNvGrpSpPr/>
          <p:nvPr/>
        </p:nvGrpSpPr>
        <p:grpSpPr>
          <a:xfrm rot="5205064">
            <a:off x="5885082" y="520094"/>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a:p>
          </p:txBody>
        </p:sp>
      </p:grpSp>
      <p:grpSp>
        <p:nvGrpSpPr>
          <p:cNvPr id="18" name="COL_ALM_LACTEOS">
            <a:extLst>
              <a:ext uri="{FF2B5EF4-FFF2-40B4-BE49-F238E27FC236}">
                <a16:creationId xmlns:a16="http://schemas.microsoft.com/office/drawing/2014/main" id="{F738774E-0460-FC46-8E96-50F3145B5223}"/>
              </a:ext>
            </a:extLst>
          </p:cNvPr>
          <p:cNvGrpSpPr/>
          <p:nvPr/>
        </p:nvGrpSpPr>
        <p:grpSpPr>
          <a:xfrm rot="5205064">
            <a:off x="640442" y="507926"/>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a:p>
          </p:txBody>
        </p:sp>
      </p:grpSp>
      <p:grpSp>
        <p:nvGrpSpPr>
          <p:cNvPr id="20" name="COL_ALM_ALMIDONES">
            <a:extLst>
              <a:ext uri="{FF2B5EF4-FFF2-40B4-BE49-F238E27FC236}">
                <a16:creationId xmlns:a16="http://schemas.microsoft.com/office/drawing/2014/main" id="{7C2FF4C1-17D4-E50A-6AA0-EBCCA1D9F187}"/>
              </a:ext>
            </a:extLst>
          </p:cNvPr>
          <p:cNvGrpSpPr/>
          <p:nvPr/>
        </p:nvGrpSpPr>
        <p:grpSpPr>
          <a:xfrm rot="5205064">
            <a:off x="3776856" y="507927"/>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22" name="COL_ALM_PROTEINAS">
            <a:extLst>
              <a:ext uri="{FF2B5EF4-FFF2-40B4-BE49-F238E27FC236}">
                <a16:creationId xmlns:a16="http://schemas.microsoft.com/office/drawing/2014/main" id="{99EE7A54-D936-0D68-E05F-062E3B622E78}"/>
              </a:ext>
            </a:extLst>
          </p:cNvPr>
          <p:cNvGrpSpPr/>
          <p:nvPr/>
        </p:nvGrpSpPr>
        <p:grpSpPr>
          <a:xfrm rot="5205064">
            <a:off x="4830969" y="528222"/>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dirty="0"/>
            </a:p>
          </p:txBody>
        </p:sp>
      </p:grpSp>
      <p:graphicFrame>
        <p:nvGraphicFramePr>
          <p:cNvPr id="26" name="STACK_3">
            <a:extLst>
              <a:ext uri="{FF2B5EF4-FFF2-40B4-BE49-F238E27FC236}">
                <a16:creationId xmlns:a16="http://schemas.microsoft.com/office/drawing/2014/main" id="{9717528F-7743-AC89-3AB2-8B757A680062}"/>
              </a:ext>
            </a:extLst>
          </p:cNvPr>
          <p:cNvGraphicFramePr>
            <a:graphicFrameLocks noGrp="1"/>
          </p:cNvGraphicFramePr>
          <p:nvPr>
            <p:extLst>
              <p:ext uri="{D42A27DB-BD31-4B8C-83A1-F6EECF244321}">
                <p14:modId xmlns:p14="http://schemas.microsoft.com/office/powerpoint/2010/main" val="3439063998"/>
              </p:ext>
            </p:extLst>
          </p:nvPr>
        </p:nvGraphicFramePr>
        <p:xfrm>
          <a:off x="0" y="2104226"/>
          <a:ext cx="6757988" cy="6778077"/>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01952">
                  <a:extLst>
                    <a:ext uri="{9D8B030D-6E8A-4147-A177-3AD203B41FA5}">
                      <a16:colId xmlns:a16="http://schemas.microsoft.com/office/drawing/2014/main" val="4004187718"/>
                    </a:ext>
                  </a:extLst>
                </a:gridCol>
                <a:gridCol w="1559705">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VEGETALES</a:t>
                      </a:r>
                    </a:p>
                    <a:p>
                      <a:pPr algn="ctr"/>
                      <a:r>
                        <a:rPr lang="es-VE" i="1" dirty="0">
                          <a:solidFill>
                            <a:schemeClr val="tx1"/>
                          </a:solidFill>
                        </a:rPr>
                        <a:t>{{COL_ALM_VEGETALES}}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FRUTAS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{{COL_ALM_FRUTAS}}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i="1" dirty="0">
                          <a:solidFill>
                            <a:schemeClr val="tx1"/>
                          </a:solidFill>
                        </a:rPr>
                        <a:t>ALMIDONES</a:t>
                      </a:r>
                    </a:p>
                    <a:p>
                      <a:pPr algn="ctr"/>
                      <a:r>
                        <a:rPr lang="es-VE" i="1" dirty="0">
                          <a:solidFill>
                            <a:schemeClr val="tx1"/>
                          </a:solidFill>
                        </a:rPr>
                        <a:t>{{COL_ALM_ALMIDONES}}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i="1" dirty="0">
                          <a:solidFill>
                            <a:schemeClr val="tx1"/>
                          </a:solidFill>
                        </a:rPr>
                        <a:t>PROTEÍNAS</a:t>
                      </a:r>
                    </a:p>
                    <a:p>
                      <a:pPr algn="ctr"/>
                      <a:r>
                        <a:rPr lang="es-VE" i="1" dirty="0">
                          <a:solidFill>
                            <a:schemeClr val="tx1"/>
                          </a:solidFill>
                        </a:rPr>
                        <a:t>{{COL_ALM_PROTEINAS}}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30" i="1" dirty="0">
                          <a:solidFill>
                            <a:schemeClr val="tx1"/>
                          </a:solidFill>
                        </a:rPr>
                        <a:t>GRASAS</a:t>
                      </a:r>
                    </a:p>
                    <a:p>
                      <a:pPr algn="ctr"/>
                      <a:r>
                        <a:rPr lang="es-VE" sz="1330" i="1" dirty="0">
                          <a:solidFill>
                            <a:schemeClr val="tx1"/>
                          </a:solidFill>
                        </a:rPr>
                        <a:t>{{COL_ALM_GRASAS}}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6">
                  <a:txBody>
                    <a:bodyPr/>
                    <a:lstStyle/>
                    <a:p>
                      <a:pPr algn="ctr"/>
                      <a:r>
                        <a:rPr lang="es-ES" sz="1050" b="1" dirty="0"/>
                        <a:t>Taza de vegetales crudos:</a:t>
                      </a:r>
                    </a:p>
                    <a:p>
                      <a:pPr algn="ctr"/>
                      <a:endParaRPr lang="es-ES" sz="1050" dirty="0"/>
                    </a:p>
                    <a:p>
                      <a:pPr algn="ctr"/>
                      <a:r>
                        <a:rPr lang="es-ES" sz="1050" dirty="0"/>
                        <a:t> (pepino, repollo, lechuga, </a:t>
                      </a:r>
                      <a:r>
                        <a:rPr lang="es-ES" sz="1050" dirty="0" err="1"/>
                        <a:t>celery</a:t>
                      </a:r>
                      <a:r>
                        <a:rPr lang="es-ES" sz="1050" dirty="0"/>
                        <a:t>, tomate, zanahoria, cebolla, palmito)</a:t>
                      </a:r>
                    </a:p>
                    <a:p>
                      <a:pPr algn="ctr"/>
                      <a:endParaRPr lang="es-ES" sz="1050" dirty="0"/>
                    </a:p>
                    <a:p>
                      <a:pPr algn="ctr"/>
                      <a:r>
                        <a:rPr lang="es-ES" sz="1050" dirty="0"/>
                        <a:t>Lo ideal es elaborar una ensalada con la mezcla de ellos.</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1">
                  <a:txBody>
                    <a:bodyPr/>
                    <a:lstStyle/>
                    <a:p>
                      <a:pPr algn="ctr"/>
                      <a:r>
                        <a:rPr lang="es-VE" sz="1050" dirty="0"/>
                        <a:t>1 ración de frutas entera/</a:t>
                      </a:r>
                    </a:p>
                    <a:p>
                      <a:pPr algn="ctr"/>
                      <a:r>
                        <a:rPr lang="es-VE" sz="1050" dirty="0"/>
                        <a:t>jugo</a:t>
                      </a:r>
                    </a:p>
                    <a:p>
                      <a:pPr algn="ctr"/>
                      <a:endParaRPr lang="es-VE" sz="1050" dirty="0"/>
                    </a:p>
                    <a:p>
                      <a:pPr algn="ctr"/>
                      <a:r>
                        <a:rPr lang="es-VE" sz="1050" dirty="0"/>
                        <a:t>Consumir como se subraya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b="0" dirty="0"/>
                        <a:t>½  Taza/s de arroz</a:t>
                      </a:r>
                      <a:endParaRPr lang="es-VE" sz="1050" b="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trozo/ 2 cdas</a:t>
                      </a:r>
                    </a:p>
                    <a:p>
                      <a:pPr algn="ctr"/>
                      <a:r>
                        <a:rPr lang="es-VE" sz="1050" dirty="0"/>
                        <a:t>de carne pollo, pescado/ lomo de cerdo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lonja</a:t>
                      </a:r>
                      <a:r>
                        <a:rPr lang="pt-BR" sz="1050" dirty="0"/>
                        <a:t>/s de </a:t>
                      </a:r>
                      <a:r>
                        <a:rPr lang="pt-BR" sz="1050" dirty="0" err="1"/>
                        <a:t>aguacate</a:t>
                      </a:r>
                      <a:endParaRPr lang="pt-BR" sz="105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310670">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b="0" dirty="0"/>
                        <a:t>½ Taza/s de pasta</a:t>
                      </a:r>
                      <a:endParaRPr lang="es-VE" sz="1050" b="1"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5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dirty="0"/>
                        <a:t>1 </a:t>
                      </a:r>
                      <a:r>
                        <a:rPr lang="pt-BR" sz="1050" dirty="0" err="1"/>
                        <a:t>lonja</a:t>
                      </a:r>
                      <a:r>
                        <a:rPr lang="pt-BR" sz="1050" dirty="0"/>
                        <a:t>/s </a:t>
                      </a:r>
                      <a:r>
                        <a:rPr lang="pt-BR" sz="1050" dirty="0" err="1"/>
                        <a:t>tocineta</a:t>
                      </a:r>
                      <a:r>
                        <a:rPr lang="es-VE" sz="1050" b="1" dirty="0"/>
                        <a:t>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v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vMerge="1">
                  <a:txBody>
                    <a:bodyPr/>
                    <a:lstStyle/>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1 trozo de batata-apio-yuca-ocumo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papa mediana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5">
                  <a:txBody>
                    <a:bodyPr/>
                    <a:lstStyle/>
                    <a:p>
                      <a:pPr algn="ctr"/>
                      <a:r>
                        <a:rPr lang="es-ES" sz="1050" b="1" dirty="0"/>
                        <a:t>Taza de vegetales cocidos o en crema:</a:t>
                      </a:r>
                    </a:p>
                    <a:p>
                      <a:pPr algn="ctr"/>
                      <a:endParaRPr lang="es-ES" sz="1050" b="1" dirty="0"/>
                    </a:p>
                    <a:p>
                      <a:pPr algn="ctr"/>
                      <a:r>
                        <a:rPr lang="es-ES" sz="1000" b="1" dirty="0"/>
                        <a:t>(auyama, cebolla, zanahoria, remolacha, vainitas, berenjena, calabacín, espinacas, coliflor, brócoli, acelga)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1 </a:t>
                      </a:r>
                      <a:r>
                        <a:rPr lang="es-VE" sz="1050" dirty="0" err="1"/>
                        <a:t>scoop</a:t>
                      </a:r>
                      <a:r>
                        <a:rPr lang="es-VE" sz="1050" dirty="0"/>
                        <a:t> de proteína en </a:t>
                      </a:r>
                      <a:r>
                        <a:rPr lang="es-VE" sz="1050" b="1" dirty="0"/>
                        <a:t>(ml/gramos): 30-35</a:t>
                      </a:r>
                    </a:p>
                    <a:p>
                      <a:pPr algn="ctr"/>
                      <a:r>
                        <a:rPr lang="es-VE" sz="1050" b="1" dirty="0">
                          <a:solidFill>
                            <a:srgbClr val="FF0000"/>
                          </a:solidFill>
                        </a:rPr>
                        <a:t>NO MULTIPLICAR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1 Taza/s de puré de papa,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apio, ñame u ocumo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Aceitunas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¼ taza de Quínoa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Mariscos o frutos del mar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Cucharadita/s de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Mantequilla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r>
                        <a:rPr lang="es-VE" sz="105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395816">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unidad de cachapa </a:t>
                      </a:r>
                      <a:r>
                        <a:rPr lang="es-VE" sz="1050" b="0" dirty="0" err="1"/>
                        <a:t>peq</a:t>
                      </a:r>
                      <a:r>
                        <a:rPr lang="es-VE" sz="1050" b="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r h="395816">
                <a:tc vMerge="1">
                  <a:txBody>
                    <a:bodyPr/>
                    <a:lstStyle/>
                    <a:p>
                      <a:endParaRPr lang="es-VE"/>
                    </a:p>
                  </a:txBody>
                  <a:tcPr/>
                </a:tc>
                <a:tc vMerge="1">
                  <a:txBody>
                    <a:bodyPr/>
                    <a:lstStyle/>
                    <a:p>
                      <a:endParaRPr lang="es-VE"/>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b="0" dirty="0"/>
                        <a:t>½ Taza/s de leguminosas (Caraotas, lentejas o similar) </a:t>
                      </a:r>
                    </a:p>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b="1" dirty="0">
                          <a:highlight>
                            <a:srgbClr val="FFFF00"/>
                          </a:highlight>
                        </a:rPr>
                        <a:t>Siempre y cuando las toleres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a:p>
                  </a:txBody>
                  <a:tcPr/>
                </a:tc>
                <a:tc vMerge="1">
                  <a:txBody>
                    <a:bodyPr/>
                    <a:lstStyle/>
                    <a:p>
                      <a:endParaRPr lang="es-VE"/>
                    </a:p>
                  </a:txBody>
                  <a:tcPr/>
                </a:tc>
                <a:extLst>
                  <a:ext uri="{0D108BD9-81ED-4DB2-BD59-A6C34878D82A}">
                    <a16:rowId xmlns:a16="http://schemas.microsoft.com/office/drawing/2014/main" val="2139626985"/>
                  </a:ext>
                </a:extLst>
              </a:tr>
            </a:tbl>
          </a:graphicData>
        </a:graphic>
      </p:graphicFrame>
      <p:sp>
        <p:nvSpPr>
          <p:cNvPr id="31" name="CuadroTexto 30">
            <a:extLst>
              <a:ext uri="{FF2B5EF4-FFF2-40B4-BE49-F238E27FC236}">
                <a16:creationId xmlns:a16="http://schemas.microsoft.com/office/drawing/2014/main" id="{007AB626-328F-E1CC-BB13-D7CC82D1D8DB}"/>
              </a:ext>
            </a:extLst>
          </p:cNvPr>
          <p:cNvSpPr txBox="1"/>
          <p:nvPr/>
        </p:nvSpPr>
        <p:spPr>
          <a:xfrm>
            <a:off x="0" y="8189038"/>
            <a:ext cx="6858419" cy="253916"/>
          </a:xfrm>
          <a:prstGeom prst="rect">
            <a:avLst/>
          </a:prstGeom>
          <a:noFill/>
        </p:spPr>
        <p:txBody>
          <a:bodyPr wrap="square" rtlCol="0">
            <a:spAutoFit/>
          </a:bodyPr>
          <a:lstStyle/>
          <a:p>
            <a:pPr algn="ctr"/>
            <a:r>
              <a:rPr lang="es-VE" sz="1050" b="1" dirty="0">
                <a:solidFill>
                  <a:srgbClr val="05A8FF"/>
                </a:solidFill>
                <a:latin typeface="Arial Black" panose="020B0604020202020204" pitchFamily="34" charset="0"/>
                <a:cs typeface="Arial Black" panose="020B0604020202020204" pitchFamily="34" charset="0"/>
              </a:rPr>
              <a:t>EJEMPLO: </a:t>
            </a:r>
            <a:r>
              <a:rPr lang="es-VE" sz="1050" b="1" dirty="0">
                <a:latin typeface="Arial Black" panose="020B0604020202020204" pitchFamily="34" charset="0"/>
                <a:cs typeface="Arial Black" panose="020B0604020202020204" pitchFamily="34" charset="0"/>
              </a:rPr>
              <a:t>3 huevos revueltos + 3 </a:t>
            </a:r>
            <a:r>
              <a:rPr lang="es-VE" sz="1050" b="1" dirty="0" err="1">
                <a:latin typeface="Arial Black" panose="020B0604020202020204" pitchFamily="34" charset="0"/>
                <a:cs typeface="Arial Black" panose="020B0604020202020204" pitchFamily="34" charset="0"/>
              </a:rPr>
              <a:t>reb</a:t>
            </a:r>
            <a:r>
              <a:rPr lang="es-VE" sz="1050" b="1" dirty="0">
                <a:latin typeface="Arial Black" panose="020B0604020202020204" pitchFamily="34" charset="0"/>
                <a:cs typeface="Arial Black" panose="020B0604020202020204" pitchFamily="34" charset="0"/>
              </a:rPr>
              <a:t>. de pan + 1 lonja de aguacate +1 manzana</a:t>
            </a:r>
          </a:p>
        </p:txBody>
      </p:sp>
      <p:sp>
        <p:nvSpPr>
          <p:cNvPr id="4" name="CuadroTexto 3">
            <a:extLst>
              <a:ext uri="{FF2B5EF4-FFF2-40B4-BE49-F238E27FC236}">
                <a16:creationId xmlns:a16="http://schemas.microsoft.com/office/drawing/2014/main" id="{8EE512C2-8B58-15EA-7161-BDA9AC02D73D}"/>
              </a:ext>
            </a:extLst>
          </p:cNvPr>
          <p:cNvSpPr txBox="1"/>
          <p:nvPr/>
        </p:nvSpPr>
        <p:spPr>
          <a:xfrm>
            <a:off x="-18909" y="8378396"/>
            <a:ext cx="6858419" cy="230832"/>
          </a:xfrm>
          <a:prstGeom prst="rect">
            <a:avLst/>
          </a:prstGeom>
          <a:noFill/>
        </p:spPr>
        <p:txBody>
          <a:bodyPr wrap="square" rtlCol="0">
            <a:spAutoFit/>
          </a:bodyPr>
          <a:lstStyle/>
          <a:p>
            <a:pPr algn="ctr"/>
            <a:r>
              <a:rPr lang="es-VE" sz="900" b="1" dirty="0">
                <a:latin typeface="Arial Black" panose="020B0604020202020204" pitchFamily="34" charset="0"/>
                <a:cs typeface="Arial Black" panose="020B0604020202020204" pitchFamily="34" charset="0"/>
              </a:rPr>
              <a:t>Para alcanzar 180 g de proteína debes pesar 230 g crudos</a:t>
            </a:r>
          </a:p>
        </p:txBody>
      </p:sp>
      <p:sp>
        <p:nvSpPr>
          <p:cNvPr id="25" name="STACK_2_2">
            <a:extLst>
              <a:ext uri="{FF2B5EF4-FFF2-40B4-BE49-F238E27FC236}">
                <a16:creationId xmlns:a16="http://schemas.microsoft.com/office/drawing/2014/main" id="{6CF6AFAC-8E02-BB29-BEA4-3449960C605D}"/>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30" name="STACK_2_1">
            <a:extLst>
              <a:ext uri="{FF2B5EF4-FFF2-40B4-BE49-F238E27FC236}">
                <a16:creationId xmlns:a16="http://schemas.microsoft.com/office/drawing/2014/main" id="{687C5BBB-EF65-DD1E-6B2C-EFD2CA2CE602}"/>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
        <p:nvSpPr>
          <p:cNvPr id="32" name="STACK_2_3">
            <a:extLst>
              <a:ext uri="{FF2B5EF4-FFF2-40B4-BE49-F238E27FC236}">
                <a16:creationId xmlns:a16="http://schemas.microsoft.com/office/drawing/2014/main" id="{1D6D8757-9B09-172F-23DD-341CF2E51D69}"/>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Tree>
    <p:extLst>
      <p:ext uri="{BB962C8B-B14F-4D97-AF65-F5344CB8AC3E}">
        <p14:creationId xmlns:p14="http://schemas.microsoft.com/office/powerpoint/2010/main" val="26929472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Imagen 34">
            <a:extLst>
              <a:ext uri="{FF2B5EF4-FFF2-40B4-BE49-F238E27FC236}">
                <a16:creationId xmlns:a16="http://schemas.microsoft.com/office/drawing/2014/main" id="{71D7A3A4-7235-E728-318B-CA2E509F0F44}"/>
              </a:ext>
            </a:extLst>
          </p:cNvPr>
          <p:cNvPicPr>
            <a:picLocks noChangeAspect="1"/>
          </p:cNvPicPr>
          <p:nvPr/>
        </p:nvPicPr>
        <p:blipFill>
          <a:blip r:embed="rId2"/>
          <a:stretch>
            <a:fillRect/>
          </a:stretch>
        </p:blipFill>
        <p:spPr>
          <a:xfrm>
            <a:off x="5792686" y="8212588"/>
            <a:ext cx="586182" cy="586182"/>
          </a:xfrm>
          <a:prstGeom prst="rect">
            <a:avLst/>
          </a:prstGeom>
        </p:spPr>
      </p:pic>
      <p:pic>
        <p:nvPicPr>
          <p:cNvPr id="34" name="Imagen 33">
            <a:extLst>
              <a:ext uri="{FF2B5EF4-FFF2-40B4-BE49-F238E27FC236}">
                <a16:creationId xmlns:a16="http://schemas.microsoft.com/office/drawing/2014/main" id="{8CB0BE22-8C83-B3DC-01C7-C41EBD76FB96}"/>
              </a:ext>
            </a:extLst>
          </p:cNvPr>
          <p:cNvPicPr>
            <a:picLocks noChangeAspect="1"/>
          </p:cNvPicPr>
          <p:nvPr/>
        </p:nvPicPr>
        <p:blipFill>
          <a:blip r:embed="rId3"/>
          <a:stretch>
            <a:fillRect/>
          </a:stretch>
        </p:blipFill>
        <p:spPr>
          <a:xfrm>
            <a:off x="2240179" y="8082109"/>
            <a:ext cx="847139" cy="847139"/>
          </a:xfrm>
          <a:prstGeom prst="rect">
            <a:avLst/>
          </a:prstGeom>
        </p:spPr>
      </p:pic>
      <p:pic>
        <p:nvPicPr>
          <p:cNvPr id="33" name="Imagen 32">
            <a:extLst>
              <a:ext uri="{FF2B5EF4-FFF2-40B4-BE49-F238E27FC236}">
                <a16:creationId xmlns:a16="http://schemas.microsoft.com/office/drawing/2014/main" id="{34A198B3-ADC2-CACF-7D5C-24BF668FD0A1}"/>
              </a:ext>
            </a:extLst>
          </p:cNvPr>
          <p:cNvPicPr>
            <a:picLocks noChangeAspect="1"/>
          </p:cNvPicPr>
          <p:nvPr/>
        </p:nvPicPr>
        <p:blipFill>
          <a:blip r:embed="rId4"/>
          <a:stretch>
            <a:fillRect/>
          </a:stretch>
        </p:blipFill>
        <p:spPr>
          <a:xfrm>
            <a:off x="4849952" y="8066477"/>
            <a:ext cx="824907" cy="824907"/>
          </a:xfrm>
          <a:prstGeom prst="rect">
            <a:avLst/>
          </a:prstGeom>
        </p:spPr>
      </p:pic>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5"/>
          <a:stretch>
            <a:fillRect/>
          </a:stretch>
        </p:blipFill>
        <p:spPr>
          <a:xfrm>
            <a:off x="0" y="8771923"/>
            <a:ext cx="6757988" cy="581705"/>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379120" y="-16057"/>
            <a:ext cx="5999748"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MERIENDA- Hora: 15:00-16:00</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2112131739"/>
              </p:ext>
            </p:extLst>
          </p:nvPr>
        </p:nvGraphicFramePr>
        <p:xfrm>
          <a:off x="339006" y="732809"/>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9956">
                  <a:extLst>
                    <a:ext uri="{9D8B030D-6E8A-4147-A177-3AD203B41FA5}">
                      <a16:colId xmlns:a16="http://schemas.microsoft.com/office/drawing/2014/main" val="1348210058"/>
                    </a:ext>
                  </a:extLst>
                </a:gridCol>
                <a:gridCol w="104995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{{MTP_LACTEOS}}</a:t>
                      </a:r>
                    </a:p>
                  </a:txBody>
                  <a:tcPr/>
                </a:tc>
                <a:tc>
                  <a:txBody>
                    <a:bodyPr/>
                    <a:lstStyle/>
                    <a:p>
                      <a:pPr algn="ctr"/>
                      <a:r>
                        <a:rPr lang="es-VE" dirty="0"/>
                        <a:t>{{MTP_VEGETALES}}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{{MTP_FRUTAS}}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{{MTP_ALMIDONES}}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{{MTP_PROTEINAS}}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{{MTP_GRASAS}}</a:t>
                      </a:r>
                    </a:p>
                  </a:txBody>
                  <a:tcPr/>
                </a:tc>
                <a:extLst>
                  <a:ext uri="{0D108BD9-81ED-4DB2-BD59-A6C34878D82A}">
                    <a16:rowId xmlns:a16="http://schemas.microsoft.com/office/drawing/2014/main" val="1007372756"/>
                  </a:ext>
                </a:extLst>
              </a:tr>
            </a:tbl>
          </a:graphicData>
        </a:graphic>
      </p:graphicFrame>
      <p:grpSp>
        <p:nvGrpSpPr>
          <p:cNvPr id="12" name="COL_MTP_VEGETALES">
            <a:extLst>
              <a:ext uri="{FF2B5EF4-FFF2-40B4-BE49-F238E27FC236}">
                <a16:creationId xmlns:a16="http://schemas.microsoft.com/office/drawing/2014/main" id="{917F574D-4E75-0573-5BF5-C86DED472866}"/>
              </a:ext>
            </a:extLst>
          </p:cNvPr>
          <p:cNvGrpSpPr/>
          <p:nvPr/>
        </p:nvGrpSpPr>
        <p:grpSpPr>
          <a:xfrm rot="5205064">
            <a:off x="1682902" y="479450"/>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a:p>
          </p:txBody>
        </p:sp>
      </p:grpSp>
      <p:grpSp>
        <p:nvGrpSpPr>
          <p:cNvPr id="14" name="COL_MTP_FRUTAS">
            <a:extLst>
              <a:ext uri="{FF2B5EF4-FFF2-40B4-BE49-F238E27FC236}">
                <a16:creationId xmlns:a16="http://schemas.microsoft.com/office/drawing/2014/main" id="{6352C8DD-7421-4B1E-3329-A7AEF64A43E6}"/>
              </a:ext>
            </a:extLst>
          </p:cNvPr>
          <p:cNvGrpSpPr/>
          <p:nvPr/>
        </p:nvGrpSpPr>
        <p:grpSpPr>
          <a:xfrm rot="5205064">
            <a:off x="2756912" y="472981"/>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dirty="0"/>
            </a:p>
          </p:txBody>
        </p:sp>
      </p:grpSp>
      <p:grpSp>
        <p:nvGrpSpPr>
          <p:cNvPr id="16" name="COL_MTP_GRASAS">
            <a:extLst>
              <a:ext uri="{FF2B5EF4-FFF2-40B4-BE49-F238E27FC236}">
                <a16:creationId xmlns:a16="http://schemas.microsoft.com/office/drawing/2014/main" id="{1EEC53C4-6182-27D8-18DF-1E5D578505DE}"/>
              </a:ext>
            </a:extLst>
          </p:cNvPr>
          <p:cNvGrpSpPr/>
          <p:nvPr/>
        </p:nvGrpSpPr>
        <p:grpSpPr>
          <a:xfrm rot="5205064">
            <a:off x="5849244" y="485148"/>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a:p>
          </p:txBody>
        </p:sp>
      </p:grpSp>
      <p:grpSp>
        <p:nvGrpSpPr>
          <p:cNvPr id="18" name="COL_MTP_LACTEOS">
            <a:extLst>
              <a:ext uri="{FF2B5EF4-FFF2-40B4-BE49-F238E27FC236}">
                <a16:creationId xmlns:a16="http://schemas.microsoft.com/office/drawing/2014/main" id="{F738774E-0460-FC46-8E96-50F3145B5223}"/>
              </a:ext>
            </a:extLst>
          </p:cNvPr>
          <p:cNvGrpSpPr/>
          <p:nvPr/>
        </p:nvGrpSpPr>
        <p:grpSpPr>
          <a:xfrm rot="5205064">
            <a:off x="604604" y="472980"/>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a:p>
          </p:txBody>
        </p:sp>
      </p:grpSp>
      <p:grpSp>
        <p:nvGrpSpPr>
          <p:cNvPr id="20" name="COL_MTP_ALMIDONES">
            <a:extLst>
              <a:ext uri="{FF2B5EF4-FFF2-40B4-BE49-F238E27FC236}">
                <a16:creationId xmlns:a16="http://schemas.microsoft.com/office/drawing/2014/main" id="{7C2FF4C1-17D4-E50A-6AA0-EBCCA1D9F187}"/>
              </a:ext>
            </a:extLst>
          </p:cNvPr>
          <p:cNvGrpSpPr/>
          <p:nvPr/>
        </p:nvGrpSpPr>
        <p:grpSpPr>
          <a:xfrm rot="5205064">
            <a:off x="3741018" y="472981"/>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22" name="COL_MTP_PROTEINAS">
            <a:extLst>
              <a:ext uri="{FF2B5EF4-FFF2-40B4-BE49-F238E27FC236}">
                <a16:creationId xmlns:a16="http://schemas.microsoft.com/office/drawing/2014/main" id="{99EE7A54-D936-0D68-E05F-062E3B622E78}"/>
              </a:ext>
            </a:extLst>
          </p:cNvPr>
          <p:cNvGrpSpPr/>
          <p:nvPr/>
        </p:nvGrpSpPr>
        <p:grpSpPr>
          <a:xfrm rot="5205064">
            <a:off x="4795131" y="493276"/>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dirty="0"/>
            </a:p>
          </p:txBody>
        </p:sp>
      </p:grpSp>
      <p:pic>
        <p:nvPicPr>
          <p:cNvPr id="4" name="Imagen 3">
            <a:extLst>
              <a:ext uri="{FF2B5EF4-FFF2-40B4-BE49-F238E27FC236}">
                <a16:creationId xmlns:a16="http://schemas.microsoft.com/office/drawing/2014/main" id="{05DAEC16-13F0-2A13-FA01-02D4628F7010}"/>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t="22143" b="16429"/>
          <a:stretch/>
        </p:blipFill>
        <p:spPr bwMode="auto">
          <a:xfrm>
            <a:off x="3214877" y="8291659"/>
            <a:ext cx="660177" cy="405175"/>
          </a:xfrm>
          <a:prstGeom prst="rect">
            <a:avLst/>
          </a:prstGeom>
          <a:noFill/>
          <a:ln>
            <a:noFill/>
          </a:ln>
          <a:extLst>
            <a:ext uri="{53640926-AAD7-44D8-BBD7-CCE9431645EC}">
              <a14:shadowObscured xmlns:a14="http://schemas.microsoft.com/office/drawing/2010/main"/>
            </a:ext>
          </a:extLst>
        </p:spPr>
      </p:pic>
      <p:pic>
        <p:nvPicPr>
          <p:cNvPr id="6" name="Imagen 5">
            <a:extLst>
              <a:ext uri="{FF2B5EF4-FFF2-40B4-BE49-F238E27FC236}">
                <a16:creationId xmlns:a16="http://schemas.microsoft.com/office/drawing/2014/main" id="{47C6C3F5-42AC-092E-DB44-F7DA9442359A}"/>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t="8968" b="14034"/>
          <a:stretch/>
        </p:blipFill>
        <p:spPr bwMode="auto">
          <a:xfrm>
            <a:off x="59664" y="8257549"/>
            <a:ext cx="664967" cy="442634"/>
          </a:xfrm>
          <a:prstGeom prst="rect">
            <a:avLst/>
          </a:prstGeom>
          <a:noFill/>
          <a:ln>
            <a:noFill/>
          </a:ln>
          <a:extLst>
            <a:ext uri="{53640926-AAD7-44D8-BBD7-CCE9431645EC}">
              <a14:shadowObscured xmlns:a14="http://schemas.microsoft.com/office/drawing/2010/main"/>
            </a:ext>
          </a:extLst>
        </p:spPr>
      </p:pic>
      <p:pic>
        <p:nvPicPr>
          <p:cNvPr id="9" name="Imagen 8">
            <a:extLst>
              <a:ext uri="{FF2B5EF4-FFF2-40B4-BE49-F238E27FC236}">
                <a16:creationId xmlns:a16="http://schemas.microsoft.com/office/drawing/2014/main" id="{F09C43E9-77DA-EA1F-1942-2F4D55B63441}"/>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063806" y="8186159"/>
            <a:ext cx="533775" cy="533775"/>
          </a:xfrm>
          <a:prstGeom prst="rect">
            <a:avLst/>
          </a:prstGeom>
          <a:noFill/>
        </p:spPr>
      </p:pic>
      <p:graphicFrame>
        <p:nvGraphicFramePr>
          <p:cNvPr id="10" name="STACK_3">
            <a:extLst>
              <a:ext uri="{FF2B5EF4-FFF2-40B4-BE49-F238E27FC236}">
                <a16:creationId xmlns:a16="http://schemas.microsoft.com/office/drawing/2014/main" id="{F49C472E-5268-E05E-99D2-1112A1FF9B31}"/>
              </a:ext>
            </a:extLst>
          </p:cNvPr>
          <p:cNvGraphicFramePr>
            <a:graphicFrameLocks noGrp="1"/>
          </p:cNvGraphicFramePr>
          <p:nvPr>
            <p:extLst>
              <p:ext uri="{D42A27DB-BD31-4B8C-83A1-F6EECF244321}">
                <p14:modId xmlns:p14="http://schemas.microsoft.com/office/powerpoint/2010/main" val="3579138872"/>
              </p:ext>
            </p:extLst>
          </p:nvPr>
        </p:nvGraphicFramePr>
        <p:xfrm>
          <a:off x="0" y="2022649"/>
          <a:ext cx="6757988" cy="6436026"/>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01952">
                  <a:extLst>
                    <a:ext uri="{9D8B030D-6E8A-4147-A177-3AD203B41FA5}">
                      <a16:colId xmlns:a16="http://schemas.microsoft.com/office/drawing/2014/main" val="4004187718"/>
                    </a:ext>
                  </a:extLst>
                </a:gridCol>
                <a:gridCol w="1559705">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LÁCTEOS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{{COL_MTP_LACTEOS}}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50000"/>
                        <a:lumOff val="5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FRUTAS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{{COL_MTP_FRUTAS}}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i="1" dirty="0">
                          <a:solidFill>
                            <a:schemeClr val="tx1"/>
                          </a:solidFill>
                        </a:rPr>
                        <a:t>ALMIDONES</a:t>
                      </a:r>
                    </a:p>
                    <a:p>
                      <a:pPr algn="ctr"/>
                      <a:r>
                        <a:rPr lang="es-VE" i="1" dirty="0">
                          <a:solidFill>
                            <a:schemeClr val="tx1"/>
                          </a:solidFill>
                        </a:rPr>
                        <a:t>{{COL_MTP_ALMIDONES}}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i="1" dirty="0">
                          <a:solidFill>
                            <a:schemeClr val="tx1"/>
                          </a:solidFill>
                        </a:rPr>
                        <a:t>PROTEÍNAS</a:t>
                      </a:r>
                    </a:p>
                    <a:p>
                      <a:pPr algn="ctr"/>
                      <a:r>
                        <a:rPr lang="es-VE" i="1" dirty="0">
                          <a:solidFill>
                            <a:schemeClr val="tx1"/>
                          </a:solidFill>
                        </a:rPr>
                        <a:t>{{COL_MTP_PROTEINAS}}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30" i="1" dirty="0">
                          <a:solidFill>
                            <a:schemeClr val="tx1"/>
                          </a:solidFill>
                        </a:rPr>
                        <a:t>GRASAS</a:t>
                      </a:r>
                    </a:p>
                    <a:p>
                      <a:pPr algn="ctr"/>
                      <a:r>
                        <a:rPr lang="es-VE" sz="1330" i="1" dirty="0">
                          <a:solidFill>
                            <a:schemeClr val="tx1"/>
                          </a:solidFill>
                        </a:rPr>
                        <a:t>{{COL_MTP_GRASAS}}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2">
                  <a:txBody>
                    <a:bodyPr/>
                    <a:lstStyle/>
                    <a:p>
                      <a:pPr algn="ctr"/>
                      <a:r>
                        <a:rPr lang="es-VE" sz="1050" dirty="0"/>
                        <a:t>1 taza de leche</a:t>
                      </a:r>
                    </a:p>
                    <a:p>
                      <a:pPr algn="ctr"/>
                      <a:r>
                        <a:rPr lang="es-VE" sz="1050" b="1" dirty="0"/>
                        <a:t> (ml/gramos):</a:t>
                      </a:r>
                    </a:p>
                    <a:p>
                      <a:pPr algn="ctr"/>
                      <a:r>
                        <a:rPr lang="es-VE" sz="1050" b="1" dirty="0"/>
                        <a:t>240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0">
                  <a:txBody>
                    <a:bodyPr/>
                    <a:lstStyle/>
                    <a:p>
                      <a:pPr algn="ctr"/>
                      <a:r>
                        <a:rPr lang="es-VE" sz="1050" dirty="0"/>
                        <a:t>1 ración de frutas entera/</a:t>
                      </a:r>
                    </a:p>
                    <a:p>
                      <a:pPr algn="ctr"/>
                      <a:r>
                        <a:rPr lang="es-VE" sz="1050" dirty="0"/>
                        <a:t>jugo</a:t>
                      </a:r>
                    </a:p>
                    <a:p>
                      <a:pPr algn="ctr"/>
                      <a:endParaRPr lang="es-VE" sz="1050" dirty="0"/>
                    </a:p>
                    <a:p>
                      <a:pPr algn="ctr"/>
                      <a:r>
                        <a:rPr lang="es-VE" sz="1050" dirty="0"/>
                        <a:t>Consumir como se subraya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2 torticas de arroz inflado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050" dirty="0"/>
                        <a:t>1 </a:t>
                      </a:r>
                      <a:r>
                        <a:rPr lang="pt-BR" sz="1050" dirty="0" err="1"/>
                        <a:t>lonja</a:t>
                      </a:r>
                      <a:r>
                        <a:rPr lang="pt-BR" sz="1050" dirty="0"/>
                        <a:t>/s de </a:t>
                      </a:r>
                      <a:r>
                        <a:rPr lang="pt-BR" sz="1050" dirty="0" err="1"/>
                        <a:t>aguacate</a:t>
                      </a:r>
                      <a:endParaRPr lang="pt-BR" sz="105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564805">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a:t>
                      </a:r>
                      <a:r>
                        <a:rPr lang="es-VE" sz="1050" b="0" dirty="0" err="1"/>
                        <a:t>reb</a:t>
                      </a:r>
                      <a:r>
                        <a:rPr lang="es-VE" sz="1050" b="0" dirty="0"/>
                        <a:t> de pan cuadrado integral/blanco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dirty="0"/>
                        <a:t>1 </a:t>
                      </a:r>
                      <a:r>
                        <a:rPr lang="pt-BR" sz="1050" dirty="0" err="1"/>
                        <a:t>lonja</a:t>
                      </a:r>
                      <a:r>
                        <a:rPr lang="pt-BR" sz="1050" dirty="0"/>
                        <a:t>/s </a:t>
                      </a:r>
                      <a:r>
                        <a:rPr lang="pt-BR" sz="1050" dirty="0" err="1"/>
                        <a:t>tocineta</a:t>
                      </a:r>
                      <a:r>
                        <a:rPr lang="es-VE" sz="1050" b="1" dirty="0"/>
                        <a:t>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rowSpan="2">
                  <a:txBody>
                    <a:bodyPr/>
                    <a:lstStyle/>
                    <a:p>
                      <a:pPr algn="ctr"/>
                      <a:r>
                        <a:rPr lang="es-VE" sz="1050" dirty="0"/>
                        <a:t>¾ taza </a:t>
                      </a:r>
                      <a:r>
                        <a:rPr lang="es-VE" sz="1050" dirty="0" err="1"/>
                        <a:t>deyogurt</a:t>
                      </a:r>
                      <a:r>
                        <a:rPr lang="es-VE" sz="1050" dirty="0"/>
                        <a:t> firme </a:t>
                      </a:r>
                    </a:p>
                    <a:p>
                      <a:pPr algn="ctr"/>
                      <a:r>
                        <a:rPr lang="es-VE" sz="1050" b="1" dirty="0"/>
                        <a:t>(ml/gramos):</a:t>
                      </a:r>
                    </a:p>
                    <a:p>
                      <a:pPr algn="ctr"/>
                      <a:r>
                        <a:rPr lang="es-VE" sz="1050" b="1" dirty="0"/>
                        <a:t>150</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algn="ctr"/>
                      <a:r>
                        <a:rPr lang="es-VE" sz="1050" dirty="0"/>
                        <a:t>1 trozo/ 2 cdas</a:t>
                      </a:r>
                    </a:p>
                    <a:p>
                      <a:pPr algn="ctr"/>
                      <a:r>
                        <a:rPr lang="es-VE" sz="1050" dirty="0"/>
                        <a:t>de carne pollo o pescado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rowSpan="2">
                  <a:txBody>
                    <a:bodyPr/>
                    <a:lstStyle/>
                    <a:p>
                      <a:pPr algn="ctr"/>
                      <a:r>
                        <a:rPr lang="es-VE" sz="1050" dirty="0"/>
                        <a:t>2 ½ cdas de leche en polvo </a:t>
                      </a:r>
                    </a:p>
                    <a:p>
                      <a:pPr algn="ctr"/>
                      <a:r>
                        <a:rPr lang="es-VE" sz="1050" b="1" dirty="0"/>
                        <a:t>(ml/gramos):35</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b="1" dirty="0"/>
                        <a:t>1 barrita/s de cereal </a:t>
                      </a:r>
                    </a:p>
                    <a:p>
                      <a:pPr algn="ctr"/>
                      <a:r>
                        <a:rPr lang="es-VE" sz="1050" b="1" dirty="0"/>
                        <a:t>(Avelina o Natural Valley)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pt-BR" sz="1050" b="1" dirty="0"/>
                        <a:t>1 paquete/s de </a:t>
                      </a:r>
                      <a:r>
                        <a:rPr lang="pt-BR" sz="1050" b="1" dirty="0" err="1"/>
                        <a:t>galleta</a:t>
                      </a:r>
                      <a:r>
                        <a:rPr lang="pt-BR" sz="1050" b="1" dirty="0"/>
                        <a:t> tipo soda o similar</a:t>
                      </a:r>
                      <a:endParaRPr lang="es-VE" sz="1050" b="1"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4">
                  <a:txBody>
                    <a:bodyPr/>
                    <a:lstStyle/>
                    <a:p>
                      <a:pPr algn="ctr"/>
                      <a:r>
                        <a:rPr lang="es-VE" sz="1050" b="1" dirty="0"/>
                        <a:t>1 unidad de yogurt tipo griego </a:t>
                      </a:r>
                    </a:p>
                    <a:p>
                      <a:pPr algn="ctr"/>
                      <a:r>
                        <a:rPr lang="es-VE" sz="1000" b="1" dirty="0"/>
                        <a:t>(</a:t>
                      </a:r>
                      <a:r>
                        <a:rPr lang="es-VE" sz="1000" b="1" dirty="0" err="1"/>
                        <a:t>yolo</a:t>
                      </a:r>
                      <a:r>
                        <a:rPr lang="es-VE" sz="1000" b="1" dirty="0"/>
                        <a:t>-</a:t>
                      </a:r>
                      <a:r>
                        <a:rPr lang="es-VE" sz="1000" b="1" dirty="0" err="1"/>
                        <a:t>yogpro</a:t>
                      </a:r>
                      <a:r>
                        <a:rPr lang="es-VE" sz="1000" b="1" dirty="0"/>
                        <a:t>-boom)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1 </a:t>
                      </a:r>
                      <a:r>
                        <a:rPr lang="es-VE" sz="1050" dirty="0" err="1"/>
                        <a:t>scoop</a:t>
                      </a:r>
                      <a:r>
                        <a:rPr lang="es-VE" sz="1050" dirty="0"/>
                        <a:t> de proteína en </a:t>
                      </a:r>
                      <a:r>
                        <a:rPr lang="es-VE" sz="1050" b="1" dirty="0"/>
                        <a:t>(ml/gramos): 30-35</a:t>
                      </a:r>
                    </a:p>
                    <a:p>
                      <a:pPr algn="ctr"/>
                      <a:r>
                        <a:rPr lang="es-VE" sz="1050" b="1" dirty="0">
                          <a:solidFill>
                            <a:srgbClr val="FF0000"/>
                          </a:solidFill>
                        </a:rPr>
                        <a:t>NO MULTIPLICAR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¼ taza de avena o crema de arroz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Aceitunas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½ taza de cereal (tipo </a:t>
                      </a:r>
                      <a:r>
                        <a:rPr lang="es-VE" sz="1050" dirty="0" err="1"/>
                        <a:t>corn</a:t>
                      </a:r>
                      <a:r>
                        <a:rPr lang="es-VE" sz="1050" dirty="0"/>
                        <a:t> </a:t>
                      </a:r>
                      <a:r>
                        <a:rPr lang="es-VE" sz="1050" dirty="0" err="1"/>
                        <a:t>flakes</a:t>
                      </a:r>
                      <a:r>
                        <a:rPr lang="es-VE" sz="1050" dirty="0"/>
                        <a:t>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Cucharadita/s de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Mantequilla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r>
                        <a:rPr lang="es-VE" sz="105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0">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dirty="0"/>
                        <a:t>¼ taza de granola (20 g)</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bl>
          </a:graphicData>
        </a:graphic>
      </p:graphicFrame>
      <p:pic>
        <p:nvPicPr>
          <p:cNvPr id="32" name="Imagen 31">
            <a:extLst>
              <a:ext uri="{FF2B5EF4-FFF2-40B4-BE49-F238E27FC236}">
                <a16:creationId xmlns:a16="http://schemas.microsoft.com/office/drawing/2014/main" id="{440B39FD-7292-8F9B-3125-5AAA4E47DB60}"/>
              </a:ext>
            </a:extLst>
          </p:cNvPr>
          <p:cNvPicPr>
            <a:picLocks noChangeAspect="1"/>
          </p:cNvPicPr>
          <p:nvPr/>
        </p:nvPicPr>
        <p:blipFill>
          <a:blip r:embed="rId9"/>
          <a:stretch>
            <a:fillRect/>
          </a:stretch>
        </p:blipFill>
        <p:spPr>
          <a:xfrm>
            <a:off x="1062193" y="8291030"/>
            <a:ext cx="814754" cy="439203"/>
          </a:xfrm>
          <a:prstGeom prst="rect">
            <a:avLst/>
          </a:prstGeom>
        </p:spPr>
      </p:pic>
      <p:sp>
        <p:nvSpPr>
          <p:cNvPr id="37" name="STACK_2_2">
            <a:extLst>
              <a:ext uri="{FF2B5EF4-FFF2-40B4-BE49-F238E27FC236}">
                <a16:creationId xmlns:a16="http://schemas.microsoft.com/office/drawing/2014/main" id="{FFCD1E13-8C87-5A87-BDFF-3B574E816933}"/>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38" name="STACK_2_1">
            <a:extLst>
              <a:ext uri="{FF2B5EF4-FFF2-40B4-BE49-F238E27FC236}">
                <a16:creationId xmlns:a16="http://schemas.microsoft.com/office/drawing/2014/main" id="{1EDD95F3-BAE5-D968-E4DF-592F4183E1BA}"/>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s-VE" dirty="0"/>
          </a:p>
        </p:txBody>
      </p:sp>
      <p:sp>
        <p:nvSpPr>
          <p:cNvPr id="39" name="STACK_2_3">
            <a:extLst>
              <a:ext uri="{FF2B5EF4-FFF2-40B4-BE49-F238E27FC236}">
                <a16:creationId xmlns:a16="http://schemas.microsoft.com/office/drawing/2014/main" id="{99462A67-4AD7-269D-895E-B46315D87D57}"/>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s-VE" dirty="0"/>
          </a:p>
        </p:txBody>
      </p:sp>
      <p:sp>
        <p:nvSpPr>
          <p:cNvPr id="7" name="CuadroTexto 4">
            <a:extLst>
              <a:ext uri="{FF2B5EF4-FFF2-40B4-BE49-F238E27FC236}">
                <a16:creationId xmlns:a16="http://schemas.microsoft.com/office/drawing/2014/main" id="{E775122C-10FC-A057-9D27-4F21AFB1D4DB}"/>
              </a:ext>
            </a:extLst>
          </p:cNvPr>
          <p:cNvSpPr txBox="1"/>
          <p:nvPr/>
        </p:nvSpPr>
        <p:spPr>
          <a:xfrm>
            <a:off x="59664" y="7888462"/>
            <a:ext cx="6858419" cy="230832"/>
          </a:xfrm>
          <a:prstGeom prst="rect">
            <a:avLst/>
          </a:prstGeom>
          <a:noFill/>
        </p:spPr>
        <p:txBody>
          <a:bodyPr wrap="square" rtlCol="0">
            <a:spAutoFit/>
          </a:bodyPr>
          <a:lstStyle/>
          <a:p>
            <a:pPr algn="ctr"/>
            <a:r>
              <a:rPr lang="es-VE" sz="900" b="1" dirty="0">
                <a:solidFill>
                  <a:srgbClr val="05A8FF"/>
                </a:solidFill>
                <a:latin typeface="Arial Black" panose="020B0604020202020204" pitchFamily="34" charset="0"/>
                <a:cs typeface="Arial Black" panose="020B0604020202020204" pitchFamily="34" charset="0"/>
              </a:rPr>
              <a:t>EN SUSTITUCIÓN DE LAS RACIONES DE PROTEÍNA PUEDES INCLUIR YOGURT O BARRITAS:</a:t>
            </a:r>
            <a:endParaRPr lang="es-VE" sz="900" b="1" dirty="0">
              <a:latin typeface="Arial Black" panose="020B0604020202020204" pitchFamily="34" charset="0"/>
              <a:cs typeface="Arial Black" panose="020B0604020202020204" pitchFamily="34" charset="0"/>
            </a:endParaRPr>
          </a:p>
        </p:txBody>
      </p:sp>
      <p:sp>
        <p:nvSpPr>
          <p:cNvPr id="8" name="CuadroTexto 24">
            <a:extLst>
              <a:ext uri="{FF2B5EF4-FFF2-40B4-BE49-F238E27FC236}">
                <a16:creationId xmlns:a16="http://schemas.microsoft.com/office/drawing/2014/main" id="{DDD3B7A3-8AC5-FE9F-9F89-1786254100DA}"/>
              </a:ext>
            </a:extLst>
          </p:cNvPr>
          <p:cNvSpPr txBox="1"/>
          <p:nvPr/>
        </p:nvSpPr>
        <p:spPr>
          <a:xfrm>
            <a:off x="0" y="8069057"/>
            <a:ext cx="6858419" cy="253916"/>
          </a:xfrm>
          <a:prstGeom prst="rect">
            <a:avLst/>
          </a:prstGeom>
          <a:noFill/>
        </p:spPr>
        <p:txBody>
          <a:bodyPr wrap="square" rtlCol="0">
            <a:spAutoFit/>
          </a:bodyPr>
          <a:lstStyle/>
          <a:p>
            <a:pPr algn="ctr"/>
            <a:r>
              <a:rPr lang="es-VE" sz="1050" b="1" dirty="0">
                <a:solidFill>
                  <a:srgbClr val="05A8FF"/>
                </a:solidFill>
                <a:latin typeface="Arial Black" panose="020B0604020202020204" pitchFamily="34" charset="0"/>
                <a:cs typeface="Arial Black" panose="020B0604020202020204" pitchFamily="34" charset="0"/>
              </a:rPr>
              <a:t>EJEMPLO: </a:t>
            </a:r>
            <a:r>
              <a:rPr lang="es-VE" sz="1050" b="1" dirty="0">
                <a:latin typeface="Arial Black" panose="020B0604020202020204" pitchFamily="34" charset="0"/>
                <a:cs typeface="Arial Black" panose="020B0604020202020204" pitchFamily="34" charset="0"/>
              </a:rPr>
              <a:t>3 huevos revueltos + 3 </a:t>
            </a:r>
            <a:r>
              <a:rPr lang="es-VE" sz="1050" b="1" dirty="0" err="1">
                <a:latin typeface="Arial Black" panose="020B0604020202020204" pitchFamily="34" charset="0"/>
                <a:cs typeface="Arial Black" panose="020B0604020202020204" pitchFamily="34" charset="0"/>
              </a:rPr>
              <a:t>reb</a:t>
            </a:r>
            <a:r>
              <a:rPr lang="es-VE" sz="1050" b="1" dirty="0">
                <a:latin typeface="Arial Black" panose="020B0604020202020204" pitchFamily="34" charset="0"/>
                <a:cs typeface="Arial Black" panose="020B0604020202020204" pitchFamily="34" charset="0"/>
              </a:rPr>
              <a:t>. de pan + 1 lonja de aguacate +1 manzana</a:t>
            </a:r>
          </a:p>
        </p:txBody>
      </p:sp>
    </p:spTree>
    <p:extLst>
      <p:ext uri="{BB962C8B-B14F-4D97-AF65-F5344CB8AC3E}">
        <p14:creationId xmlns:p14="http://schemas.microsoft.com/office/powerpoint/2010/main" val="3218344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379120" y="-16057"/>
            <a:ext cx="5999748"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CENA- Hora: 19:00-20:00</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2785765898"/>
              </p:ext>
            </p:extLst>
          </p:nvPr>
        </p:nvGraphicFramePr>
        <p:xfrm>
          <a:off x="264964" y="727809"/>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9956">
                  <a:extLst>
                    <a:ext uri="{9D8B030D-6E8A-4147-A177-3AD203B41FA5}">
                      <a16:colId xmlns:a16="http://schemas.microsoft.com/office/drawing/2014/main" val="1348210058"/>
                    </a:ext>
                  </a:extLst>
                </a:gridCol>
                <a:gridCol w="104995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algn="ctr"/>
                      <a:r>
                        <a:rPr lang="es-VE" dirty="0"/>
                        <a:t>{{CEN_LACTEOS}}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{{CEN_VEGETALES}}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{{CEN_FRUTAS}}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{{CEN_ALMIDONES}}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{{CEN_PROTEINAS}}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{{CEN_GRASAS}}</a:t>
                      </a:r>
                    </a:p>
                  </a:txBody>
                  <a:tcPr/>
                </a:tc>
                <a:extLst>
                  <a:ext uri="{0D108BD9-81ED-4DB2-BD59-A6C34878D82A}">
                    <a16:rowId xmlns:a16="http://schemas.microsoft.com/office/drawing/2014/main" val="1007372756"/>
                  </a:ext>
                </a:extLst>
              </a:tr>
            </a:tbl>
          </a:graphicData>
        </a:graphic>
      </p:graphicFrame>
      <p:grpSp>
        <p:nvGrpSpPr>
          <p:cNvPr id="12" name="COL_CEN_VEGETALES">
            <a:extLst>
              <a:ext uri="{FF2B5EF4-FFF2-40B4-BE49-F238E27FC236}">
                <a16:creationId xmlns:a16="http://schemas.microsoft.com/office/drawing/2014/main" id="{917F574D-4E75-0573-5BF5-C86DED472866}"/>
              </a:ext>
            </a:extLst>
          </p:cNvPr>
          <p:cNvGrpSpPr/>
          <p:nvPr/>
        </p:nvGrpSpPr>
        <p:grpSpPr>
          <a:xfrm rot="5205064">
            <a:off x="1718740" y="500811"/>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dirty="0"/>
            </a:p>
          </p:txBody>
        </p:sp>
      </p:grpSp>
      <p:grpSp>
        <p:nvGrpSpPr>
          <p:cNvPr id="14" name="COL_CEN_FRUTAS">
            <a:extLst>
              <a:ext uri="{FF2B5EF4-FFF2-40B4-BE49-F238E27FC236}">
                <a16:creationId xmlns:a16="http://schemas.microsoft.com/office/drawing/2014/main" id="{6352C8DD-7421-4B1E-3329-A7AEF64A43E6}"/>
              </a:ext>
            </a:extLst>
          </p:cNvPr>
          <p:cNvGrpSpPr/>
          <p:nvPr/>
        </p:nvGrpSpPr>
        <p:grpSpPr>
          <a:xfrm rot="5205064">
            <a:off x="2792750" y="494342"/>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16" name="COL_CEN_GRASAS">
            <a:extLst>
              <a:ext uri="{FF2B5EF4-FFF2-40B4-BE49-F238E27FC236}">
                <a16:creationId xmlns:a16="http://schemas.microsoft.com/office/drawing/2014/main" id="{1EEC53C4-6182-27D8-18DF-1E5D578505DE}"/>
              </a:ext>
            </a:extLst>
          </p:cNvPr>
          <p:cNvGrpSpPr/>
          <p:nvPr/>
        </p:nvGrpSpPr>
        <p:grpSpPr>
          <a:xfrm rot="5205064">
            <a:off x="5885082" y="506509"/>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a:p>
          </p:txBody>
        </p:sp>
      </p:grpSp>
      <p:grpSp>
        <p:nvGrpSpPr>
          <p:cNvPr id="18" name="COL_CEN_LACTEOS">
            <a:extLst>
              <a:ext uri="{FF2B5EF4-FFF2-40B4-BE49-F238E27FC236}">
                <a16:creationId xmlns:a16="http://schemas.microsoft.com/office/drawing/2014/main" id="{F738774E-0460-FC46-8E96-50F3145B5223}"/>
              </a:ext>
            </a:extLst>
          </p:cNvPr>
          <p:cNvGrpSpPr/>
          <p:nvPr/>
        </p:nvGrpSpPr>
        <p:grpSpPr>
          <a:xfrm rot="5205064">
            <a:off x="640442" y="494341"/>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a:p>
          </p:txBody>
        </p:sp>
      </p:grpSp>
      <p:grpSp>
        <p:nvGrpSpPr>
          <p:cNvPr id="20" name="COL_CEN_ALMIDONES">
            <a:extLst>
              <a:ext uri="{FF2B5EF4-FFF2-40B4-BE49-F238E27FC236}">
                <a16:creationId xmlns:a16="http://schemas.microsoft.com/office/drawing/2014/main" id="{7C2FF4C1-17D4-E50A-6AA0-EBCCA1D9F187}"/>
              </a:ext>
            </a:extLst>
          </p:cNvPr>
          <p:cNvGrpSpPr/>
          <p:nvPr/>
        </p:nvGrpSpPr>
        <p:grpSpPr>
          <a:xfrm rot="5205064">
            <a:off x="3776856" y="494342"/>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22" name="COL_CEN_PROTEINAS">
            <a:extLst>
              <a:ext uri="{FF2B5EF4-FFF2-40B4-BE49-F238E27FC236}">
                <a16:creationId xmlns:a16="http://schemas.microsoft.com/office/drawing/2014/main" id="{99EE7A54-D936-0D68-E05F-062E3B622E78}"/>
              </a:ext>
            </a:extLst>
          </p:cNvPr>
          <p:cNvGrpSpPr/>
          <p:nvPr/>
        </p:nvGrpSpPr>
        <p:grpSpPr>
          <a:xfrm rot="5205064">
            <a:off x="4830969" y="514637"/>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a:p>
          </p:txBody>
        </p:sp>
      </p:grpSp>
      <p:graphicFrame>
        <p:nvGraphicFramePr>
          <p:cNvPr id="26" name="STACK_3">
            <a:extLst>
              <a:ext uri="{FF2B5EF4-FFF2-40B4-BE49-F238E27FC236}">
                <a16:creationId xmlns:a16="http://schemas.microsoft.com/office/drawing/2014/main" id="{9717528F-7743-AC89-3AB2-8B757A680062}"/>
              </a:ext>
            </a:extLst>
          </p:cNvPr>
          <p:cNvGraphicFramePr>
            <a:graphicFrameLocks noGrp="1"/>
          </p:cNvGraphicFramePr>
          <p:nvPr>
            <p:extLst>
              <p:ext uri="{D42A27DB-BD31-4B8C-83A1-F6EECF244321}">
                <p14:modId xmlns:p14="http://schemas.microsoft.com/office/powerpoint/2010/main" val="2318671817"/>
              </p:ext>
            </p:extLst>
          </p:nvPr>
        </p:nvGraphicFramePr>
        <p:xfrm>
          <a:off x="0" y="2023714"/>
          <a:ext cx="6757988" cy="6687486"/>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98617">
                  <a:extLst>
                    <a:ext uri="{9D8B030D-6E8A-4147-A177-3AD203B41FA5}">
                      <a16:colId xmlns:a16="http://schemas.microsoft.com/office/drawing/2014/main" val="4004187718"/>
                    </a:ext>
                  </a:extLst>
                </a:gridCol>
                <a:gridCol w="1463040">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VEGETALES</a:t>
                      </a:r>
                    </a:p>
                    <a:p>
                      <a:pPr algn="ctr"/>
                      <a:r>
                        <a:rPr lang="es-VE" i="1" dirty="0">
                          <a:solidFill>
                            <a:schemeClr val="tx1"/>
                          </a:solidFill>
                        </a:rPr>
                        <a:t>{{COL_CEN_VEGETALES}}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FRUTAS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{{COL_CEN_FRUTAS}}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i="1" dirty="0">
                          <a:solidFill>
                            <a:schemeClr val="tx1"/>
                          </a:solidFill>
                        </a:rPr>
                        <a:t>ALMIDONES</a:t>
                      </a:r>
                    </a:p>
                    <a:p>
                      <a:pPr algn="ctr"/>
                      <a:r>
                        <a:rPr lang="es-VE" i="1" dirty="0">
                          <a:solidFill>
                            <a:schemeClr val="tx1"/>
                          </a:solidFill>
                        </a:rPr>
                        <a:t>{{COL_CEN_ALMIDONES}}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i="1" dirty="0">
                          <a:solidFill>
                            <a:schemeClr val="tx1"/>
                          </a:solidFill>
                        </a:rPr>
                        <a:t>PROTEÍNAS</a:t>
                      </a:r>
                    </a:p>
                    <a:p>
                      <a:pPr algn="ctr"/>
                      <a:r>
                        <a:rPr lang="es-VE" i="1" dirty="0">
                          <a:solidFill>
                            <a:schemeClr val="tx1"/>
                          </a:solidFill>
                        </a:rPr>
                        <a:t>{{COL_CEN_PROTEINAS}}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30" i="1" dirty="0">
                          <a:solidFill>
                            <a:schemeClr val="tx1"/>
                          </a:solidFill>
                        </a:rPr>
                        <a:t>GRASAS</a:t>
                      </a:r>
                    </a:p>
                    <a:p>
                      <a:pPr algn="ctr"/>
                      <a:r>
                        <a:rPr lang="es-VE" sz="1330" i="1" dirty="0">
                          <a:solidFill>
                            <a:schemeClr val="tx1"/>
                          </a:solidFill>
                        </a:rPr>
                        <a:t>{{COL_CEN_GRASAS}}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6">
                  <a:txBody>
                    <a:bodyPr/>
                    <a:lstStyle/>
                    <a:p>
                      <a:pPr algn="ctr"/>
                      <a:r>
                        <a:rPr lang="es-ES" sz="1050" b="1" dirty="0"/>
                        <a:t> Taza de vegetales crudos:</a:t>
                      </a:r>
                    </a:p>
                    <a:p>
                      <a:pPr algn="ctr"/>
                      <a:endParaRPr lang="es-ES" sz="1050" dirty="0"/>
                    </a:p>
                    <a:p>
                      <a:pPr algn="ctr"/>
                      <a:r>
                        <a:rPr lang="es-ES" sz="1050" dirty="0"/>
                        <a:t> (pepino, repollo, lechuga, </a:t>
                      </a:r>
                      <a:r>
                        <a:rPr lang="es-ES" sz="1050" dirty="0" err="1"/>
                        <a:t>celery</a:t>
                      </a:r>
                      <a:r>
                        <a:rPr lang="es-ES" sz="1050" dirty="0"/>
                        <a:t>, tomate, zanahoria, cebolla, palmito)</a:t>
                      </a:r>
                    </a:p>
                    <a:p>
                      <a:pPr algn="ctr"/>
                      <a:endParaRPr lang="es-ES" sz="1050" dirty="0"/>
                    </a:p>
                    <a:p>
                      <a:pPr algn="ctr"/>
                      <a:r>
                        <a:rPr lang="es-ES" sz="1050" dirty="0"/>
                        <a:t>Lo ideal es elaborar una ensalada con la mezcla de ellos.</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1">
                  <a:txBody>
                    <a:bodyPr/>
                    <a:lstStyle/>
                    <a:p>
                      <a:pPr algn="ctr"/>
                      <a:r>
                        <a:rPr lang="es-VE" sz="1050" dirty="0"/>
                        <a:t>1 ración de frutas entera/</a:t>
                      </a:r>
                    </a:p>
                    <a:p>
                      <a:pPr algn="ctr"/>
                      <a:r>
                        <a:rPr lang="es-VE" sz="1050" dirty="0"/>
                        <a:t>jugo</a:t>
                      </a:r>
                    </a:p>
                    <a:p>
                      <a:pPr algn="ctr"/>
                      <a:endParaRPr lang="es-VE" sz="1050" dirty="0"/>
                    </a:p>
                    <a:p>
                      <a:pPr algn="ctr"/>
                      <a:r>
                        <a:rPr lang="es-VE" sz="1050" dirty="0"/>
                        <a:t>Consumir como se subraya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b="0" dirty="0"/>
                        <a:t>½  Taza/s de arroz</a:t>
                      </a:r>
                      <a:endParaRPr lang="es-VE" sz="1050" b="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trozo/ 2 cdas</a:t>
                      </a:r>
                    </a:p>
                    <a:p>
                      <a:pPr algn="ctr"/>
                      <a:r>
                        <a:rPr lang="es-VE" sz="1050" dirty="0"/>
                        <a:t>de carne pollo, pescado/ lomo de cerdo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lonja</a:t>
                      </a:r>
                      <a:r>
                        <a:rPr lang="pt-BR" sz="1050" dirty="0"/>
                        <a:t>/s de </a:t>
                      </a:r>
                      <a:r>
                        <a:rPr lang="pt-BR" sz="1050" dirty="0" err="1"/>
                        <a:t>aguacate</a:t>
                      </a:r>
                      <a:endParaRPr lang="pt-BR" sz="105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310670">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b="0" dirty="0"/>
                        <a:t>½ Taza/s de pasta</a:t>
                      </a:r>
                      <a:endParaRPr lang="es-VE" sz="1050" b="1"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5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dirty="0"/>
                        <a:t>1 </a:t>
                      </a:r>
                      <a:r>
                        <a:rPr lang="pt-BR" sz="1050" dirty="0" err="1"/>
                        <a:t>lonja</a:t>
                      </a:r>
                      <a:r>
                        <a:rPr lang="pt-BR" sz="1050" dirty="0"/>
                        <a:t>/s </a:t>
                      </a:r>
                      <a:r>
                        <a:rPr lang="pt-BR" sz="1050" dirty="0" err="1"/>
                        <a:t>tocineta</a:t>
                      </a:r>
                      <a:r>
                        <a:rPr lang="es-VE" sz="1050" b="1" dirty="0"/>
                        <a:t>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v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vMerge="1">
                  <a:txBody>
                    <a:bodyPr/>
                    <a:lstStyle/>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1 trozo de batata-apio-yuca-ocumo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papa mediana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5">
                  <a:txBody>
                    <a:bodyPr/>
                    <a:lstStyle/>
                    <a:p>
                      <a:pPr algn="ctr"/>
                      <a:r>
                        <a:rPr lang="es-ES" sz="1000" b="1" dirty="0"/>
                        <a:t> </a:t>
                      </a:r>
                      <a:r>
                        <a:rPr lang="es-ES" sz="1050" b="1" dirty="0"/>
                        <a:t>Taza de vegetales cocidos o en crema:</a:t>
                      </a:r>
                    </a:p>
                    <a:p>
                      <a:pPr algn="ctr"/>
                      <a:endParaRPr lang="es-ES" sz="1050" b="1" dirty="0"/>
                    </a:p>
                    <a:p>
                      <a:pPr algn="ctr"/>
                      <a:r>
                        <a:rPr lang="es-ES" sz="1000" b="1" dirty="0"/>
                        <a:t> (auyama, cebolla, zanahoria, remolacha, vainitas, berenjena, calabacín, espinacas, coliflor, brócoli, acelga)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a:t>
                      </a:r>
                      <a:r>
                        <a:rPr lang="es-VE" sz="1050" dirty="0" err="1"/>
                        <a:t>scoop</a:t>
                      </a:r>
                      <a:r>
                        <a:rPr lang="es-VE" sz="1050" dirty="0"/>
                        <a:t> de proteína en </a:t>
                      </a:r>
                      <a:r>
                        <a:rPr lang="es-VE" sz="1050" b="1" dirty="0"/>
                        <a:t>(ml/gramos): 30-35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1 Taza/s </a:t>
                      </a:r>
                      <a:r>
                        <a:rPr lang="es-VE" sz="1050" b="0" dirty="0"/>
                        <a:t>de puré de papa,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apio, ñame u ocumo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Aceitunas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¼ taza </a:t>
                      </a:r>
                      <a:r>
                        <a:rPr lang="es-VE" sz="1050" b="0" dirty="0"/>
                        <a:t>de Quínoa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Mariscos o frutos del mar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Cucharadita/s de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Mantequilla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r>
                        <a:rPr lang="es-VE" sz="105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395816">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algn="ctr"/>
                      <a:r>
                        <a:rPr lang="es-VE" sz="1050" dirty="0"/>
                        <a:t>1 arepa pequeña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r h="395816">
                <a:tc vMerge="1">
                  <a:txBody>
                    <a:bodyPr/>
                    <a:lstStyle/>
                    <a:p>
                      <a:endParaRPr lang="es-VE"/>
                    </a:p>
                  </a:txBody>
                  <a:tcPr/>
                </a:tc>
                <a:tc vMerge="1">
                  <a:txBody>
                    <a:bodyPr/>
                    <a:lstStyle/>
                    <a:p>
                      <a:endParaRPr lang="es-VE"/>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b="1" dirty="0"/>
                        <a:t>1 </a:t>
                      </a:r>
                      <a:r>
                        <a:rPr lang="es-ES" sz="1050" b="1" dirty="0" err="1"/>
                        <a:t>reb</a:t>
                      </a:r>
                      <a:r>
                        <a:rPr lang="es-ES" sz="1050" b="1" dirty="0"/>
                        <a:t> </a:t>
                      </a:r>
                      <a:r>
                        <a:rPr lang="es-ES" sz="1050" b="0" dirty="0"/>
                        <a:t>de pan cuadrado integral/blanco</a:t>
                      </a:r>
                    </a:p>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endParaRPr lang="es-VE"/>
                    </a:p>
                  </a:txBody>
                  <a:tcPr/>
                </a:tc>
                <a:tc vMerge="1">
                  <a:txBody>
                    <a:bodyPr/>
                    <a:lstStyle/>
                    <a:p>
                      <a:endParaRPr lang="es-VE"/>
                    </a:p>
                  </a:txBody>
                  <a:tcPr/>
                </a:tc>
                <a:extLst>
                  <a:ext uri="{0D108BD9-81ED-4DB2-BD59-A6C34878D82A}">
                    <a16:rowId xmlns:a16="http://schemas.microsoft.com/office/drawing/2014/main" val="2139626985"/>
                  </a:ext>
                </a:extLst>
              </a:tr>
            </a:tbl>
          </a:graphicData>
        </a:graphic>
      </p:graphicFrame>
      <p:sp>
        <p:nvSpPr>
          <p:cNvPr id="31" name="CuadroTexto 30">
            <a:extLst>
              <a:ext uri="{FF2B5EF4-FFF2-40B4-BE49-F238E27FC236}">
                <a16:creationId xmlns:a16="http://schemas.microsoft.com/office/drawing/2014/main" id="{007AB626-328F-E1CC-BB13-D7CC82D1D8DB}"/>
              </a:ext>
            </a:extLst>
          </p:cNvPr>
          <p:cNvSpPr txBox="1"/>
          <p:nvPr/>
        </p:nvSpPr>
        <p:spPr>
          <a:xfrm>
            <a:off x="0" y="8156397"/>
            <a:ext cx="6858419" cy="253916"/>
          </a:xfrm>
          <a:prstGeom prst="rect">
            <a:avLst/>
          </a:prstGeom>
          <a:noFill/>
        </p:spPr>
        <p:txBody>
          <a:bodyPr wrap="square" rtlCol="0">
            <a:spAutoFit/>
          </a:bodyPr>
          <a:lstStyle/>
          <a:p>
            <a:pPr algn="ctr"/>
            <a:r>
              <a:rPr lang="es-VE" sz="1050" b="1" dirty="0">
                <a:solidFill>
                  <a:srgbClr val="05A8FF"/>
                </a:solidFill>
                <a:latin typeface="Arial Black" panose="020B0604020202020204" pitchFamily="34" charset="0"/>
                <a:cs typeface="Arial Black" panose="020B0604020202020204" pitchFamily="34" charset="0"/>
              </a:rPr>
              <a:t>EJEMPLO: </a:t>
            </a:r>
            <a:r>
              <a:rPr lang="es-VE" sz="1050" b="1" dirty="0">
                <a:latin typeface="Arial Black" panose="020B0604020202020204" pitchFamily="34" charset="0"/>
                <a:cs typeface="Arial Black" panose="020B0604020202020204" pitchFamily="34" charset="0"/>
              </a:rPr>
              <a:t>3 huevos revueltos + 3 </a:t>
            </a:r>
            <a:r>
              <a:rPr lang="es-VE" sz="1050" b="1" dirty="0" err="1">
                <a:latin typeface="Arial Black" panose="020B0604020202020204" pitchFamily="34" charset="0"/>
                <a:cs typeface="Arial Black" panose="020B0604020202020204" pitchFamily="34" charset="0"/>
              </a:rPr>
              <a:t>reb</a:t>
            </a:r>
            <a:r>
              <a:rPr lang="es-VE" sz="1050" b="1" dirty="0">
                <a:latin typeface="Arial Black" panose="020B0604020202020204" pitchFamily="34" charset="0"/>
                <a:cs typeface="Arial Black" panose="020B0604020202020204" pitchFamily="34" charset="0"/>
              </a:rPr>
              <a:t>. de pan + 1 lonja de aguacate +1 manzana</a:t>
            </a:r>
          </a:p>
        </p:txBody>
      </p:sp>
      <p:sp>
        <p:nvSpPr>
          <p:cNvPr id="4" name="CuadroTexto 3">
            <a:extLst>
              <a:ext uri="{FF2B5EF4-FFF2-40B4-BE49-F238E27FC236}">
                <a16:creationId xmlns:a16="http://schemas.microsoft.com/office/drawing/2014/main" id="{37E7E5F7-7A61-3811-1E4C-54E6A9E50F1F}"/>
              </a:ext>
            </a:extLst>
          </p:cNvPr>
          <p:cNvSpPr txBox="1"/>
          <p:nvPr/>
        </p:nvSpPr>
        <p:spPr>
          <a:xfrm>
            <a:off x="-18909" y="8371549"/>
            <a:ext cx="6858419" cy="230832"/>
          </a:xfrm>
          <a:prstGeom prst="rect">
            <a:avLst/>
          </a:prstGeom>
          <a:noFill/>
        </p:spPr>
        <p:txBody>
          <a:bodyPr wrap="square" rtlCol="0">
            <a:spAutoFit/>
          </a:bodyPr>
          <a:lstStyle/>
          <a:p>
            <a:pPr algn="ctr"/>
            <a:r>
              <a:rPr lang="es-VE" sz="900" b="1" dirty="0">
                <a:highlight>
                  <a:srgbClr val="FFFF00"/>
                </a:highlight>
                <a:latin typeface="Arial Black" panose="020B0604020202020204" pitchFamily="34" charset="0"/>
                <a:cs typeface="Arial Black" panose="020B0604020202020204" pitchFamily="34" charset="0"/>
              </a:rPr>
              <a:t>SI NO ENTRENAS OMITE</a:t>
            </a:r>
          </a:p>
        </p:txBody>
      </p:sp>
      <p:sp>
        <p:nvSpPr>
          <p:cNvPr id="25" name="STACK_2_2">
            <a:extLst>
              <a:ext uri="{FF2B5EF4-FFF2-40B4-BE49-F238E27FC236}">
                <a16:creationId xmlns:a16="http://schemas.microsoft.com/office/drawing/2014/main" id="{9F2E80DE-6AAD-0985-E80F-F64B5314C458}"/>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30" name="STACK_2_1">
            <a:extLst>
              <a:ext uri="{FF2B5EF4-FFF2-40B4-BE49-F238E27FC236}">
                <a16:creationId xmlns:a16="http://schemas.microsoft.com/office/drawing/2014/main" id="{21444D16-9CD0-6BAA-56C5-56C035CD82F2}"/>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
        <p:nvSpPr>
          <p:cNvPr id="32" name="STACK_2_3">
            <a:extLst>
              <a:ext uri="{FF2B5EF4-FFF2-40B4-BE49-F238E27FC236}">
                <a16:creationId xmlns:a16="http://schemas.microsoft.com/office/drawing/2014/main" id="{BB892A93-D17C-580C-C29B-6F9FD8CF321C}"/>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Tree>
    <p:extLst>
      <p:ext uri="{BB962C8B-B14F-4D97-AF65-F5344CB8AC3E}">
        <p14:creationId xmlns:p14="http://schemas.microsoft.com/office/powerpoint/2010/main" val="35634047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pic>
        <p:nvPicPr>
          <p:cNvPr id="5" name="Imagen 4">
            <a:extLst>
              <a:ext uri="{FF2B5EF4-FFF2-40B4-BE49-F238E27FC236}">
                <a16:creationId xmlns:a16="http://schemas.microsoft.com/office/drawing/2014/main" id="{DC92A4DD-A901-662A-2785-202361ACB42C}"/>
              </a:ext>
            </a:extLst>
          </p:cNvPr>
          <p:cNvPicPr>
            <a:picLocks noChangeAspect="1"/>
          </p:cNvPicPr>
          <p:nvPr/>
        </p:nvPicPr>
        <p:blipFill>
          <a:blip r:embed="rId3"/>
          <a:stretch>
            <a:fillRect/>
          </a:stretch>
        </p:blipFill>
        <p:spPr>
          <a:xfrm>
            <a:off x="216" y="318052"/>
            <a:ext cx="6757555" cy="9291638"/>
          </a:xfrm>
          <a:prstGeom prst="rect">
            <a:avLst/>
          </a:prstGeom>
        </p:spPr>
      </p:pic>
    </p:spTree>
    <p:extLst>
      <p:ext uri="{BB962C8B-B14F-4D97-AF65-F5344CB8AC3E}">
        <p14:creationId xmlns:p14="http://schemas.microsoft.com/office/powerpoint/2010/main" val="3770426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843148" y="138273"/>
            <a:ext cx="5194137" cy="584775"/>
          </a:xfrm>
          <a:prstGeom prst="rect">
            <a:avLst/>
          </a:prstGeom>
          <a:noFill/>
        </p:spPr>
        <p:txBody>
          <a:bodyPr wrap="square" rtlCol="0">
            <a:spAutoFit/>
          </a:bodyPr>
          <a:lstStyle/>
          <a:p>
            <a:pPr algn="ctr"/>
            <a:r>
              <a:rPr lang="es-VE" sz="32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MENÚ EJEMPLO</a:t>
            </a:r>
          </a:p>
        </p:txBody>
      </p:sp>
      <p:grpSp>
        <p:nvGrpSpPr>
          <p:cNvPr id="5" name="Group 27">
            <a:extLst>
              <a:ext uri="{FF2B5EF4-FFF2-40B4-BE49-F238E27FC236}">
                <a16:creationId xmlns:a16="http://schemas.microsoft.com/office/drawing/2014/main" id="{7032593C-BACC-8BD5-52CE-7EDACABCA199}"/>
              </a:ext>
            </a:extLst>
          </p:cNvPr>
          <p:cNvGrpSpPr/>
          <p:nvPr/>
        </p:nvGrpSpPr>
        <p:grpSpPr>
          <a:xfrm>
            <a:off x="118611" y="6158312"/>
            <a:ext cx="3192321" cy="907563"/>
            <a:chOff x="-113331" y="-323541"/>
            <a:chExt cx="5477910" cy="1164000"/>
          </a:xfrm>
        </p:grpSpPr>
        <p:sp>
          <p:nvSpPr>
            <p:cNvPr id="6" name="TextBox 28">
              <a:extLst>
                <a:ext uri="{FF2B5EF4-FFF2-40B4-BE49-F238E27FC236}">
                  <a16:creationId xmlns:a16="http://schemas.microsoft.com/office/drawing/2014/main" id="{85FFDD18-3F78-13E9-22F5-FDB7FC0F25DE}"/>
                </a:ext>
              </a:extLst>
            </p:cNvPr>
            <p:cNvSpPr txBox="1"/>
            <p:nvPr/>
          </p:nvSpPr>
          <p:spPr>
            <a:xfrm>
              <a:off x="-113331" y="-323541"/>
              <a:ext cx="5477910" cy="531530"/>
            </a:xfrm>
            <a:prstGeom prst="rect">
              <a:avLst/>
            </a:prstGeom>
          </p:spPr>
          <p:txBody>
            <a:bodyPr lIns="0" tIns="0" rIns="0" bIns="0" rtlCol="0" anchor="t">
              <a:spAutoFit/>
            </a:bodyPr>
            <a:lstStyle/>
            <a:p>
              <a:pPr marL="0" marR="0" lvl="0" indent="0" algn="l" defTabSz="914400" rtl="0" eaLnBrk="1" fontAlgn="auto" latinLnBrk="0" hangingPunct="1">
                <a:lnSpc>
                  <a:spcPts val="3056"/>
                </a:lnSpc>
                <a:spcBef>
                  <a:spcPct val="0"/>
                </a:spcBef>
                <a:spcAft>
                  <a:spcPts val="0"/>
                </a:spcAft>
                <a:buClrTx/>
                <a:buSzTx/>
                <a:buFontTx/>
                <a:buNone/>
                <a:tabLst/>
                <a:defRPr/>
              </a:pPr>
              <a:r>
                <a:rPr kumimoji="0" lang="en-US" b="1" i="0" u="none" strike="noStrike" kern="1200" cap="none" spc="436" normalizeH="0" baseline="0" noProof="0" dirty="0">
                  <a:ln>
                    <a:noFill/>
                  </a:ln>
                  <a:solidFill>
                    <a:srgbClr val="004AAD"/>
                  </a:solidFill>
                  <a:effectLst/>
                  <a:uLnTx/>
                  <a:uFillTx/>
                  <a:latin typeface="Lovelo Bold"/>
                  <a:ea typeface="+mn-ea"/>
                  <a:cs typeface="+mn-cs"/>
                </a:rPr>
                <a:t>CENA</a:t>
              </a:r>
            </a:p>
          </p:txBody>
        </p:sp>
        <p:sp>
          <p:nvSpPr>
            <p:cNvPr id="7" name="TextBox 29">
              <a:extLst>
                <a:ext uri="{FF2B5EF4-FFF2-40B4-BE49-F238E27FC236}">
                  <a16:creationId xmlns:a16="http://schemas.microsoft.com/office/drawing/2014/main" id="{C8ABE8C2-06A5-915A-ACE5-21D5B75FBBF7}"/>
                </a:ext>
              </a:extLst>
            </p:cNvPr>
            <p:cNvSpPr txBox="1"/>
            <p:nvPr/>
          </p:nvSpPr>
          <p:spPr>
            <a:xfrm>
              <a:off x="1" y="520105"/>
              <a:ext cx="743408" cy="320354"/>
            </a:xfrm>
            <a:prstGeom prst="rect">
              <a:avLst/>
            </a:prstGeom>
          </p:spPr>
          <p:txBody>
            <a:bodyPr lIns="0" tIns="0" rIns="0" bIns="0" rtlCol="0" anchor="t">
              <a:spAutoFit/>
            </a:bodyPr>
            <a:lstStyle/>
            <a:p>
              <a:pPr marL="0" marR="0" lvl="0" indent="0" algn="l" defTabSz="914400" rtl="0" eaLnBrk="1" fontAlgn="auto" latinLnBrk="0" hangingPunct="1">
                <a:lnSpc>
                  <a:spcPts val="1759"/>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sp>
          <p:nvSpPr>
            <p:cNvPr id="8" name="TextBox 30">
              <a:extLst>
                <a:ext uri="{FF2B5EF4-FFF2-40B4-BE49-F238E27FC236}">
                  <a16:creationId xmlns:a16="http://schemas.microsoft.com/office/drawing/2014/main" id="{C5799AD6-DC14-94B2-5E5A-FE4FF08000D9}"/>
                </a:ext>
              </a:extLst>
            </p:cNvPr>
            <p:cNvSpPr txBox="1"/>
            <p:nvPr/>
          </p:nvSpPr>
          <p:spPr>
            <a:xfrm>
              <a:off x="743409" y="520104"/>
              <a:ext cx="4284065" cy="320354"/>
            </a:xfrm>
            <a:prstGeom prst="rect">
              <a:avLst/>
            </a:prstGeom>
          </p:spPr>
          <p:txBody>
            <a:bodyPr lIns="0" tIns="0" rIns="0" bIns="0" rtlCol="0" anchor="t">
              <a:spAutoFit/>
            </a:bodyPr>
            <a:lstStyle/>
            <a:p>
              <a:pPr marL="0" marR="0" lvl="0" indent="0" algn="l" defTabSz="914400" rtl="0" eaLnBrk="1" fontAlgn="auto" latinLnBrk="0" hangingPunct="1">
                <a:lnSpc>
                  <a:spcPts val="1759"/>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grpSp>
      <p:sp>
        <p:nvSpPr>
          <p:cNvPr id="9" name="TextBox 31">
            <a:extLst>
              <a:ext uri="{FF2B5EF4-FFF2-40B4-BE49-F238E27FC236}">
                <a16:creationId xmlns:a16="http://schemas.microsoft.com/office/drawing/2014/main" id="{AF80836C-0AAA-86CC-E3BC-6E15C7139705}"/>
              </a:ext>
            </a:extLst>
          </p:cNvPr>
          <p:cNvSpPr txBox="1"/>
          <p:nvPr/>
        </p:nvSpPr>
        <p:spPr>
          <a:xfrm>
            <a:off x="122447" y="6435163"/>
            <a:ext cx="6635541" cy="1333507"/>
          </a:xfrm>
          <a:prstGeom prst="rect">
            <a:avLst/>
          </a:prstGeom>
        </p:spPr>
        <p:txBody>
          <a:bodyPr wrap="square" lIns="0" tIns="0" rIns="0" bIns="0" rtlCol="0" anchor="t">
            <a:spAutoFit/>
          </a:bodyPr>
          <a:lstStyle/>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1 MILANESA DE POLLO GRANDE (180 G COCIDA – 210 CRUDA)</a:t>
            </a:r>
          </a:p>
          <a:p>
            <a:pPr marL="0" marR="0" lvl="0" indent="0" algn="l" defTabSz="914400" rtl="0" eaLnBrk="1" fontAlgn="auto" latinLnBrk="0" hangingPunct="1">
              <a:lnSpc>
                <a:spcPts val="2687"/>
              </a:lnSpc>
              <a:spcBef>
                <a:spcPts val="0"/>
              </a:spcBef>
              <a:spcAft>
                <a:spcPts val="0"/>
              </a:spcAft>
              <a:buClrTx/>
              <a:buSzTx/>
              <a:buFontTx/>
              <a:buNone/>
              <a:tabLst/>
              <a:defRPr/>
            </a:pPr>
            <a:r>
              <a:rPr lang="en-US" sz="1200" spc="119" dirty="0">
                <a:solidFill>
                  <a:srgbClr val="000000"/>
                </a:solidFill>
                <a:latin typeface="Calibri" panose="020F0502020204030204" pitchFamily="34" charset="0"/>
                <a:cs typeface="Calibri" panose="020F0502020204030204" pitchFamily="34" charset="0"/>
              </a:rPr>
              <a:t>3 FAJITAS TIPO BIMBO O SIMILARES</a:t>
            </a:r>
          </a:p>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1 TAZA DE VEGETALES COCIDOS. MEZCLAR CON EL POLLO</a:t>
            </a:r>
          </a:p>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2</a:t>
            </a:r>
            <a:r>
              <a:rPr lang="en-US" sz="1200" spc="119" dirty="0">
                <a:solidFill>
                  <a:srgbClr val="000000"/>
                </a:solidFill>
                <a:latin typeface="Calibri" panose="020F0502020204030204" pitchFamily="34" charset="0"/>
                <a:cs typeface="Calibri" panose="020F0502020204030204" pitchFamily="34" charset="0"/>
              </a:rPr>
              <a:t> CDTAS (10 CC) DE ACEITE DE OLIVA (AGREGAR A LOS VEGETALES)</a:t>
            </a:r>
            <a:endPar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grpSp>
        <p:nvGrpSpPr>
          <p:cNvPr id="10" name="Group 32">
            <a:extLst>
              <a:ext uri="{FF2B5EF4-FFF2-40B4-BE49-F238E27FC236}">
                <a16:creationId xmlns:a16="http://schemas.microsoft.com/office/drawing/2014/main" id="{1906FA8C-FD7D-4A6D-2B6D-22EB7BD669BF}"/>
              </a:ext>
            </a:extLst>
          </p:cNvPr>
          <p:cNvGrpSpPr/>
          <p:nvPr/>
        </p:nvGrpSpPr>
        <p:grpSpPr>
          <a:xfrm>
            <a:off x="113246" y="3665342"/>
            <a:ext cx="3067862" cy="743911"/>
            <a:chOff x="-34506" y="-111651"/>
            <a:chExt cx="5264342" cy="954106"/>
          </a:xfrm>
        </p:grpSpPr>
        <p:sp>
          <p:nvSpPr>
            <p:cNvPr id="11" name="TextBox 33">
              <a:extLst>
                <a:ext uri="{FF2B5EF4-FFF2-40B4-BE49-F238E27FC236}">
                  <a16:creationId xmlns:a16="http://schemas.microsoft.com/office/drawing/2014/main" id="{0FA2CB84-B69C-1580-0F95-6EC869C1B90D}"/>
                </a:ext>
              </a:extLst>
            </p:cNvPr>
            <p:cNvSpPr txBox="1"/>
            <p:nvPr/>
          </p:nvSpPr>
          <p:spPr>
            <a:xfrm>
              <a:off x="-34506" y="-111651"/>
              <a:ext cx="5264342" cy="517557"/>
            </a:xfrm>
            <a:prstGeom prst="rect">
              <a:avLst/>
            </a:prstGeom>
          </p:spPr>
          <p:txBody>
            <a:bodyPr lIns="0" tIns="0" rIns="0" bIns="0" rtlCol="0" anchor="t">
              <a:spAutoFit/>
            </a:bodyPr>
            <a:lstStyle/>
            <a:p>
              <a:pPr marL="0" marR="0" lvl="0" indent="0" algn="l" defTabSz="914400" rtl="0" eaLnBrk="1" fontAlgn="auto" latinLnBrk="0" hangingPunct="1">
                <a:lnSpc>
                  <a:spcPts val="3044"/>
                </a:lnSpc>
                <a:spcBef>
                  <a:spcPct val="0"/>
                </a:spcBef>
                <a:spcAft>
                  <a:spcPts val="0"/>
                </a:spcAft>
                <a:buClrTx/>
                <a:buSzTx/>
                <a:buFontTx/>
                <a:buNone/>
                <a:tabLst/>
                <a:defRPr/>
              </a:pPr>
              <a:r>
                <a:rPr kumimoji="0" lang="en-US" b="1" i="0" u="none" strike="noStrike" kern="1200" cap="none" spc="434" normalizeH="0" baseline="0" noProof="0" dirty="0">
                  <a:ln>
                    <a:noFill/>
                  </a:ln>
                  <a:solidFill>
                    <a:srgbClr val="004AAD"/>
                  </a:solidFill>
                  <a:effectLst/>
                  <a:uLnTx/>
                  <a:uFillTx/>
                  <a:latin typeface="Lovelo Bold"/>
                  <a:ea typeface="+mn-ea"/>
                  <a:cs typeface="+mn-cs"/>
                </a:rPr>
                <a:t>ALMUERZO</a:t>
              </a:r>
            </a:p>
          </p:txBody>
        </p:sp>
        <p:sp>
          <p:nvSpPr>
            <p:cNvPr id="12" name="TextBox 34">
              <a:extLst>
                <a:ext uri="{FF2B5EF4-FFF2-40B4-BE49-F238E27FC236}">
                  <a16:creationId xmlns:a16="http://schemas.microsoft.com/office/drawing/2014/main" id="{AB84AA28-BC1D-D519-8679-678AA5B3820D}"/>
                </a:ext>
              </a:extLst>
            </p:cNvPr>
            <p:cNvSpPr txBox="1"/>
            <p:nvPr/>
          </p:nvSpPr>
          <p:spPr>
            <a:xfrm>
              <a:off x="0" y="525734"/>
              <a:ext cx="714425" cy="316719"/>
            </a:xfrm>
            <a:prstGeom prst="rect">
              <a:avLst/>
            </a:prstGeom>
          </p:spPr>
          <p:txBody>
            <a:bodyPr lIns="0" tIns="0" rIns="0" bIns="0" rtlCol="0" anchor="t">
              <a:spAutoFit/>
            </a:bodyPr>
            <a:lstStyle/>
            <a:p>
              <a:pPr marL="0" marR="0" lvl="0" indent="0" algn="l" defTabSz="914400" rtl="0" eaLnBrk="1" fontAlgn="auto" latinLnBrk="0" hangingPunct="1">
                <a:lnSpc>
                  <a:spcPts val="1691"/>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sp>
          <p:nvSpPr>
            <p:cNvPr id="13" name="TextBox 35">
              <a:extLst>
                <a:ext uri="{FF2B5EF4-FFF2-40B4-BE49-F238E27FC236}">
                  <a16:creationId xmlns:a16="http://schemas.microsoft.com/office/drawing/2014/main" id="{63227097-BDCA-E9B6-997B-41B67E4A5300}"/>
                </a:ext>
              </a:extLst>
            </p:cNvPr>
            <p:cNvSpPr txBox="1"/>
            <p:nvPr/>
          </p:nvSpPr>
          <p:spPr>
            <a:xfrm>
              <a:off x="714425" y="525736"/>
              <a:ext cx="4117041" cy="316719"/>
            </a:xfrm>
            <a:prstGeom prst="rect">
              <a:avLst/>
            </a:prstGeom>
          </p:spPr>
          <p:txBody>
            <a:bodyPr lIns="0" tIns="0" rIns="0" bIns="0" rtlCol="0" anchor="t">
              <a:spAutoFit/>
            </a:bodyPr>
            <a:lstStyle/>
            <a:p>
              <a:pPr marL="0" marR="0" lvl="0" indent="0" algn="l" defTabSz="914400" rtl="0" eaLnBrk="1" fontAlgn="auto" latinLnBrk="0" hangingPunct="1">
                <a:lnSpc>
                  <a:spcPts val="1691"/>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grpSp>
      <p:sp>
        <p:nvSpPr>
          <p:cNvPr id="14" name="TextBox 36">
            <a:extLst>
              <a:ext uri="{FF2B5EF4-FFF2-40B4-BE49-F238E27FC236}">
                <a16:creationId xmlns:a16="http://schemas.microsoft.com/office/drawing/2014/main" id="{4C474F1B-5A0E-1A19-9568-8F287DD1EE56}"/>
              </a:ext>
            </a:extLst>
          </p:cNvPr>
          <p:cNvSpPr txBox="1"/>
          <p:nvPr/>
        </p:nvSpPr>
        <p:spPr>
          <a:xfrm>
            <a:off x="118611" y="5213532"/>
            <a:ext cx="6102246" cy="987258"/>
          </a:xfrm>
          <a:prstGeom prst="rect">
            <a:avLst/>
          </a:prstGeom>
        </p:spPr>
        <p:txBody>
          <a:bodyPr wrap="square" lIns="0" tIns="0" rIns="0" bIns="0" rtlCol="0" anchor="t">
            <a:spAutoFit/>
          </a:bodyPr>
          <a:lstStyle/>
          <a:p>
            <a:pPr marL="0" marR="0" lvl="0" indent="0" algn="l" defTabSz="914400" rtl="0" eaLnBrk="1" fontAlgn="auto" latinLnBrk="0" hangingPunct="1">
              <a:lnSpc>
                <a:spcPts val="2709"/>
              </a:lnSpc>
              <a:spcBef>
                <a:spcPts val="0"/>
              </a:spcBef>
              <a:spcAft>
                <a:spcPts val="0"/>
              </a:spcAft>
              <a:buClrTx/>
              <a:buSzTx/>
              <a:buFontTx/>
              <a:buNone/>
              <a:tabLst/>
              <a:defRPr/>
            </a:pPr>
            <a:r>
              <a:rPr kumimoji="0" lang="en-US" sz="1200" b="0" i="0" u="none" strike="noStrike" kern="1200" cap="none" spc="120" normalizeH="0" baseline="0" noProof="0" dirty="0">
                <a:ln>
                  <a:noFill/>
                </a:ln>
                <a:solidFill>
                  <a:srgbClr val="000000"/>
                </a:solidFill>
                <a:effectLst/>
                <a:uLnTx/>
                <a:uFillTx/>
                <a:latin typeface="Calibri" panose="020F0502020204030204" pitchFamily="34" charset="0"/>
                <a:cs typeface="Calibri" panose="020F0502020204030204" pitchFamily="34" charset="0"/>
              </a:rPr>
              <a:t>1 SCOOP DE PROTEÍNA CON AGUA O LECHE VEGETAL</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latin typeface="Calibri" panose="020F0502020204030204" pitchFamily="34" charset="0"/>
                <a:cs typeface="Calibri" panose="020F0502020204030204" pitchFamily="34" charset="0"/>
              </a:rPr>
              <a:t>¼ TAZA (20 G) DE GRANOLA</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latin typeface="Calibri" panose="020F0502020204030204" pitchFamily="34" charset="0"/>
                <a:cs typeface="Calibri" panose="020F0502020204030204" pitchFamily="34" charset="0"/>
              </a:rPr>
              <a:t>1 CAMBUR</a:t>
            </a:r>
          </a:p>
        </p:txBody>
      </p:sp>
      <p:sp>
        <p:nvSpPr>
          <p:cNvPr id="15" name="TextBox 37">
            <a:extLst>
              <a:ext uri="{FF2B5EF4-FFF2-40B4-BE49-F238E27FC236}">
                <a16:creationId xmlns:a16="http://schemas.microsoft.com/office/drawing/2014/main" id="{C9144052-042A-5165-E00B-6507D203211C}"/>
              </a:ext>
            </a:extLst>
          </p:cNvPr>
          <p:cNvSpPr txBox="1"/>
          <p:nvPr/>
        </p:nvSpPr>
        <p:spPr>
          <a:xfrm>
            <a:off x="113246" y="3951303"/>
            <a:ext cx="6362416" cy="987258"/>
          </a:xfrm>
          <a:prstGeom prst="rect">
            <a:avLst/>
          </a:prstGeom>
        </p:spPr>
        <p:txBody>
          <a:bodyPr wrap="square" lIns="0" tIns="0" rIns="0" bIns="0" rtlCol="0" anchor="t">
            <a:spAutoFit/>
          </a:bodyPr>
          <a:lstStyle/>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1 BISTEC GRANDE (</a:t>
            </a:r>
            <a:r>
              <a:rPr lang="en-US" sz="1200" spc="119" dirty="0">
                <a:solidFill>
                  <a:srgbClr val="000000"/>
                </a:solidFill>
                <a:latin typeface="Calibri" panose="020F0502020204030204" pitchFamily="34" charset="0"/>
                <a:cs typeface="Calibri" panose="020F0502020204030204" pitchFamily="34" charset="0"/>
              </a:rPr>
              <a:t>180</a:t>
            </a: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 G COCIDO-2</a:t>
            </a:r>
            <a:r>
              <a:rPr lang="en-US" sz="1200" spc="119" dirty="0">
                <a:solidFill>
                  <a:srgbClr val="000000"/>
                </a:solidFill>
                <a:latin typeface="Calibri" panose="020F0502020204030204" pitchFamily="34" charset="0"/>
                <a:cs typeface="Calibri" panose="020F0502020204030204" pitchFamily="34" charset="0"/>
              </a:rPr>
              <a:t>1</a:t>
            </a: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0 CRUDO)</a:t>
            </a:r>
          </a:p>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160 G DE BATATA HORNEADA</a:t>
            </a:r>
          </a:p>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2 TAZAS DE ENSALADA CRUDA</a:t>
            </a:r>
          </a:p>
        </p:txBody>
      </p:sp>
      <p:grpSp>
        <p:nvGrpSpPr>
          <p:cNvPr id="16" name="Group 38">
            <a:extLst>
              <a:ext uri="{FF2B5EF4-FFF2-40B4-BE49-F238E27FC236}">
                <a16:creationId xmlns:a16="http://schemas.microsoft.com/office/drawing/2014/main" id="{E722A3D8-03DE-45B6-0F03-3BFDF298F2D8}"/>
              </a:ext>
            </a:extLst>
          </p:cNvPr>
          <p:cNvGrpSpPr/>
          <p:nvPr/>
        </p:nvGrpSpPr>
        <p:grpSpPr>
          <a:xfrm>
            <a:off x="118611" y="4879234"/>
            <a:ext cx="2978363" cy="621257"/>
            <a:chOff x="-142803" y="17939"/>
            <a:chExt cx="5110765" cy="796797"/>
          </a:xfrm>
        </p:grpSpPr>
        <p:sp>
          <p:nvSpPr>
            <p:cNvPr id="17" name="TextBox 39">
              <a:extLst>
                <a:ext uri="{FF2B5EF4-FFF2-40B4-BE49-F238E27FC236}">
                  <a16:creationId xmlns:a16="http://schemas.microsoft.com/office/drawing/2014/main" id="{7A3B6873-4640-C54E-5695-C9DBC4866A8E}"/>
                </a:ext>
              </a:extLst>
            </p:cNvPr>
            <p:cNvSpPr txBox="1"/>
            <p:nvPr/>
          </p:nvSpPr>
          <p:spPr>
            <a:xfrm>
              <a:off x="-142803" y="17939"/>
              <a:ext cx="4967961" cy="531531"/>
            </a:xfrm>
            <a:prstGeom prst="rect">
              <a:avLst/>
            </a:prstGeom>
          </p:spPr>
          <p:txBody>
            <a:bodyPr lIns="0" tIns="0" rIns="0" bIns="0" rtlCol="0" anchor="t">
              <a:spAutoFit/>
            </a:bodyPr>
            <a:lstStyle/>
            <a:p>
              <a:pPr marL="0" marR="0" lvl="0" indent="0" algn="l" defTabSz="914400" rtl="0" eaLnBrk="1" fontAlgn="auto" latinLnBrk="0" hangingPunct="1">
                <a:lnSpc>
                  <a:spcPts val="3056"/>
                </a:lnSpc>
                <a:spcBef>
                  <a:spcPct val="0"/>
                </a:spcBef>
                <a:spcAft>
                  <a:spcPts val="0"/>
                </a:spcAft>
                <a:buClrTx/>
                <a:buSzTx/>
                <a:buFontTx/>
                <a:buNone/>
                <a:tabLst/>
                <a:defRPr/>
              </a:pPr>
              <a:r>
                <a:rPr kumimoji="0" lang="en-US" b="1" i="0" u="none" strike="noStrike" kern="1200" cap="none" spc="436" normalizeH="0" baseline="0" noProof="0" dirty="0">
                  <a:ln>
                    <a:noFill/>
                  </a:ln>
                  <a:solidFill>
                    <a:srgbClr val="DD311F"/>
                  </a:solidFill>
                  <a:effectLst/>
                  <a:uLnTx/>
                  <a:uFillTx/>
                  <a:latin typeface="Lovelo Bold"/>
                  <a:ea typeface="+mn-ea"/>
                  <a:cs typeface="+mn-cs"/>
                </a:rPr>
                <a:t>MERIENDA</a:t>
              </a:r>
              <a:r>
                <a:rPr kumimoji="0" lang="en-US" b="0" i="0" u="none" strike="noStrike" kern="1200" cap="none" spc="436" normalizeH="0" baseline="0" noProof="0" dirty="0">
                  <a:ln>
                    <a:noFill/>
                  </a:ln>
                  <a:solidFill>
                    <a:srgbClr val="DD311F"/>
                  </a:solidFill>
                  <a:effectLst/>
                  <a:uLnTx/>
                  <a:uFillTx/>
                  <a:latin typeface="Lovelo Bold"/>
                  <a:ea typeface="+mn-ea"/>
                  <a:cs typeface="+mn-cs"/>
                </a:rPr>
                <a:t> </a:t>
              </a:r>
              <a:r>
                <a:rPr kumimoji="0" lang="en-US" b="1" i="0" u="none" strike="noStrike" kern="1200" cap="none" spc="436" normalizeH="0" baseline="0" noProof="0" dirty="0">
                  <a:ln>
                    <a:noFill/>
                  </a:ln>
                  <a:solidFill>
                    <a:srgbClr val="DD311F"/>
                  </a:solidFill>
                  <a:effectLst/>
                  <a:uLnTx/>
                  <a:uFillTx/>
                  <a:latin typeface="Lovelo Bold"/>
                  <a:ea typeface="+mn-ea"/>
                  <a:cs typeface="+mn-cs"/>
                </a:rPr>
                <a:t>TARDE</a:t>
              </a:r>
            </a:p>
          </p:txBody>
        </p:sp>
        <p:sp>
          <p:nvSpPr>
            <p:cNvPr id="18" name="TextBox 40">
              <a:extLst>
                <a:ext uri="{FF2B5EF4-FFF2-40B4-BE49-F238E27FC236}">
                  <a16:creationId xmlns:a16="http://schemas.microsoft.com/office/drawing/2014/main" id="{A3F1F76F-F4A7-4114-3420-A2F537583ADC}"/>
                </a:ext>
              </a:extLst>
            </p:cNvPr>
            <p:cNvSpPr txBox="1"/>
            <p:nvPr/>
          </p:nvSpPr>
          <p:spPr>
            <a:xfrm>
              <a:off x="0" y="510870"/>
              <a:ext cx="640170"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sp>
          <p:nvSpPr>
            <p:cNvPr id="19" name="TextBox 41">
              <a:extLst>
                <a:ext uri="{FF2B5EF4-FFF2-40B4-BE49-F238E27FC236}">
                  <a16:creationId xmlns:a16="http://schemas.microsoft.com/office/drawing/2014/main" id="{DE92B9A6-518D-251E-3E89-3505906B6867}"/>
                </a:ext>
              </a:extLst>
            </p:cNvPr>
            <p:cNvSpPr txBox="1"/>
            <p:nvPr/>
          </p:nvSpPr>
          <p:spPr>
            <a:xfrm>
              <a:off x="679548" y="510870"/>
              <a:ext cx="4288414"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grpSp>
      <p:sp>
        <p:nvSpPr>
          <p:cNvPr id="20" name="TextBox 42">
            <a:extLst>
              <a:ext uri="{FF2B5EF4-FFF2-40B4-BE49-F238E27FC236}">
                <a16:creationId xmlns:a16="http://schemas.microsoft.com/office/drawing/2014/main" id="{269A37D7-FCB9-1C5D-6646-59F9DCDAD6DB}"/>
              </a:ext>
            </a:extLst>
          </p:cNvPr>
          <p:cNvSpPr txBox="1"/>
          <p:nvPr/>
        </p:nvSpPr>
        <p:spPr>
          <a:xfrm>
            <a:off x="175775" y="1010875"/>
            <a:ext cx="6270829" cy="1333507"/>
          </a:xfrm>
          <a:prstGeom prst="rect">
            <a:avLst/>
          </a:prstGeom>
        </p:spPr>
        <p:txBody>
          <a:bodyPr wrap="square" lIns="0" tIns="0" rIns="0" bIns="0" rtlCol="0" anchor="t">
            <a:spAutoFit/>
          </a:bodyPr>
          <a:lstStyle/>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rPr>
              <a:t>60 G DE PAN DE MASA MADRE</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rPr>
              <a:t>3</a:t>
            </a:r>
            <a:r>
              <a:rPr kumimoji="0" lang="en-US" sz="1200" b="0" i="0" u="none" strike="noStrike" kern="1200" cap="none" spc="120" normalizeH="0" baseline="0" noProof="0" dirty="0">
                <a:ln>
                  <a:noFill/>
                </a:ln>
                <a:solidFill>
                  <a:srgbClr val="000000"/>
                </a:solidFill>
                <a:effectLst/>
                <a:uLnTx/>
                <a:uFillTx/>
                <a:ea typeface="+mn-ea"/>
                <a:cs typeface="+mn-cs"/>
              </a:rPr>
              <a:t> HUEVOS ENTEROS EN TORTILLA + 2</a:t>
            </a:r>
            <a:r>
              <a:rPr lang="en-US" sz="1200" spc="120" dirty="0">
                <a:solidFill>
                  <a:srgbClr val="000000"/>
                </a:solidFill>
              </a:rPr>
              <a:t> LONJAS DE JAMÓN (60 G)</a:t>
            </a:r>
          </a:p>
          <a:p>
            <a:pPr marL="0" marR="0" lvl="0" indent="0" algn="l" defTabSz="914400" rtl="0" eaLnBrk="1" fontAlgn="auto" latinLnBrk="0" hangingPunct="1">
              <a:lnSpc>
                <a:spcPts val="2709"/>
              </a:lnSpc>
              <a:spcBef>
                <a:spcPts val="0"/>
              </a:spcBef>
              <a:spcAft>
                <a:spcPts val="0"/>
              </a:spcAft>
              <a:buClrTx/>
              <a:buSzTx/>
              <a:buFontTx/>
              <a:buNone/>
              <a:tabLst/>
              <a:defRPr/>
            </a:pPr>
            <a:r>
              <a:rPr kumimoji="0" lang="en-US" sz="1200" b="0" i="0" u="none" strike="noStrike" kern="1200" cap="none" spc="120" normalizeH="0" baseline="0" noProof="0" dirty="0">
                <a:ln>
                  <a:noFill/>
                </a:ln>
                <a:solidFill>
                  <a:srgbClr val="000000"/>
                </a:solidFill>
                <a:effectLst/>
                <a:uLnTx/>
                <a:uFillTx/>
                <a:ea typeface="+mn-ea"/>
                <a:cs typeface="+mn-cs"/>
              </a:rPr>
              <a:t>1 MANZANA</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rPr>
              <a:t>1 LONJA DE AGUACATE (30 G)</a:t>
            </a:r>
            <a:endParaRPr kumimoji="0" lang="en-US" sz="1200" b="0" i="0" u="none" strike="noStrike" kern="1200" cap="none" spc="120" normalizeH="0" baseline="0" noProof="0" dirty="0">
              <a:ln>
                <a:noFill/>
              </a:ln>
              <a:solidFill>
                <a:srgbClr val="000000"/>
              </a:solidFill>
              <a:effectLst/>
              <a:uLnTx/>
              <a:uFillTx/>
              <a:ea typeface="+mn-ea"/>
              <a:cs typeface="+mn-cs"/>
            </a:endParaRPr>
          </a:p>
        </p:txBody>
      </p:sp>
      <p:grpSp>
        <p:nvGrpSpPr>
          <p:cNvPr id="21" name="Group 43">
            <a:extLst>
              <a:ext uri="{FF2B5EF4-FFF2-40B4-BE49-F238E27FC236}">
                <a16:creationId xmlns:a16="http://schemas.microsoft.com/office/drawing/2014/main" id="{CF7331D6-E677-C140-F47A-FA12311C2C23}"/>
              </a:ext>
            </a:extLst>
          </p:cNvPr>
          <p:cNvGrpSpPr/>
          <p:nvPr/>
        </p:nvGrpSpPr>
        <p:grpSpPr>
          <a:xfrm>
            <a:off x="168927" y="615540"/>
            <a:ext cx="2928047" cy="45719"/>
            <a:chOff x="-56463" y="510870"/>
            <a:chExt cx="5024425" cy="2239070"/>
          </a:xfrm>
        </p:grpSpPr>
        <p:sp>
          <p:nvSpPr>
            <p:cNvPr id="22" name="TextBox 44">
              <a:extLst>
                <a:ext uri="{FF2B5EF4-FFF2-40B4-BE49-F238E27FC236}">
                  <a16:creationId xmlns:a16="http://schemas.microsoft.com/office/drawing/2014/main" id="{E47992A6-5D74-E7EB-FFC4-424282168C84}"/>
                </a:ext>
              </a:extLst>
            </p:cNvPr>
            <p:cNvSpPr txBox="1"/>
            <p:nvPr/>
          </p:nvSpPr>
          <p:spPr>
            <a:xfrm>
              <a:off x="-56463" y="2218410"/>
              <a:ext cx="4967961" cy="531530"/>
            </a:xfrm>
            <a:prstGeom prst="rect">
              <a:avLst/>
            </a:prstGeom>
          </p:spPr>
          <p:txBody>
            <a:bodyPr lIns="0" tIns="0" rIns="0" bIns="0" rtlCol="0" anchor="t">
              <a:spAutoFit/>
            </a:bodyPr>
            <a:lstStyle/>
            <a:p>
              <a:pPr marL="0" marR="0" lvl="0" indent="0" algn="l" defTabSz="914400" rtl="0" eaLnBrk="1" fontAlgn="auto" latinLnBrk="0" hangingPunct="1">
                <a:lnSpc>
                  <a:spcPts val="3056"/>
                </a:lnSpc>
                <a:spcBef>
                  <a:spcPct val="0"/>
                </a:spcBef>
                <a:spcAft>
                  <a:spcPts val="0"/>
                </a:spcAft>
                <a:buClrTx/>
                <a:buSzTx/>
                <a:buFontTx/>
                <a:buNone/>
                <a:tabLst/>
                <a:defRPr/>
              </a:pPr>
              <a:r>
                <a:rPr kumimoji="0" lang="en-US" b="1" i="0" u="none" strike="noStrike" kern="1200" cap="none" spc="436" normalizeH="0" baseline="0" noProof="0" dirty="0">
                  <a:ln>
                    <a:noFill/>
                  </a:ln>
                  <a:solidFill>
                    <a:srgbClr val="004AAD"/>
                  </a:solidFill>
                  <a:effectLst/>
                  <a:uLnTx/>
                  <a:uFillTx/>
                  <a:latin typeface="Lovelo Bold"/>
                  <a:ea typeface="+mn-ea"/>
                  <a:cs typeface="+mn-cs"/>
                </a:rPr>
                <a:t>DESAYUNO</a:t>
              </a:r>
            </a:p>
          </p:txBody>
        </p:sp>
        <p:sp>
          <p:nvSpPr>
            <p:cNvPr id="23" name="TextBox 45">
              <a:extLst>
                <a:ext uri="{FF2B5EF4-FFF2-40B4-BE49-F238E27FC236}">
                  <a16:creationId xmlns:a16="http://schemas.microsoft.com/office/drawing/2014/main" id="{30CF9149-5BA9-F2BD-8161-4D82CDABE457}"/>
                </a:ext>
              </a:extLst>
            </p:cNvPr>
            <p:cNvSpPr txBox="1"/>
            <p:nvPr/>
          </p:nvSpPr>
          <p:spPr>
            <a:xfrm>
              <a:off x="0" y="510870"/>
              <a:ext cx="640170"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sp>
          <p:nvSpPr>
            <p:cNvPr id="24" name="TextBox 46">
              <a:extLst>
                <a:ext uri="{FF2B5EF4-FFF2-40B4-BE49-F238E27FC236}">
                  <a16:creationId xmlns:a16="http://schemas.microsoft.com/office/drawing/2014/main" id="{1AF07364-8287-1A02-54C7-4CE2689F6508}"/>
                </a:ext>
              </a:extLst>
            </p:cNvPr>
            <p:cNvSpPr txBox="1"/>
            <p:nvPr/>
          </p:nvSpPr>
          <p:spPr>
            <a:xfrm>
              <a:off x="679548" y="510870"/>
              <a:ext cx="4288414"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grpSp>
      <p:sp>
        <p:nvSpPr>
          <p:cNvPr id="25" name="TextBox 36">
            <a:extLst>
              <a:ext uri="{FF2B5EF4-FFF2-40B4-BE49-F238E27FC236}">
                <a16:creationId xmlns:a16="http://schemas.microsoft.com/office/drawing/2014/main" id="{042E7AE9-207A-2494-F221-B42E38CD54EE}"/>
              </a:ext>
            </a:extLst>
          </p:cNvPr>
          <p:cNvSpPr txBox="1"/>
          <p:nvPr/>
        </p:nvSpPr>
        <p:spPr>
          <a:xfrm>
            <a:off x="133355" y="2716162"/>
            <a:ext cx="6102246" cy="987258"/>
          </a:xfrm>
          <a:prstGeom prst="rect">
            <a:avLst/>
          </a:prstGeom>
        </p:spPr>
        <p:txBody>
          <a:bodyPr wrap="square" lIns="0" tIns="0" rIns="0" bIns="0" rtlCol="0" anchor="t">
            <a:spAutoFit/>
          </a:bodyPr>
          <a:lstStyle/>
          <a:p>
            <a:pPr marL="0" marR="0" lvl="0" indent="0" algn="l" defTabSz="914400" rtl="0" eaLnBrk="1" fontAlgn="auto" latinLnBrk="0" hangingPunct="1">
              <a:lnSpc>
                <a:spcPts val="2709"/>
              </a:lnSpc>
              <a:spcBef>
                <a:spcPts val="0"/>
              </a:spcBef>
              <a:spcAft>
                <a:spcPts val="0"/>
              </a:spcAft>
              <a:buClrTx/>
              <a:buSzTx/>
              <a:buFontTx/>
              <a:buNone/>
              <a:tabLst/>
              <a:defRPr/>
            </a:pPr>
            <a:r>
              <a:rPr kumimoji="0" lang="en-US" sz="1200" b="0" i="0" u="none" strike="noStrike" kern="1200" cap="none" spc="120" normalizeH="0" baseline="0" noProof="0" dirty="0">
                <a:ln>
                  <a:noFill/>
                </a:ln>
                <a:solidFill>
                  <a:srgbClr val="000000"/>
                </a:solidFill>
                <a:effectLst/>
                <a:uLnTx/>
                <a:uFillTx/>
                <a:latin typeface="Calibri" panose="020F0502020204030204" pitchFamily="34" charset="0"/>
                <a:cs typeface="Calibri" panose="020F0502020204030204" pitchFamily="34" charset="0"/>
              </a:rPr>
              <a:t>1 SCOOP DE PROTEÍNA CON AGUA O LECHE VEGETAL</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latin typeface="Calibri" panose="020F0502020204030204" pitchFamily="34" charset="0"/>
                <a:cs typeface="Calibri" panose="020F0502020204030204" pitchFamily="34" charset="0"/>
              </a:rPr>
              <a:t>¼ TAZA (20 G) DE GRANOLA</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latin typeface="Calibri" panose="020F0502020204030204" pitchFamily="34" charset="0"/>
                <a:cs typeface="Calibri" panose="020F0502020204030204" pitchFamily="34" charset="0"/>
              </a:rPr>
              <a:t>1 CAMBUR</a:t>
            </a:r>
          </a:p>
        </p:txBody>
      </p:sp>
      <p:grpSp>
        <p:nvGrpSpPr>
          <p:cNvPr id="26" name="Group 38">
            <a:extLst>
              <a:ext uri="{FF2B5EF4-FFF2-40B4-BE49-F238E27FC236}">
                <a16:creationId xmlns:a16="http://schemas.microsoft.com/office/drawing/2014/main" id="{66B0A88C-4A5A-62F3-38BA-02D7A1D82DC9}"/>
              </a:ext>
            </a:extLst>
          </p:cNvPr>
          <p:cNvGrpSpPr/>
          <p:nvPr/>
        </p:nvGrpSpPr>
        <p:grpSpPr>
          <a:xfrm>
            <a:off x="113246" y="2426149"/>
            <a:ext cx="2957672" cy="1223475"/>
            <a:chOff x="-107298" y="-754439"/>
            <a:chExt cx="5075260" cy="1569175"/>
          </a:xfrm>
        </p:grpSpPr>
        <p:sp>
          <p:nvSpPr>
            <p:cNvPr id="27" name="TextBox 39">
              <a:extLst>
                <a:ext uri="{FF2B5EF4-FFF2-40B4-BE49-F238E27FC236}">
                  <a16:creationId xmlns:a16="http://schemas.microsoft.com/office/drawing/2014/main" id="{FB6A0D80-FB6F-DF93-EAA5-875109C6CE06}"/>
                </a:ext>
              </a:extLst>
            </p:cNvPr>
            <p:cNvSpPr txBox="1"/>
            <p:nvPr/>
          </p:nvSpPr>
          <p:spPr>
            <a:xfrm>
              <a:off x="-107298" y="-754439"/>
              <a:ext cx="4967961" cy="460531"/>
            </a:xfrm>
            <a:prstGeom prst="rect">
              <a:avLst/>
            </a:prstGeom>
          </p:spPr>
          <p:txBody>
            <a:bodyPr lIns="0" tIns="0" rIns="0" bIns="0" rtlCol="0" anchor="t">
              <a:spAutoFit/>
            </a:bodyPr>
            <a:lstStyle/>
            <a:p>
              <a:pPr marL="0" marR="0" lvl="0" indent="0" algn="l" defTabSz="914400" rtl="0" eaLnBrk="1" fontAlgn="auto" latinLnBrk="0" hangingPunct="1">
                <a:lnSpc>
                  <a:spcPts val="3056"/>
                </a:lnSpc>
                <a:spcBef>
                  <a:spcPct val="0"/>
                </a:spcBef>
                <a:spcAft>
                  <a:spcPts val="0"/>
                </a:spcAft>
                <a:buClrTx/>
                <a:buSzTx/>
                <a:buFontTx/>
                <a:buNone/>
                <a:tabLst/>
                <a:defRPr/>
              </a:pPr>
              <a:r>
                <a:rPr kumimoji="0" lang="en-US" b="1" i="0" u="none" strike="noStrike" kern="1200" cap="none" spc="436" normalizeH="0" baseline="0" noProof="0">
                  <a:ln>
                    <a:noFill/>
                  </a:ln>
                  <a:solidFill>
                    <a:srgbClr val="DD311F"/>
                  </a:solidFill>
                  <a:effectLst/>
                  <a:uLnTx/>
                  <a:uFillTx/>
                  <a:latin typeface="Lovelo Bold"/>
                  <a:ea typeface="+mn-ea"/>
                  <a:cs typeface="+mn-cs"/>
                </a:rPr>
                <a:t>MERIENDA </a:t>
              </a:r>
              <a:r>
                <a:rPr lang="en-US" b="1" spc="436">
                  <a:solidFill>
                    <a:srgbClr val="DD311F"/>
                  </a:solidFill>
                  <a:latin typeface="Lovelo Bold"/>
                </a:rPr>
                <a:t>MAÑANA</a:t>
              </a:r>
              <a:endParaRPr kumimoji="0" lang="en-US" b="1" i="0" u="none" strike="noStrike" kern="1200" cap="none" spc="436" normalizeH="0" baseline="0" noProof="0" dirty="0">
                <a:ln>
                  <a:noFill/>
                </a:ln>
                <a:solidFill>
                  <a:srgbClr val="DD311F"/>
                </a:solidFill>
                <a:effectLst/>
                <a:uLnTx/>
                <a:uFillTx/>
                <a:latin typeface="Lovelo Bold"/>
                <a:ea typeface="+mn-ea"/>
                <a:cs typeface="+mn-cs"/>
              </a:endParaRPr>
            </a:p>
          </p:txBody>
        </p:sp>
        <p:sp>
          <p:nvSpPr>
            <p:cNvPr id="28" name="TextBox 40">
              <a:extLst>
                <a:ext uri="{FF2B5EF4-FFF2-40B4-BE49-F238E27FC236}">
                  <a16:creationId xmlns:a16="http://schemas.microsoft.com/office/drawing/2014/main" id="{76CC025B-65CF-DEBD-86F1-2480AED88E3B}"/>
                </a:ext>
              </a:extLst>
            </p:cNvPr>
            <p:cNvSpPr txBox="1"/>
            <p:nvPr/>
          </p:nvSpPr>
          <p:spPr>
            <a:xfrm>
              <a:off x="0" y="510870"/>
              <a:ext cx="640170"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sp>
          <p:nvSpPr>
            <p:cNvPr id="29" name="TextBox 41">
              <a:extLst>
                <a:ext uri="{FF2B5EF4-FFF2-40B4-BE49-F238E27FC236}">
                  <a16:creationId xmlns:a16="http://schemas.microsoft.com/office/drawing/2014/main" id="{D2C0358D-AF62-58B2-F923-01905ECEFE2D}"/>
                </a:ext>
              </a:extLst>
            </p:cNvPr>
            <p:cNvSpPr txBox="1"/>
            <p:nvPr/>
          </p:nvSpPr>
          <p:spPr>
            <a:xfrm>
              <a:off x="679548" y="510870"/>
              <a:ext cx="4288414"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grpSp>
      <p:cxnSp>
        <p:nvCxnSpPr>
          <p:cNvPr id="31" name="Conector recto 30">
            <a:extLst>
              <a:ext uri="{FF2B5EF4-FFF2-40B4-BE49-F238E27FC236}">
                <a16:creationId xmlns:a16="http://schemas.microsoft.com/office/drawing/2014/main" id="{E9A352A4-5DB5-89C3-1085-8A59F5D702F9}"/>
              </a:ext>
            </a:extLst>
          </p:cNvPr>
          <p:cNvCxnSpPr/>
          <p:nvPr/>
        </p:nvCxnSpPr>
        <p:spPr>
          <a:xfrm>
            <a:off x="122447" y="2426149"/>
            <a:ext cx="47408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Conector recto 31">
            <a:extLst>
              <a:ext uri="{FF2B5EF4-FFF2-40B4-BE49-F238E27FC236}">
                <a16:creationId xmlns:a16="http://schemas.microsoft.com/office/drawing/2014/main" id="{97679492-B92A-A174-B1C6-DFD0B48E928F}"/>
              </a:ext>
            </a:extLst>
          </p:cNvPr>
          <p:cNvCxnSpPr/>
          <p:nvPr/>
        </p:nvCxnSpPr>
        <p:spPr>
          <a:xfrm>
            <a:off x="133355" y="3711162"/>
            <a:ext cx="47408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Conector recto 32">
            <a:extLst>
              <a:ext uri="{FF2B5EF4-FFF2-40B4-BE49-F238E27FC236}">
                <a16:creationId xmlns:a16="http://schemas.microsoft.com/office/drawing/2014/main" id="{ADBFED3F-917C-0DAC-FB40-73D73DAAF30D}"/>
              </a:ext>
            </a:extLst>
          </p:cNvPr>
          <p:cNvCxnSpPr/>
          <p:nvPr/>
        </p:nvCxnSpPr>
        <p:spPr>
          <a:xfrm>
            <a:off x="122446" y="4963998"/>
            <a:ext cx="47408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Conector recto 33">
            <a:extLst>
              <a:ext uri="{FF2B5EF4-FFF2-40B4-BE49-F238E27FC236}">
                <a16:creationId xmlns:a16="http://schemas.microsoft.com/office/drawing/2014/main" id="{2D1333EE-EB77-7098-842A-2DA1EC78BCAA}"/>
              </a:ext>
            </a:extLst>
          </p:cNvPr>
          <p:cNvCxnSpPr/>
          <p:nvPr/>
        </p:nvCxnSpPr>
        <p:spPr>
          <a:xfrm>
            <a:off x="113246" y="6242841"/>
            <a:ext cx="4740855" cy="0"/>
          </a:xfrm>
          <a:prstGeom prst="line">
            <a:avLst/>
          </a:prstGeom>
        </p:spPr>
        <p:style>
          <a:lnRef idx="1">
            <a:schemeClr val="accent1"/>
          </a:lnRef>
          <a:fillRef idx="0">
            <a:schemeClr val="accent1"/>
          </a:fillRef>
          <a:effectRef idx="0">
            <a:schemeClr val="accent1"/>
          </a:effectRef>
          <a:fontRef idx="minor">
            <a:schemeClr val="tx1"/>
          </a:fontRef>
        </p:style>
      </p:cxnSp>
      <p:sp>
        <p:nvSpPr>
          <p:cNvPr id="30" name="Freeform 19">
            <a:extLst>
              <a:ext uri="{FF2B5EF4-FFF2-40B4-BE49-F238E27FC236}">
                <a16:creationId xmlns:a16="http://schemas.microsoft.com/office/drawing/2014/main" id="{880B21CF-DEAE-1781-CD38-60783788FD95}"/>
              </a:ext>
            </a:extLst>
          </p:cNvPr>
          <p:cNvSpPr/>
          <p:nvPr/>
        </p:nvSpPr>
        <p:spPr>
          <a:xfrm>
            <a:off x="297044" y="8055927"/>
            <a:ext cx="997534" cy="449671"/>
          </a:xfrm>
          <a:custGeom>
            <a:avLst/>
            <a:gdLst/>
            <a:ahLst/>
            <a:cxnLst/>
            <a:rect l="l" t="t" r="r" b="b"/>
            <a:pathLst>
              <a:path w="1213592" h="585558">
                <a:moveTo>
                  <a:pt x="0" y="0"/>
                </a:moveTo>
                <a:lnTo>
                  <a:pt x="1213592" y="0"/>
                </a:lnTo>
                <a:lnTo>
                  <a:pt x="1213592" y="585559"/>
                </a:lnTo>
                <a:lnTo>
                  <a:pt x="0" y="585559"/>
                </a:lnTo>
                <a:lnTo>
                  <a:pt x="0" y="0"/>
                </a:lnTo>
                <a:close/>
              </a:path>
            </a:pathLst>
          </a:custGeom>
          <a:blipFill>
            <a:blip r:embed="rId3"/>
            <a:stretch>
              <a:fillRect/>
            </a:stretch>
          </a:blipFill>
        </p:spPr>
      </p:sp>
      <p:cxnSp>
        <p:nvCxnSpPr>
          <p:cNvPr id="35" name="Conector recto 34">
            <a:extLst>
              <a:ext uri="{FF2B5EF4-FFF2-40B4-BE49-F238E27FC236}">
                <a16:creationId xmlns:a16="http://schemas.microsoft.com/office/drawing/2014/main" id="{22A49B40-8313-72F5-A658-E190BF01DEC8}"/>
              </a:ext>
            </a:extLst>
          </p:cNvPr>
          <p:cNvCxnSpPr>
            <a:cxnSpLocks/>
          </p:cNvCxnSpPr>
          <p:nvPr/>
        </p:nvCxnSpPr>
        <p:spPr>
          <a:xfrm>
            <a:off x="113246" y="7805297"/>
            <a:ext cx="6553356" cy="0"/>
          </a:xfrm>
          <a:prstGeom prst="line">
            <a:avLst/>
          </a:prstGeom>
        </p:spPr>
        <p:style>
          <a:lnRef idx="1">
            <a:schemeClr val="accent1"/>
          </a:lnRef>
          <a:fillRef idx="0">
            <a:schemeClr val="accent1"/>
          </a:fillRef>
          <a:effectRef idx="0">
            <a:schemeClr val="accent1"/>
          </a:effectRef>
          <a:fontRef idx="minor">
            <a:schemeClr val="tx1"/>
          </a:fontRef>
        </p:style>
      </p:cxnSp>
      <p:sp>
        <p:nvSpPr>
          <p:cNvPr id="36" name="TextBox 39">
            <a:extLst>
              <a:ext uri="{FF2B5EF4-FFF2-40B4-BE49-F238E27FC236}">
                <a16:creationId xmlns:a16="http://schemas.microsoft.com/office/drawing/2014/main" id="{A15810CE-D448-1986-E89F-2D1FB63495E3}"/>
              </a:ext>
            </a:extLst>
          </p:cNvPr>
          <p:cNvSpPr txBox="1"/>
          <p:nvPr/>
        </p:nvSpPr>
        <p:spPr>
          <a:xfrm>
            <a:off x="1415730" y="7855002"/>
            <a:ext cx="4951831" cy="743089"/>
          </a:xfrm>
          <a:prstGeom prst="rect">
            <a:avLst/>
          </a:prstGeom>
          <a:solidFill>
            <a:schemeClr val="bg1"/>
          </a:solidFill>
        </p:spPr>
        <p:txBody>
          <a:bodyPr wrap="square" lIns="0" tIns="0" rIns="0" bIns="0" rtlCol="0" anchor="t">
            <a:spAutoFit/>
          </a:bodyPr>
          <a:lstStyle/>
          <a:p>
            <a:pPr marL="0" marR="0" lvl="0" indent="0" algn="ctr" defTabSz="914400" rtl="0" eaLnBrk="1" fontAlgn="auto" latinLnBrk="0" hangingPunct="1">
              <a:lnSpc>
                <a:spcPts val="3056"/>
              </a:lnSpc>
              <a:spcBef>
                <a:spcPct val="0"/>
              </a:spcBef>
              <a:spcAft>
                <a:spcPts val="0"/>
              </a:spcAft>
              <a:buClrTx/>
              <a:buSzTx/>
              <a:buFontTx/>
              <a:buNone/>
              <a:tabLst/>
              <a:defRPr/>
            </a:pPr>
            <a:r>
              <a:rPr lang="en-US" sz="1400" b="1" spc="436" dirty="0">
                <a:solidFill>
                  <a:srgbClr val="DD311F"/>
                </a:solidFill>
                <a:highlight>
                  <a:srgbClr val="00FFFF"/>
                </a:highlight>
                <a:latin typeface="Lovelo Bold"/>
              </a:rPr>
              <a:t>TODO LO QUE SE LLEVE A COCCIÓN EN AIRFRYER DEBE PESARSE CRUDO</a:t>
            </a:r>
            <a:endParaRPr kumimoji="0" lang="en-US" sz="1400" b="1" i="0" u="none" strike="noStrike" kern="1200" cap="none" spc="436" normalizeH="0" baseline="0" noProof="0" dirty="0">
              <a:ln>
                <a:noFill/>
              </a:ln>
              <a:solidFill>
                <a:srgbClr val="DD311F"/>
              </a:solidFill>
              <a:effectLst/>
              <a:highlight>
                <a:srgbClr val="00FFFF"/>
              </a:highlight>
              <a:uLnTx/>
              <a:uFillTx/>
              <a:latin typeface="Lovelo Bold"/>
              <a:ea typeface="+mn-ea"/>
              <a:cs typeface="+mn-cs"/>
            </a:endParaRPr>
          </a:p>
        </p:txBody>
      </p:sp>
    </p:spTree>
    <p:extLst>
      <p:ext uri="{BB962C8B-B14F-4D97-AF65-F5344CB8AC3E}">
        <p14:creationId xmlns:p14="http://schemas.microsoft.com/office/powerpoint/2010/main" val="24014083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6" name="CuadroTexto 5">
            <a:extLst>
              <a:ext uri="{FF2B5EF4-FFF2-40B4-BE49-F238E27FC236}">
                <a16:creationId xmlns:a16="http://schemas.microsoft.com/office/drawing/2014/main" id="{78129C97-D4DF-6A70-C9CF-24A69EA4ABF0}"/>
              </a:ext>
            </a:extLst>
          </p:cNvPr>
          <p:cNvSpPr txBox="1"/>
          <p:nvPr/>
        </p:nvSpPr>
        <p:spPr>
          <a:xfrm>
            <a:off x="558229" y="0"/>
            <a:ext cx="5999748" cy="523220"/>
          </a:xfrm>
          <a:prstGeom prst="rect">
            <a:avLst/>
          </a:prstGeom>
          <a:noFill/>
        </p:spPr>
        <p:txBody>
          <a:bodyPr wrap="square" rtlCol="0">
            <a:spAutoFit/>
          </a:bodyPr>
          <a:lstStyle/>
          <a:p>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INDICACIONES GENERALES</a:t>
            </a:r>
          </a:p>
        </p:txBody>
      </p:sp>
      <p:pic>
        <p:nvPicPr>
          <p:cNvPr id="13" name="Imagen 12">
            <a:extLst>
              <a:ext uri="{FF2B5EF4-FFF2-40B4-BE49-F238E27FC236}">
                <a16:creationId xmlns:a16="http://schemas.microsoft.com/office/drawing/2014/main" id="{9AFAFD6F-6F30-BFE3-8D8C-EBE89F6574C1}"/>
              </a:ext>
            </a:extLst>
          </p:cNvPr>
          <p:cNvPicPr>
            <a:picLocks noChangeAspect="1"/>
          </p:cNvPicPr>
          <p:nvPr/>
        </p:nvPicPr>
        <p:blipFill rotWithShape="1">
          <a:blip r:embed="rId3"/>
          <a:srcRect b="9734"/>
          <a:stretch/>
        </p:blipFill>
        <p:spPr>
          <a:xfrm>
            <a:off x="200011" y="523220"/>
            <a:ext cx="6357965" cy="7969156"/>
          </a:xfrm>
          <a:prstGeom prst="rect">
            <a:avLst/>
          </a:prstGeom>
        </p:spPr>
      </p:pic>
    </p:spTree>
    <p:extLst>
      <p:ext uri="{BB962C8B-B14F-4D97-AF65-F5344CB8AC3E}">
        <p14:creationId xmlns:p14="http://schemas.microsoft.com/office/powerpoint/2010/main" val="12576305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6" name="CuadroTexto 5">
            <a:extLst>
              <a:ext uri="{FF2B5EF4-FFF2-40B4-BE49-F238E27FC236}">
                <a16:creationId xmlns:a16="http://schemas.microsoft.com/office/drawing/2014/main" id="{78129C97-D4DF-6A70-C9CF-24A69EA4ABF0}"/>
              </a:ext>
            </a:extLst>
          </p:cNvPr>
          <p:cNvSpPr txBox="1"/>
          <p:nvPr/>
        </p:nvSpPr>
        <p:spPr>
          <a:xfrm>
            <a:off x="558229" y="0"/>
            <a:ext cx="5999748" cy="523220"/>
          </a:xfrm>
          <a:prstGeom prst="rect">
            <a:avLst/>
          </a:prstGeom>
          <a:noFill/>
        </p:spPr>
        <p:txBody>
          <a:bodyPr wrap="square" rtlCol="0">
            <a:spAutoFit/>
          </a:bodyPr>
          <a:lstStyle/>
          <a:p>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INDICACIONES GENERALES</a:t>
            </a:r>
          </a:p>
        </p:txBody>
      </p:sp>
      <p:pic>
        <p:nvPicPr>
          <p:cNvPr id="4" name="Imagen 3">
            <a:extLst>
              <a:ext uri="{FF2B5EF4-FFF2-40B4-BE49-F238E27FC236}">
                <a16:creationId xmlns:a16="http://schemas.microsoft.com/office/drawing/2014/main" id="{1A455388-DC87-DE3A-6716-36B2E45894A4}"/>
              </a:ext>
            </a:extLst>
          </p:cNvPr>
          <p:cNvPicPr>
            <a:picLocks noChangeAspect="1"/>
          </p:cNvPicPr>
          <p:nvPr/>
        </p:nvPicPr>
        <p:blipFill rotWithShape="1">
          <a:blip r:embed="rId3"/>
          <a:srcRect l="8332" t="119" r="27252" b="815"/>
          <a:stretch/>
        </p:blipFill>
        <p:spPr>
          <a:xfrm>
            <a:off x="2242883" y="6013218"/>
            <a:ext cx="1985946" cy="2036064"/>
          </a:xfrm>
          <a:prstGeom prst="ellipse">
            <a:avLst/>
          </a:prstGeom>
        </p:spPr>
      </p:pic>
      <p:pic>
        <p:nvPicPr>
          <p:cNvPr id="7" name="Imagen 6">
            <a:extLst>
              <a:ext uri="{FF2B5EF4-FFF2-40B4-BE49-F238E27FC236}">
                <a16:creationId xmlns:a16="http://schemas.microsoft.com/office/drawing/2014/main" id="{AED00A7A-E384-DA0A-B87B-0DF09963B3A2}"/>
              </a:ext>
            </a:extLst>
          </p:cNvPr>
          <p:cNvPicPr>
            <a:picLocks noChangeAspect="1"/>
          </p:cNvPicPr>
          <p:nvPr/>
        </p:nvPicPr>
        <p:blipFill>
          <a:blip r:embed="rId4"/>
          <a:stretch>
            <a:fillRect/>
          </a:stretch>
        </p:blipFill>
        <p:spPr>
          <a:xfrm>
            <a:off x="109728" y="804933"/>
            <a:ext cx="6252256" cy="5142928"/>
          </a:xfrm>
          <a:prstGeom prst="rect">
            <a:avLst/>
          </a:prstGeom>
        </p:spPr>
      </p:pic>
    </p:spTree>
    <p:extLst>
      <p:ext uri="{BB962C8B-B14F-4D97-AF65-F5344CB8AC3E}">
        <p14:creationId xmlns:p14="http://schemas.microsoft.com/office/powerpoint/2010/main" val="22739558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5" name="CuadroTexto 4">
            <a:extLst>
              <a:ext uri="{FF2B5EF4-FFF2-40B4-BE49-F238E27FC236}">
                <a16:creationId xmlns:a16="http://schemas.microsoft.com/office/drawing/2014/main" id="{1456631B-DE7F-533C-B32E-7732176DF020}"/>
              </a:ext>
            </a:extLst>
          </p:cNvPr>
          <p:cNvSpPr txBox="1"/>
          <p:nvPr/>
        </p:nvSpPr>
        <p:spPr>
          <a:xfrm>
            <a:off x="329184" y="131293"/>
            <a:ext cx="6228793" cy="523220"/>
          </a:xfrm>
          <a:prstGeom prst="rect">
            <a:avLst/>
          </a:prstGeom>
          <a:noFill/>
        </p:spPr>
        <p:txBody>
          <a:bodyPr wrap="square" rtlCol="0">
            <a:spAutoFit/>
          </a:bodyPr>
          <a:lstStyle/>
          <a:p>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INDICACIONES INDIVIDUALES</a:t>
            </a:r>
          </a:p>
        </p:txBody>
      </p:sp>
      <p:sp>
        <p:nvSpPr>
          <p:cNvPr id="4" name="TextBox 57">
            <a:extLst>
              <a:ext uri="{FF2B5EF4-FFF2-40B4-BE49-F238E27FC236}">
                <a16:creationId xmlns:a16="http://schemas.microsoft.com/office/drawing/2014/main" id="{D91E840C-9F74-34E5-FFCC-81887C1B2A4D}"/>
              </a:ext>
            </a:extLst>
          </p:cNvPr>
          <p:cNvSpPr txBox="1"/>
          <p:nvPr/>
        </p:nvSpPr>
        <p:spPr>
          <a:xfrm>
            <a:off x="154245" y="654513"/>
            <a:ext cx="6449497" cy="8936870"/>
          </a:xfrm>
          <a:prstGeom prst="rect">
            <a:avLst/>
          </a:prstGeom>
        </p:spPr>
        <p:txBody>
          <a:bodyPr wrap="square" lIns="0" tIns="0" rIns="0" bIns="0" rtlCol="0" anchor="t">
            <a:spAutoFit/>
          </a:bodyPr>
          <a:lstStyle/>
          <a:p>
            <a:pPr marL="285750" lvl="0" indent="-285750" algn="just">
              <a:lnSpc>
                <a:spcPct val="150000"/>
              </a:lnSpc>
              <a:spcAft>
                <a:spcPts val="1000"/>
              </a:spcAft>
              <a:buFont typeface="Wingdings" panose="05000000000000000000" pitchFamily="2" charset="2"/>
              <a:buChar char="q"/>
            </a:pPr>
            <a:r>
              <a:rPr lang="es-VE" sz="1400" dirty="0">
                <a:solidFill>
                  <a:schemeClr val="bg1"/>
                </a:solidFill>
                <a:effectLst/>
                <a:latin typeface="Arial" panose="020B0604020202020204" pitchFamily="34" charset="0"/>
                <a:ea typeface="Arial" panose="020B0604020202020204" pitchFamily="34" charset="0"/>
              </a:rPr>
              <a:t>Los horarios están condicionados por la hora de entrenamiento. Tratar en la medida de lo posible de que independientemente de la hora de entrenamiento debe existir una comida</a:t>
            </a:r>
            <a:r>
              <a:rPr lang="es-VE" sz="1400" dirty="0">
                <a:effectLst/>
                <a:latin typeface="Arial" panose="020B0604020202020204" pitchFamily="34" charset="0"/>
                <a:ea typeface="Arial" panose="020B0604020202020204" pitchFamily="34" charset="0"/>
              </a:rPr>
              <a:t> </a:t>
            </a:r>
            <a:r>
              <a:rPr lang="es-VE" sz="1400" b="1" i="1" dirty="0">
                <a:effectLst/>
                <a:highlight>
                  <a:srgbClr val="00FFFF"/>
                </a:highlight>
                <a:latin typeface="Arial" panose="020B0604020202020204" pitchFamily="34" charset="0"/>
                <a:ea typeface="Arial" panose="020B0604020202020204" pitchFamily="34" charset="0"/>
              </a:rPr>
              <a:t>post</a:t>
            </a:r>
            <a:r>
              <a:rPr lang="es-VE" sz="1400" dirty="0">
                <a:effectLst/>
                <a:latin typeface="Arial" panose="020B0604020202020204" pitchFamily="34" charset="0"/>
                <a:ea typeface="Arial" panose="020B0604020202020204" pitchFamily="34" charset="0"/>
              </a:rPr>
              <a:t> </a:t>
            </a:r>
            <a:r>
              <a:rPr lang="es-VE" sz="1400" dirty="0">
                <a:solidFill>
                  <a:schemeClr val="bg1"/>
                </a:solidFill>
                <a:effectLst/>
                <a:latin typeface="Arial" panose="020B0604020202020204" pitchFamily="34" charset="0"/>
                <a:ea typeface="Arial" panose="020B0604020202020204" pitchFamily="34" charset="0"/>
              </a:rPr>
              <a:t>alta en proteínas (Como puede ser cualquiera de las principales) o una merienda similar a la de la tarde.</a:t>
            </a:r>
          </a:p>
          <a:p>
            <a:pPr marL="285750" lvl="0" indent="-285750" algn="just">
              <a:lnSpc>
                <a:spcPct val="150000"/>
              </a:lnSpc>
              <a:spcAft>
                <a:spcPts val="1000"/>
              </a:spcAft>
              <a:buFont typeface="Wingdings" panose="05000000000000000000" pitchFamily="2" charset="2"/>
              <a:buChar char="q"/>
            </a:pPr>
            <a:r>
              <a:rPr lang="es-VE" sz="1400" b="1" dirty="0">
                <a:solidFill>
                  <a:schemeClr val="bg1"/>
                </a:solidFill>
                <a:effectLst/>
                <a:latin typeface="Arial" panose="020B0604020202020204" pitchFamily="34" charset="0"/>
                <a:ea typeface="Arial" panose="020B0604020202020204" pitchFamily="34" charset="0"/>
              </a:rPr>
              <a:t>Mantener buenos niveles de hidratación</a:t>
            </a:r>
            <a:r>
              <a:rPr lang="es-VE" sz="1400" dirty="0">
                <a:solidFill>
                  <a:schemeClr val="bg1"/>
                </a:solidFill>
                <a:effectLst/>
                <a:latin typeface="Arial" panose="020B0604020202020204" pitchFamily="34" charset="0"/>
                <a:ea typeface="Arial" panose="020B0604020202020204" pitchFamily="34" charset="0"/>
              </a:rPr>
              <a:t>, el requerimiento hídrico </a:t>
            </a:r>
            <a:r>
              <a:rPr lang="es-VE" sz="1400" b="1" dirty="0">
                <a:effectLst/>
                <a:highlight>
                  <a:srgbClr val="FABF8F"/>
                </a:highlight>
                <a:latin typeface="Arial" panose="020B0604020202020204" pitchFamily="34" charset="0"/>
                <a:ea typeface="Arial" panose="020B0604020202020204" pitchFamily="34" charset="0"/>
              </a:rPr>
              <a:t>mínimo</a:t>
            </a:r>
            <a:r>
              <a:rPr lang="es-VE" sz="1400" dirty="0">
                <a:solidFill>
                  <a:schemeClr val="bg1"/>
                </a:solidFill>
                <a:effectLst/>
                <a:latin typeface="Arial" panose="020B0604020202020204" pitchFamily="34" charset="0"/>
                <a:ea typeface="Arial" panose="020B0604020202020204" pitchFamily="34" charset="0"/>
              </a:rPr>
              <a:t> es de </a:t>
            </a:r>
            <a:r>
              <a:rPr lang="es-VE" sz="1400" b="1" dirty="0">
                <a:solidFill>
                  <a:schemeClr val="bg1"/>
                </a:solidFill>
                <a:latin typeface="Arial" panose="020B0604020202020204" pitchFamily="34" charset="0"/>
                <a:ea typeface="Arial" panose="020B0604020202020204" pitchFamily="34" charset="0"/>
              </a:rPr>
              <a:t>2</a:t>
            </a:r>
            <a:r>
              <a:rPr lang="es-VE" sz="1400" b="1" dirty="0">
                <a:solidFill>
                  <a:schemeClr val="bg1"/>
                </a:solidFill>
                <a:effectLst/>
                <a:latin typeface="Arial" panose="020B0604020202020204" pitchFamily="34" charset="0"/>
                <a:ea typeface="Arial" panose="020B0604020202020204" pitchFamily="34" charset="0"/>
              </a:rPr>
              <a:t>,5 litros /día</a:t>
            </a:r>
            <a:r>
              <a:rPr lang="es-VE" sz="1400" dirty="0">
                <a:solidFill>
                  <a:schemeClr val="bg1"/>
                </a:solidFill>
                <a:effectLst/>
                <a:latin typeface="Arial" panose="020B0604020202020204" pitchFamily="34" charset="0"/>
                <a:ea typeface="Arial" panose="020B0604020202020204" pitchFamily="34" charset="0"/>
              </a:rPr>
              <a:t> lo que se traduce en aproximadamente 10 ½ vasos de agua/liquido al día. La sensación de sed indica cierto grado de deshidratación </a:t>
            </a:r>
            <a:r>
              <a:rPr lang="es-VE" sz="1400" b="1" dirty="0">
                <a:solidFill>
                  <a:schemeClr val="bg1"/>
                </a:solidFill>
                <a:effectLst/>
                <a:latin typeface="Arial" panose="020B0604020202020204" pitchFamily="34" charset="0"/>
                <a:ea typeface="Arial" panose="020B0604020202020204" pitchFamily="34" charset="0"/>
              </a:rPr>
              <a:t>¡No esperes a sentirla!</a:t>
            </a:r>
            <a:r>
              <a:rPr lang="es-VE" sz="1400" dirty="0">
                <a:solidFill>
                  <a:schemeClr val="bg1"/>
                </a:solidFill>
                <a:effectLst/>
                <a:latin typeface="Arial" panose="020B0604020202020204" pitchFamily="34" charset="0"/>
                <a:ea typeface="Arial" panose="020B0604020202020204" pitchFamily="34" charset="0"/>
              </a:rPr>
              <a:t> Puede ingerir un vaso de agua 30 minutos antes de iniciar el entrenamiento, esto te mantendrá hidratado durante los primeros </a:t>
            </a:r>
            <a:r>
              <a:rPr lang="es-VE" sz="1400" dirty="0">
                <a:solidFill>
                  <a:schemeClr val="bg1"/>
                </a:solidFill>
                <a:effectLst/>
                <a:latin typeface="Arial" panose="020B0604020202020204" pitchFamily="34" charset="0"/>
                <a:ea typeface="Arial" panose="020B0604020202020204" pitchFamily="34" charset="0"/>
                <a:cs typeface="Arial" panose="020B0604020202020204" pitchFamily="34" charset="0"/>
              </a:rPr>
              <a:t>20-30 minutos. </a:t>
            </a:r>
          </a:p>
          <a:p>
            <a:pPr marL="285750" indent="-285750" algn="just">
              <a:lnSpc>
                <a:spcPct val="150000"/>
              </a:lnSpc>
              <a:spcAft>
                <a:spcPts val="1000"/>
              </a:spcAft>
              <a:buFont typeface="Wingdings" panose="05000000000000000000" pitchFamily="2" charset="2"/>
              <a:buChar char="q"/>
            </a:pP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Evitar el agregado de azúcar a CUALQUIER BEBIDA O PREPARACIÓN. Ve progresivamente desincorporando al azúcar.</a:t>
            </a:r>
          </a:p>
          <a:p>
            <a:pPr marL="285750" lvl="0" indent="-285750" algn="just">
              <a:lnSpc>
                <a:spcPct val="150000"/>
              </a:lnSpc>
              <a:spcAft>
                <a:spcPts val="1000"/>
              </a:spcAft>
              <a:buFont typeface="Wingdings" panose="05000000000000000000" pitchFamily="2" charset="2"/>
              <a:buChar char="q"/>
            </a:pPr>
            <a:r>
              <a:rPr lang="es-VE" sz="1400" dirty="0">
                <a:solidFill>
                  <a:schemeClr val="bg1"/>
                </a:solidFill>
                <a:effectLst/>
                <a:latin typeface="Arial" panose="020B0604020202020204" pitchFamily="34" charset="0"/>
                <a:ea typeface="Calibri" panose="020F0502020204030204" pitchFamily="34" charset="0"/>
                <a:cs typeface="Arial" panose="020B0604020202020204" pitchFamily="34" charset="0"/>
              </a:rPr>
              <a:t>Evitar el consumo de ALCOHOL </a:t>
            </a: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en cantidades superiores a 2/3 tragos día y con una frecuencia mayor a 1 vez/semana. Recuerda que mientras más estricto seas, mejores resultados obtendrás. Al igual que debes tratar de omitir el consumo de tabaco, no ofrece ningún beneficio.</a:t>
            </a:r>
          </a:p>
          <a:p>
            <a:pPr marL="285750" indent="-285750" algn="just">
              <a:lnSpc>
                <a:spcPct val="150000"/>
              </a:lnSpc>
              <a:spcAft>
                <a:spcPts val="1000"/>
              </a:spcAft>
              <a:buFont typeface="Wingdings" panose="05000000000000000000" pitchFamily="2" charset="2"/>
              <a:buChar char="q"/>
            </a:pPr>
            <a:r>
              <a:rPr lang="es-VE" sz="1400" dirty="0">
                <a:solidFill>
                  <a:schemeClr val="bg1"/>
                </a:solidFill>
                <a:effectLst/>
                <a:latin typeface="Arial" panose="020B0604020202020204" pitchFamily="34" charset="0"/>
                <a:ea typeface="Calibri" panose="020F0502020204030204" pitchFamily="34" charset="0"/>
                <a:cs typeface="Arial" panose="020B0604020202020204" pitchFamily="34" charset="0"/>
              </a:rPr>
              <a:t>Evita el consumo frecuente del gluten (har</a:t>
            </a: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ina de trigo o derivados), lactosa, o productos que sean muy condimentados, sazonados, o con picante.</a:t>
            </a:r>
          </a:p>
          <a:p>
            <a:pPr marL="285750" indent="-285750" algn="just">
              <a:lnSpc>
                <a:spcPct val="150000"/>
              </a:lnSpc>
              <a:spcAft>
                <a:spcPts val="1000"/>
              </a:spcAft>
              <a:buFont typeface="Wingdings" panose="05000000000000000000" pitchFamily="2" charset="2"/>
              <a:buChar char="q"/>
            </a:pP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Evita el consumo frecuente de alimentos </a:t>
            </a:r>
            <a:r>
              <a:rPr lang="es-VE" sz="1400" dirty="0" err="1">
                <a:solidFill>
                  <a:schemeClr val="bg1"/>
                </a:solidFill>
                <a:latin typeface="Arial" panose="020B0604020202020204" pitchFamily="34" charset="0"/>
                <a:ea typeface="Calibri" panose="020F0502020204030204" pitchFamily="34" charset="0"/>
                <a:cs typeface="Arial" panose="020B0604020202020204" pitchFamily="34" charset="0"/>
              </a:rPr>
              <a:t>ultra-procesados</a:t>
            </a: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 prioriza alimentos en su versión más natural posible la mayor parte del tiempo.</a:t>
            </a:r>
          </a:p>
          <a:p>
            <a:pPr marL="285750" indent="-285750" algn="just">
              <a:lnSpc>
                <a:spcPct val="150000"/>
              </a:lnSpc>
              <a:spcAft>
                <a:spcPts val="1000"/>
              </a:spcAft>
              <a:buFont typeface="Wingdings" panose="05000000000000000000" pitchFamily="2" charset="2"/>
              <a:buChar char="q"/>
            </a:pP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 recuerda que la base de la perdida de grasa es respetar tus porciones y mantener alto tu gasto calórico durante el día, presta atención a tu movimiento diario.</a:t>
            </a:r>
          </a:p>
          <a:p>
            <a:pPr marL="285750" indent="-285750" algn="just">
              <a:lnSpc>
                <a:spcPct val="150000"/>
              </a:lnSpc>
              <a:spcAft>
                <a:spcPts val="1000"/>
              </a:spcAft>
              <a:buFont typeface="Wingdings" panose="05000000000000000000" pitchFamily="2" charset="2"/>
              <a:buChar char="q"/>
            </a:pP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Organiza tus comidas, esto es importante para evitar improvisar, recuerda que mientras mayor sea el cumplimiento de tu plan, mejores resultados obtendrás.</a:t>
            </a:r>
            <a:endParaRPr lang="es-VE" sz="14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2001297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CC51C2E9-A6EF-FBD7-E8AA-C9A29441A2FA}"/>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88FAE18A-0D30-B3A5-BACD-4AE5091B3475}"/>
              </a:ext>
            </a:extLst>
          </p:cNvPr>
          <p:cNvPicPr>
            <a:picLocks noChangeAspect="1"/>
          </p:cNvPicPr>
          <p:nvPr/>
        </p:nvPicPr>
        <p:blipFill>
          <a:blip r:embed="rId2"/>
          <a:stretch>
            <a:fillRect/>
          </a:stretch>
        </p:blipFill>
        <p:spPr>
          <a:xfrm>
            <a:off x="0" y="8669809"/>
            <a:ext cx="6757988" cy="621829"/>
          </a:xfrm>
          <a:prstGeom prst="rect">
            <a:avLst/>
          </a:prstGeom>
        </p:spPr>
      </p:pic>
      <p:sp>
        <p:nvSpPr>
          <p:cNvPr id="5" name="CuadroTexto 4">
            <a:extLst>
              <a:ext uri="{FF2B5EF4-FFF2-40B4-BE49-F238E27FC236}">
                <a16:creationId xmlns:a16="http://schemas.microsoft.com/office/drawing/2014/main" id="{3F6A7872-7DC7-6B02-A888-B7928B702B67}"/>
              </a:ext>
            </a:extLst>
          </p:cNvPr>
          <p:cNvSpPr txBox="1"/>
          <p:nvPr/>
        </p:nvSpPr>
        <p:spPr>
          <a:xfrm>
            <a:off x="329184" y="131293"/>
            <a:ext cx="6228793" cy="523220"/>
          </a:xfrm>
          <a:prstGeom prst="rect">
            <a:avLst/>
          </a:prstGeom>
          <a:noFill/>
        </p:spPr>
        <p:txBody>
          <a:bodyPr wrap="square" rtlCol="0">
            <a:spAutoFit/>
          </a:bodyPr>
          <a:lstStyle/>
          <a:p>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INDICACIONES INDIVIDUALES</a:t>
            </a:r>
          </a:p>
        </p:txBody>
      </p:sp>
      <p:sp>
        <p:nvSpPr>
          <p:cNvPr id="2" name="Freeform 19">
            <a:extLst>
              <a:ext uri="{FF2B5EF4-FFF2-40B4-BE49-F238E27FC236}">
                <a16:creationId xmlns:a16="http://schemas.microsoft.com/office/drawing/2014/main" id="{2B9E65C4-D658-77A8-C71D-77766DA19265}"/>
              </a:ext>
            </a:extLst>
          </p:cNvPr>
          <p:cNvSpPr/>
          <p:nvPr/>
        </p:nvSpPr>
        <p:spPr>
          <a:xfrm>
            <a:off x="2641310" y="997209"/>
            <a:ext cx="1213592" cy="585558"/>
          </a:xfrm>
          <a:custGeom>
            <a:avLst/>
            <a:gdLst/>
            <a:ahLst/>
            <a:cxnLst/>
            <a:rect l="l" t="t" r="r" b="b"/>
            <a:pathLst>
              <a:path w="1213592" h="585558">
                <a:moveTo>
                  <a:pt x="0" y="0"/>
                </a:moveTo>
                <a:lnTo>
                  <a:pt x="1213592" y="0"/>
                </a:lnTo>
                <a:lnTo>
                  <a:pt x="1213592" y="585559"/>
                </a:lnTo>
                <a:lnTo>
                  <a:pt x="0" y="585559"/>
                </a:lnTo>
                <a:lnTo>
                  <a:pt x="0" y="0"/>
                </a:lnTo>
                <a:close/>
              </a:path>
            </a:pathLst>
          </a:custGeom>
          <a:blipFill>
            <a:blip r:embed="rId3"/>
            <a:stretch>
              <a:fillRect/>
            </a:stretch>
          </a:blipFill>
        </p:spPr>
      </p:sp>
      <p:pic>
        <p:nvPicPr>
          <p:cNvPr id="6" name="Imagen 5">
            <a:extLst>
              <a:ext uri="{FF2B5EF4-FFF2-40B4-BE49-F238E27FC236}">
                <a16:creationId xmlns:a16="http://schemas.microsoft.com/office/drawing/2014/main" id="{4660F12D-2EFA-3C73-73EA-3A3A70F0AAFF}"/>
              </a:ext>
            </a:extLst>
          </p:cNvPr>
          <p:cNvPicPr>
            <a:picLocks noChangeAspect="1"/>
          </p:cNvPicPr>
          <p:nvPr/>
        </p:nvPicPr>
        <p:blipFill>
          <a:blip r:embed="rId4"/>
          <a:stretch>
            <a:fillRect/>
          </a:stretch>
        </p:blipFill>
        <p:spPr>
          <a:xfrm>
            <a:off x="1687651" y="3365303"/>
            <a:ext cx="3382681" cy="4688076"/>
          </a:xfrm>
          <a:prstGeom prst="rect">
            <a:avLst/>
          </a:prstGeom>
        </p:spPr>
      </p:pic>
      <p:sp>
        <p:nvSpPr>
          <p:cNvPr id="7" name="TextBox 57">
            <a:extLst>
              <a:ext uri="{FF2B5EF4-FFF2-40B4-BE49-F238E27FC236}">
                <a16:creationId xmlns:a16="http://schemas.microsoft.com/office/drawing/2014/main" id="{FAC1A524-6E09-C350-C912-DC655832FC7F}"/>
              </a:ext>
            </a:extLst>
          </p:cNvPr>
          <p:cNvSpPr txBox="1"/>
          <p:nvPr/>
        </p:nvSpPr>
        <p:spPr>
          <a:xfrm>
            <a:off x="571789" y="1731073"/>
            <a:ext cx="5743582" cy="1341073"/>
          </a:xfrm>
          <a:prstGeom prst="rect">
            <a:avLst/>
          </a:prstGeom>
        </p:spPr>
        <p:txBody>
          <a:bodyPr wrap="square" lIns="0" tIns="0" rIns="0" bIns="0" rtlCol="0" anchor="t">
            <a:spAutoFit/>
          </a:bodyPr>
          <a:lstStyle/>
          <a:p>
            <a:pPr algn="ctr">
              <a:lnSpc>
                <a:spcPct val="150000"/>
              </a:lnSpc>
              <a:spcAft>
                <a:spcPts val="1000"/>
              </a:spcAft>
            </a:pPr>
            <a:r>
              <a:rPr lang="es-VE" sz="2800" dirty="0">
                <a:solidFill>
                  <a:schemeClr val="bg1"/>
                </a:solidFill>
                <a:latin typeface="Arial" panose="020B0604020202020204" pitchFamily="34" charset="0"/>
                <a:ea typeface="Calibri" panose="020F0502020204030204" pitchFamily="34" charset="0"/>
                <a:cs typeface="Arial" panose="020B0604020202020204" pitchFamily="34" charset="0"/>
              </a:rPr>
              <a:t>PENDIENTE DE LA HIDRATACIÓN</a:t>
            </a:r>
          </a:p>
          <a:p>
            <a:pPr algn="ctr">
              <a:lnSpc>
                <a:spcPct val="150000"/>
              </a:lnSpc>
              <a:spcAft>
                <a:spcPts val="1000"/>
              </a:spcAft>
            </a:pPr>
            <a:r>
              <a:rPr lang="es-VE" sz="2800" dirty="0">
                <a:solidFill>
                  <a:schemeClr val="bg1"/>
                </a:solidFill>
                <a:latin typeface="Arial" panose="020B0604020202020204" pitchFamily="34" charset="0"/>
                <a:ea typeface="Calibri" panose="020F0502020204030204" pitchFamily="34" charset="0"/>
                <a:cs typeface="Arial" panose="020B0604020202020204" pitchFamily="34" charset="0"/>
              </a:rPr>
              <a:t>NO ESPERES A SENTIR SED</a:t>
            </a:r>
          </a:p>
        </p:txBody>
      </p:sp>
      <p:sp>
        <p:nvSpPr>
          <p:cNvPr id="8" name="TextBox 57">
            <a:extLst>
              <a:ext uri="{FF2B5EF4-FFF2-40B4-BE49-F238E27FC236}">
                <a16:creationId xmlns:a16="http://schemas.microsoft.com/office/drawing/2014/main" id="{2BC7AA14-73AF-9143-064B-435935CEA250}"/>
              </a:ext>
            </a:extLst>
          </p:cNvPr>
          <p:cNvSpPr txBox="1"/>
          <p:nvPr/>
        </p:nvSpPr>
        <p:spPr>
          <a:xfrm>
            <a:off x="507201" y="8163720"/>
            <a:ext cx="5743582" cy="404663"/>
          </a:xfrm>
          <a:prstGeom prst="rect">
            <a:avLst/>
          </a:prstGeom>
        </p:spPr>
        <p:txBody>
          <a:bodyPr wrap="square" lIns="0" tIns="0" rIns="0" bIns="0" rtlCol="0" anchor="t">
            <a:spAutoFit/>
          </a:bodyPr>
          <a:lstStyle/>
          <a:p>
            <a:pPr algn="ctr">
              <a:lnSpc>
                <a:spcPct val="150000"/>
              </a:lnSpc>
              <a:spcAft>
                <a:spcPts val="1000"/>
              </a:spcAft>
            </a:pPr>
            <a:r>
              <a:rPr lang="es-VE" sz="2000" dirty="0">
                <a:solidFill>
                  <a:schemeClr val="bg1"/>
                </a:solidFill>
                <a:latin typeface="Arial" panose="020B0604020202020204" pitchFamily="34" charset="0"/>
                <a:ea typeface="Calibri" panose="020F0502020204030204" pitchFamily="34" charset="0"/>
                <a:cs typeface="Arial" panose="020B0604020202020204" pitchFamily="34" charset="0"/>
              </a:rPr>
              <a:t>VIGILA EL COLOR DE TU ORINA</a:t>
            </a:r>
          </a:p>
        </p:txBody>
      </p:sp>
    </p:spTree>
    <p:extLst>
      <p:ext uri="{BB962C8B-B14F-4D97-AF65-F5344CB8AC3E}">
        <p14:creationId xmlns:p14="http://schemas.microsoft.com/office/powerpoint/2010/main" val="12788474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122446" y="266034"/>
            <a:ext cx="5999748" cy="646331"/>
          </a:xfrm>
          <a:prstGeom prst="rect">
            <a:avLst/>
          </a:prstGeom>
          <a:noFill/>
        </p:spPr>
        <p:txBody>
          <a:bodyPr wrap="square" rtlCol="0">
            <a:spAutoFit/>
          </a:bodyPr>
          <a:lstStyle/>
          <a:p>
            <a:r>
              <a:rPr lang="es-VE" sz="36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SUPLEMENTOS</a:t>
            </a:r>
          </a:p>
        </p:txBody>
      </p:sp>
      <p:pic>
        <p:nvPicPr>
          <p:cNvPr id="4" name="Imagen 3">
            <a:extLst>
              <a:ext uri="{FF2B5EF4-FFF2-40B4-BE49-F238E27FC236}">
                <a16:creationId xmlns:a16="http://schemas.microsoft.com/office/drawing/2014/main" id="{17CA6546-6B7C-1C3A-DAD9-8CBE9A751F04}"/>
              </a:ext>
            </a:extLst>
          </p:cNvPr>
          <p:cNvPicPr>
            <a:picLocks noChangeAspect="1"/>
          </p:cNvPicPr>
          <p:nvPr/>
        </p:nvPicPr>
        <p:blipFill>
          <a:blip r:embed="rId3"/>
          <a:stretch>
            <a:fillRect/>
          </a:stretch>
        </p:blipFill>
        <p:spPr>
          <a:xfrm>
            <a:off x="4340352" y="154676"/>
            <a:ext cx="2145792" cy="869046"/>
          </a:xfrm>
          <a:prstGeom prst="rect">
            <a:avLst/>
          </a:prstGeom>
        </p:spPr>
      </p:pic>
      <p:sp>
        <p:nvSpPr>
          <p:cNvPr id="7" name="CuadroTexto 6">
            <a:extLst>
              <a:ext uri="{FF2B5EF4-FFF2-40B4-BE49-F238E27FC236}">
                <a16:creationId xmlns:a16="http://schemas.microsoft.com/office/drawing/2014/main" id="{0DAA57F1-2BB8-DA49-6817-681922C1D48C}"/>
              </a:ext>
            </a:extLst>
          </p:cNvPr>
          <p:cNvSpPr txBox="1"/>
          <p:nvPr/>
        </p:nvSpPr>
        <p:spPr>
          <a:xfrm>
            <a:off x="271844" y="947849"/>
            <a:ext cx="6337300" cy="5678349"/>
          </a:xfrm>
          <a:prstGeom prst="rect">
            <a:avLst/>
          </a:prstGeom>
          <a:solidFill>
            <a:schemeClr val="bg1"/>
          </a:solidFill>
        </p:spPr>
        <p:txBody>
          <a:bodyPr wrap="square">
            <a:spAutoFit/>
          </a:bodyPr>
          <a:lstStyle/>
          <a:p>
            <a:pPr marL="453390" algn="ctr">
              <a:lnSpc>
                <a:spcPct val="150000"/>
              </a:lnSpc>
            </a:pPr>
            <a:r>
              <a:rPr lang="es-VE" b="1" dirty="0">
                <a:effectLst/>
                <a:latin typeface="Arial" panose="020B0604020202020204" pitchFamily="34" charset="0"/>
                <a:ea typeface="Arial" panose="020B0604020202020204" pitchFamily="34" charset="0"/>
              </a:rPr>
              <a:t>Suplementación </a:t>
            </a:r>
            <a:r>
              <a:rPr lang="es-VE" b="1" dirty="0">
                <a:solidFill>
                  <a:srgbClr val="000000"/>
                </a:solidFill>
                <a:effectLst/>
                <a:highlight>
                  <a:srgbClr val="FDE9D9"/>
                </a:highlight>
                <a:latin typeface="Arial" panose="020B0604020202020204" pitchFamily="34" charset="0"/>
                <a:ea typeface="Arial" panose="020B0604020202020204" pitchFamily="34" charset="0"/>
              </a:rPr>
              <a:t>SUGERIDA</a:t>
            </a:r>
            <a:r>
              <a:rPr lang="es-VE" dirty="0">
                <a:effectLst/>
                <a:latin typeface="Arial" panose="020B0604020202020204" pitchFamily="34" charset="0"/>
                <a:ea typeface="Arial" panose="020B0604020202020204" pitchFamily="34" charset="0"/>
              </a:rPr>
              <a:t>:</a:t>
            </a:r>
            <a:endParaRPr lang="es-VE" sz="1400" dirty="0">
              <a:effectLst/>
              <a:latin typeface="Calibri" panose="020F0502020204030204" pitchFamily="34" charset="0"/>
              <a:ea typeface="Calibri" panose="020F0502020204030204" pitchFamily="34" charset="0"/>
            </a:endParaRPr>
          </a:p>
          <a:p>
            <a:pPr marL="457200">
              <a:lnSpc>
                <a:spcPct val="115000"/>
              </a:lnSpc>
            </a:pPr>
            <a:r>
              <a:rPr lang="es-VE" sz="1400" dirty="0">
                <a:effectLst/>
                <a:latin typeface="Arial" panose="020B0604020202020204" pitchFamily="34" charset="0"/>
                <a:ea typeface="Arial" panose="020B0604020202020204" pitchFamily="34" charset="0"/>
              </a:rPr>
              <a:t> </a:t>
            </a:r>
            <a:endParaRPr lang="es-VE" sz="1400" dirty="0">
              <a:effectLst/>
              <a:latin typeface="Calibri" panose="020F0502020204030204" pitchFamily="34" charset="0"/>
              <a:ea typeface="Calibri" panose="020F0502020204030204" pitchFamily="34" charset="0"/>
            </a:endParaRPr>
          </a:p>
          <a:p>
            <a:pPr marL="342900" lvl="0" indent="-342900" algn="just">
              <a:lnSpc>
                <a:spcPct val="150000"/>
              </a:lnSpc>
              <a:buFont typeface="+mj-lt"/>
              <a:buAutoNum type="arabicPeriod"/>
            </a:pPr>
            <a:r>
              <a:rPr lang="es-VE" sz="1200" b="1" dirty="0">
                <a:solidFill>
                  <a:schemeClr val="accent1">
                    <a:lumMod val="75000"/>
                  </a:schemeClr>
                </a:solidFill>
                <a:effectLst/>
                <a:latin typeface="Arial" panose="020B0604020202020204" pitchFamily="34" charset="0"/>
                <a:ea typeface="Arial" panose="020B0604020202020204" pitchFamily="34" charset="0"/>
              </a:rPr>
              <a:t>VITAMINA D</a:t>
            </a:r>
            <a:r>
              <a:rPr lang="es-VE" sz="1200" dirty="0">
                <a:effectLst/>
                <a:latin typeface="Arial" panose="020B0604020202020204" pitchFamily="34" charset="0"/>
                <a:ea typeface="Arial" panose="020B0604020202020204" pitchFamily="34" charset="0"/>
              </a:rPr>
              <a:t>: 2000 o 2500 UI/ día, esto se puede traducir en una (1) o dos (2) cápsulas dependiendo de la presentación. Consumirse JUNTO al desayuno. </a:t>
            </a:r>
          </a:p>
          <a:p>
            <a:pPr marL="342900" lvl="0" indent="-342900" algn="just">
              <a:lnSpc>
                <a:spcPct val="150000"/>
              </a:lnSpc>
              <a:buFont typeface="+mj-lt"/>
              <a:buAutoNum type="arabicPeriod"/>
            </a:pPr>
            <a:r>
              <a:rPr lang="es-VE" sz="1200" b="1" dirty="0">
                <a:solidFill>
                  <a:schemeClr val="accent1">
                    <a:lumMod val="75000"/>
                  </a:schemeClr>
                </a:solidFill>
                <a:latin typeface="Arial" panose="020B0604020202020204" pitchFamily="34" charset="0"/>
                <a:ea typeface="Arial" panose="020B0604020202020204" pitchFamily="34" charset="0"/>
              </a:rPr>
              <a:t>OMEGA 3</a:t>
            </a:r>
            <a:r>
              <a:rPr lang="es-VE" sz="1200" dirty="0">
                <a:latin typeface="Arial" panose="020B0604020202020204" pitchFamily="34" charset="0"/>
                <a:ea typeface="Arial" panose="020B0604020202020204" pitchFamily="34" charset="0"/>
              </a:rPr>
              <a:t>:</a:t>
            </a:r>
            <a:r>
              <a:rPr lang="es-VE" sz="1200" dirty="0">
                <a:effectLst/>
                <a:latin typeface="Arial" panose="020B0604020202020204" pitchFamily="34" charset="0"/>
                <a:ea typeface="Arial" panose="020B0604020202020204" pitchFamily="34" charset="0"/>
              </a:rPr>
              <a:t> Una capsula al día junto al almuerzo. Los días que consumas pescado (Salmón o similar azul) puedes omitir la suplementación.</a:t>
            </a:r>
          </a:p>
          <a:p>
            <a:pPr marL="342900" indent="-342900" algn="just">
              <a:lnSpc>
                <a:spcPct val="150000"/>
              </a:lnSpc>
              <a:buFont typeface="+mj-lt"/>
              <a:buAutoNum type="arabicPeriod"/>
            </a:pPr>
            <a:r>
              <a:rPr lang="es-VE" sz="1200" b="1" dirty="0">
                <a:solidFill>
                  <a:schemeClr val="accent1">
                    <a:lumMod val="75000"/>
                  </a:schemeClr>
                </a:solidFill>
                <a:effectLst/>
                <a:latin typeface="Arial" panose="020B0604020202020204" pitchFamily="34" charset="0"/>
                <a:ea typeface="Arial" panose="020B0604020202020204" pitchFamily="34" charset="0"/>
              </a:rPr>
              <a:t>INOSITOL (SUGERIDO)</a:t>
            </a:r>
            <a:r>
              <a:rPr lang="es-VE" sz="1200" dirty="0">
                <a:effectLst/>
                <a:latin typeface="Arial" panose="020B0604020202020204" pitchFamily="34" charset="0"/>
                <a:ea typeface="Arial" panose="020B0604020202020204" pitchFamily="34" charset="0"/>
              </a:rPr>
              <a:t>: Dosis de 2 cápsulas (1000 mg/día) junto con el desayuno, aumentar a 2000 mg según respuesta (CONSULTAR CON GINECÓLOGA/O).</a:t>
            </a:r>
          </a:p>
          <a:p>
            <a:pPr marL="342900" indent="-342900" algn="just">
              <a:lnSpc>
                <a:spcPct val="150000"/>
              </a:lnSpc>
              <a:buFont typeface="+mj-lt"/>
              <a:buAutoNum type="arabicPeriod"/>
            </a:pPr>
            <a:r>
              <a:rPr lang="es-VE" sz="1200" b="1" dirty="0">
                <a:solidFill>
                  <a:schemeClr val="accent1">
                    <a:lumMod val="75000"/>
                  </a:schemeClr>
                </a:solidFill>
                <a:effectLst/>
                <a:latin typeface="Arial" panose="020B0604020202020204" pitchFamily="34" charset="0"/>
                <a:ea typeface="Arial" panose="020B0604020202020204" pitchFamily="34" charset="0"/>
              </a:rPr>
              <a:t>CITRATO DE MAGNESIO</a:t>
            </a:r>
            <a:r>
              <a:rPr lang="es-VE" sz="1200" dirty="0">
                <a:effectLst/>
                <a:latin typeface="Arial" panose="020B0604020202020204" pitchFamily="34" charset="0"/>
                <a:ea typeface="Arial" panose="020B0604020202020204" pitchFamily="34" charset="0"/>
              </a:rPr>
              <a:t>: 1 capsula (400 mg) todas las noches ANTES de dormir.</a:t>
            </a:r>
          </a:p>
          <a:p>
            <a:pPr marL="342900" indent="-342900" algn="just">
              <a:lnSpc>
                <a:spcPct val="150000"/>
              </a:lnSpc>
              <a:buFont typeface="+mj-lt"/>
              <a:buAutoNum type="arabicPeriod"/>
            </a:pPr>
            <a:r>
              <a:rPr lang="es-VE" sz="1200" b="1" dirty="0">
                <a:solidFill>
                  <a:schemeClr val="accent1">
                    <a:lumMod val="75000"/>
                  </a:schemeClr>
                </a:solidFill>
                <a:effectLst/>
                <a:latin typeface="Arial" panose="020B0604020202020204" pitchFamily="34" charset="0"/>
                <a:ea typeface="Arial" panose="020B0604020202020204" pitchFamily="34" charset="0"/>
              </a:rPr>
              <a:t>PROBIÓTICOS</a:t>
            </a:r>
            <a:r>
              <a:rPr lang="es-VE" sz="1200" dirty="0">
                <a:effectLst/>
                <a:latin typeface="Arial" panose="020B0604020202020204" pitchFamily="34" charset="0"/>
                <a:ea typeface="Arial" panose="020B0604020202020204" pitchFamily="34" charset="0"/>
              </a:rPr>
              <a:t>: Una cápsula al día junto al desayuno. </a:t>
            </a:r>
            <a:r>
              <a:rPr lang="es-VE" sz="1200" b="1" dirty="0">
                <a:solidFill>
                  <a:schemeClr val="accent1">
                    <a:lumMod val="75000"/>
                  </a:schemeClr>
                </a:solidFill>
                <a:latin typeface="Arial" panose="020B0604020202020204" pitchFamily="34" charset="0"/>
                <a:ea typeface="Arial" panose="020B0604020202020204" pitchFamily="34" charset="0"/>
              </a:rPr>
              <a:t>GLICINATO DE MAGNESIO (Magnesio elemental)</a:t>
            </a:r>
            <a:r>
              <a:rPr lang="es-VE" sz="1200" dirty="0">
                <a:latin typeface="Arial" panose="020B0604020202020204" pitchFamily="34" charset="0"/>
                <a:ea typeface="Arial" panose="020B0604020202020204" pitchFamily="34" charset="0"/>
              </a:rPr>
              <a:t>: 1 capsula (200 mg)   todas las noches ANTES de dormir.</a:t>
            </a:r>
            <a:endParaRPr lang="es-VE" sz="1200" dirty="0">
              <a:effectLst/>
              <a:latin typeface="Arial" panose="020B0604020202020204" pitchFamily="34" charset="0"/>
              <a:ea typeface="Arial" panose="020B0604020202020204" pitchFamily="34" charset="0"/>
            </a:endParaRPr>
          </a:p>
          <a:p>
            <a:pPr marL="342900" indent="-342900" algn="just">
              <a:lnSpc>
                <a:spcPct val="150000"/>
              </a:lnSpc>
              <a:buFont typeface="+mj-lt"/>
              <a:buAutoNum type="arabicPeriod"/>
            </a:pPr>
            <a:r>
              <a:rPr lang="es-VE" sz="1200" b="1" dirty="0">
                <a:solidFill>
                  <a:schemeClr val="accent1">
                    <a:lumMod val="75000"/>
                  </a:schemeClr>
                </a:solidFill>
                <a:effectLst/>
                <a:latin typeface="Arial" panose="020B0604020202020204" pitchFamily="34" charset="0"/>
                <a:ea typeface="Arial" panose="020B0604020202020204" pitchFamily="34" charset="0"/>
              </a:rPr>
              <a:t>CREATINA MONOHIDRATO</a:t>
            </a:r>
            <a:r>
              <a:rPr lang="es-VE" sz="1200" dirty="0">
                <a:effectLst/>
                <a:latin typeface="Arial" panose="020B0604020202020204" pitchFamily="34" charset="0"/>
                <a:ea typeface="Arial" panose="020B0604020202020204" pitchFamily="34" charset="0"/>
              </a:rPr>
              <a:t>: Dosis de 5 g/día (1 </a:t>
            </a:r>
            <a:r>
              <a:rPr lang="es-VE" sz="1200" dirty="0" err="1">
                <a:effectLst/>
                <a:latin typeface="Arial" panose="020B0604020202020204" pitchFamily="34" charset="0"/>
                <a:ea typeface="Arial" panose="020B0604020202020204" pitchFamily="34" charset="0"/>
              </a:rPr>
              <a:t>scoop</a:t>
            </a:r>
            <a:r>
              <a:rPr lang="es-VE" sz="1200" dirty="0">
                <a:effectLst/>
                <a:latin typeface="Arial" panose="020B0604020202020204" pitchFamily="34" charset="0"/>
                <a:ea typeface="Arial" panose="020B0604020202020204" pitchFamily="34" charset="0"/>
              </a:rPr>
              <a:t>). </a:t>
            </a:r>
            <a:r>
              <a:rPr lang="es-VE" sz="1200" b="1" dirty="0">
                <a:effectLst/>
                <a:latin typeface="Arial" panose="020B0604020202020204" pitchFamily="34" charset="0"/>
                <a:ea typeface="Arial" panose="020B0604020202020204" pitchFamily="34" charset="0"/>
              </a:rPr>
              <a:t>TODOS</a:t>
            </a:r>
            <a:r>
              <a:rPr lang="es-VE" sz="1200" dirty="0">
                <a:effectLst/>
                <a:latin typeface="Arial" panose="020B0604020202020204" pitchFamily="34" charset="0"/>
                <a:ea typeface="Arial" panose="020B0604020202020204" pitchFamily="34" charset="0"/>
              </a:rPr>
              <a:t> los días después de entrenar JUNTO con una comida principal. Asegúrate de cubrir tu requerimiento de agua diario. </a:t>
            </a:r>
          </a:p>
          <a:p>
            <a:pPr marL="342900" indent="-342900" algn="just">
              <a:lnSpc>
                <a:spcPct val="150000"/>
              </a:lnSpc>
              <a:buFont typeface="+mj-lt"/>
              <a:buAutoNum type="arabicPeriod"/>
            </a:pPr>
            <a:r>
              <a:rPr lang="es-VE" sz="1200" b="1" dirty="0">
                <a:solidFill>
                  <a:schemeClr val="accent1">
                    <a:lumMod val="75000"/>
                  </a:schemeClr>
                </a:solidFill>
                <a:latin typeface="Arial" panose="020B0604020202020204" pitchFamily="34" charset="0"/>
                <a:ea typeface="Arial" panose="020B0604020202020204" pitchFamily="34" charset="0"/>
              </a:rPr>
              <a:t>MELATONINA</a:t>
            </a:r>
            <a:r>
              <a:rPr lang="es-VE" sz="1200" dirty="0">
                <a:effectLst/>
                <a:latin typeface="Arial" panose="020B0604020202020204" pitchFamily="34" charset="0"/>
                <a:ea typeface="Arial" panose="020B0604020202020204" pitchFamily="34" charset="0"/>
              </a:rPr>
              <a:t>: Dosis de 1 cápsula (3-5 g/día) cerca de dormir (45 min antes </a:t>
            </a:r>
            <a:r>
              <a:rPr lang="es-VE" sz="1200" dirty="0" err="1">
                <a:effectLst/>
                <a:latin typeface="Arial" panose="020B0604020202020204" pitchFamily="34" charset="0"/>
                <a:ea typeface="Arial" panose="020B0604020202020204" pitchFamily="34" charset="0"/>
              </a:rPr>
              <a:t>aprox</a:t>
            </a:r>
            <a:r>
              <a:rPr lang="es-VE" sz="1200" dirty="0">
                <a:effectLst/>
                <a:latin typeface="Arial" panose="020B0604020202020204" pitchFamily="34" charset="0"/>
                <a:ea typeface="Arial" panose="020B0604020202020204" pitchFamily="34" charset="0"/>
              </a:rPr>
              <a:t>).</a:t>
            </a:r>
          </a:p>
          <a:p>
            <a:pPr marL="342900" indent="-342900" algn="just">
              <a:lnSpc>
                <a:spcPct val="150000"/>
              </a:lnSpc>
              <a:buFont typeface="+mj-lt"/>
              <a:buAutoNum type="arabicPeriod"/>
            </a:pPr>
            <a:r>
              <a:rPr lang="es-VE" sz="1200" b="1" dirty="0">
                <a:solidFill>
                  <a:schemeClr val="accent1">
                    <a:lumMod val="75000"/>
                  </a:schemeClr>
                </a:solidFill>
                <a:latin typeface="Arial" panose="020B0604020202020204" pitchFamily="34" charset="0"/>
                <a:ea typeface="Calibri" panose="020F0502020204030204" pitchFamily="34" charset="0"/>
              </a:rPr>
              <a:t>ASHWAGANDHA</a:t>
            </a:r>
            <a:r>
              <a:rPr lang="es-VE" sz="1200" dirty="0">
                <a:latin typeface="Arial" panose="020B0604020202020204" pitchFamily="34" charset="0"/>
                <a:ea typeface="Calibri" panose="020F0502020204030204" pitchFamily="34" charset="0"/>
              </a:rPr>
              <a:t>: Dosis de 1-2 cápsulas diaria entre comidas. Identifica tus puntos de estrés más elevados en el día. </a:t>
            </a:r>
            <a:endParaRPr lang="es-VE" sz="1200" dirty="0">
              <a:effectLst/>
              <a:latin typeface="Calibri" panose="020F0502020204030204" pitchFamily="34" charset="0"/>
              <a:ea typeface="Calibri" panose="020F0502020204030204" pitchFamily="34" charset="0"/>
            </a:endParaRPr>
          </a:p>
          <a:p>
            <a:pPr marL="342900" indent="-342900" algn="just">
              <a:lnSpc>
                <a:spcPct val="150000"/>
              </a:lnSpc>
              <a:buFont typeface="+mj-lt"/>
              <a:buAutoNum type="arabicPeriod"/>
            </a:pPr>
            <a:endParaRPr lang="es-VE" sz="1200" dirty="0">
              <a:effectLst/>
              <a:latin typeface="Calibri" panose="020F0502020204030204" pitchFamily="34" charset="0"/>
              <a:ea typeface="Calibri" panose="020F0502020204030204" pitchFamily="34" charset="0"/>
            </a:endParaRPr>
          </a:p>
          <a:p>
            <a:pPr marL="342900" indent="-342900" algn="just">
              <a:lnSpc>
                <a:spcPct val="150000"/>
              </a:lnSpc>
              <a:buFont typeface="+mj-lt"/>
              <a:buAutoNum type="arabicPeriod"/>
            </a:pPr>
            <a:endParaRPr lang="es-VE" sz="1050" dirty="0">
              <a:effectLst/>
              <a:latin typeface="Calibri" panose="020F0502020204030204" pitchFamily="34" charset="0"/>
              <a:ea typeface="Calibri" panose="020F0502020204030204" pitchFamily="34" charset="0"/>
            </a:endParaRPr>
          </a:p>
          <a:p>
            <a:pPr marL="342900" lvl="0" indent="-342900" algn="just">
              <a:lnSpc>
                <a:spcPct val="150000"/>
              </a:lnSpc>
              <a:buFont typeface="+mj-lt"/>
              <a:buAutoNum type="arabicPeriod"/>
            </a:pPr>
            <a:endParaRPr lang="es-VE" sz="1200" dirty="0">
              <a:effectLst/>
              <a:latin typeface="Calibri" panose="020F0502020204030204" pitchFamily="34" charset="0"/>
              <a:ea typeface="Calibri" panose="020F0502020204030204" pitchFamily="34" charset="0"/>
            </a:endParaRPr>
          </a:p>
        </p:txBody>
      </p:sp>
      <p:pic>
        <p:nvPicPr>
          <p:cNvPr id="9" name="Imagen 25">
            <a:extLst>
              <a:ext uri="{FF2B5EF4-FFF2-40B4-BE49-F238E27FC236}">
                <a16:creationId xmlns:a16="http://schemas.microsoft.com/office/drawing/2014/main" id="{58B37F8B-D999-C19E-AAE6-1F5BA008C5D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19312" r="23698"/>
          <a:stretch>
            <a:fillRect/>
          </a:stretch>
        </p:blipFill>
        <p:spPr bwMode="auto">
          <a:xfrm>
            <a:off x="945251" y="7063368"/>
            <a:ext cx="759686" cy="1333462"/>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71EA63F6-BB4C-CA25-CB66-497C54B6DA65}"/>
              </a:ext>
            </a:extLst>
          </p:cNvPr>
          <p:cNvPicPr>
            <a:picLocks noChangeAspect="1"/>
          </p:cNvPicPr>
          <p:nvPr/>
        </p:nvPicPr>
        <p:blipFill>
          <a:blip r:embed="rId5"/>
          <a:stretch>
            <a:fillRect/>
          </a:stretch>
        </p:blipFill>
        <p:spPr>
          <a:xfrm>
            <a:off x="1863341" y="7082309"/>
            <a:ext cx="683657" cy="1261480"/>
          </a:xfrm>
          <a:prstGeom prst="rect">
            <a:avLst/>
          </a:prstGeom>
        </p:spPr>
      </p:pic>
      <p:pic>
        <p:nvPicPr>
          <p:cNvPr id="11" name="Imagen 10" descr="Citrate/ Citrato Magnesio 400mg 180cps | MercadoLibre">
            <a:extLst>
              <a:ext uri="{FF2B5EF4-FFF2-40B4-BE49-F238E27FC236}">
                <a16:creationId xmlns:a16="http://schemas.microsoft.com/office/drawing/2014/main" id="{CB050B15-CD1A-38E3-842D-D26B1E158AF4}"/>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2768521" y="7010327"/>
            <a:ext cx="740410" cy="1439545"/>
          </a:xfrm>
          <a:prstGeom prst="rect">
            <a:avLst/>
          </a:prstGeom>
          <a:noFill/>
          <a:ln>
            <a:noFill/>
          </a:ln>
        </p:spPr>
      </p:pic>
      <p:pic>
        <p:nvPicPr>
          <p:cNvPr id="14" name="Imagen 13" descr="Probiotico - 10 C 25 Billones Now x 50 Cápsulas">
            <a:extLst>
              <a:ext uri="{FF2B5EF4-FFF2-40B4-BE49-F238E27FC236}">
                <a16:creationId xmlns:a16="http://schemas.microsoft.com/office/drawing/2014/main" id="{D65A7BBE-9636-E571-27A6-9EA183898BF2}"/>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1259" t="-1" r="25408" b="1656"/>
          <a:stretch/>
        </p:blipFill>
        <p:spPr bwMode="auto">
          <a:xfrm>
            <a:off x="3508931" y="6966829"/>
            <a:ext cx="827405" cy="1526540"/>
          </a:xfrm>
          <a:prstGeom prst="rect">
            <a:avLst/>
          </a:prstGeom>
          <a:noFill/>
          <a:ln>
            <a:noFill/>
          </a:ln>
          <a:extLst>
            <a:ext uri="{53640926-AAD7-44D8-BBD7-CCE9431645EC}">
              <a14:shadowObscured xmlns:a14="http://schemas.microsoft.com/office/drawing/2010/main"/>
            </a:ext>
          </a:extLst>
        </p:spPr>
      </p:pic>
      <p:pic>
        <p:nvPicPr>
          <p:cNvPr id="1028" name="Picture 4" descr="NOW MELATONIN 3MG X 60 CAPSULAS">
            <a:extLst>
              <a:ext uri="{FF2B5EF4-FFF2-40B4-BE49-F238E27FC236}">
                <a16:creationId xmlns:a16="http://schemas.microsoft.com/office/drawing/2014/main" id="{AC1EC1A0-67AB-9E0A-25E8-08988FAC140E}"/>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1766" r="26493"/>
          <a:stretch/>
        </p:blipFill>
        <p:spPr bwMode="auto">
          <a:xfrm>
            <a:off x="5345201" y="7174746"/>
            <a:ext cx="624449" cy="120688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KSM-66, Ashwagandha`` 60 cápsulas">
            <a:extLst>
              <a:ext uri="{FF2B5EF4-FFF2-40B4-BE49-F238E27FC236}">
                <a16:creationId xmlns:a16="http://schemas.microsoft.com/office/drawing/2014/main" id="{5E667F25-2A92-6D17-B305-99C5910DC8E1}"/>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22842" r="18926"/>
          <a:stretch/>
        </p:blipFill>
        <p:spPr bwMode="auto">
          <a:xfrm>
            <a:off x="6172606" y="7309271"/>
            <a:ext cx="624449" cy="1072356"/>
          </a:xfrm>
          <a:prstGeom prst="rect">
            <a:avLst/>
          </a:prstGeom>
          <a:noFill/>
          <a:extLst>
            <a:ext uri="{909E8E84-426E-40DD-AFC4-6F175D3DCCD1}">
              <a14:hiddenFill xmlns:a14="http://schemas.microsoft.com/office/drawing/2010/main">
                <a:solidFill>
                  <a:srgbClr val="FFFFFF"/>
                </a:solidFill>
              </a14:hiddenFill>
            </a:ext>
          </a:extLst>
        </p:spPr>
      </p:pic>
      <p:sp>
        <p:nvSpPr>
          <p:cNvPr id="15" name="CuadroTexto 14">
            <a:extLst>
              <a:ext uri="{FF2B5EF4-FFF2-40B4-BE49-F238E27FC236}">
                <a16:creationId xmlns:a16="http://schemas.microsoft.com/office/drawing/2014/main" id="{56F2A518-2121-00F3-894C-9066DEBAAA64}"/>
              </a:ext>
            </a:extLst>
          </p:cNvPr>
          <p:cNvSpPr txBox="1"/>
          <p:nvPr/>
        </p:nvSpPr>
        <p:spPr>
          <a:xfrm>
            <a:off x="136579" y="5587710"/>
            <a:ext cx="6484830" cy="1335622"/>
          </a:xfrm>
          <a:prstGeom prst="rect">
            <a:avLst/>
          </a:prstGeom>
          <a:solidFill>
            <a:schemeClr val="accent5">
              <a:lumMod val="20000"/>
              <a:lumOff val="80000"/>
            </a:schemeClr>
          </a:solidFill>
        </p:spPr>
        <p:txBody>
          <a:bodyPr wrap="square" rtlCol="0">
            <a:spAutoFit/>
          </a:bodyPr>
          <a:lstStyle/>
          <a:p>
            <a:pPr algn="just">
              <a:lnSpc>
                <a:spcPct val="150000"/>
              </a:lnSpc>
            </a:pPr>
            <a:r>
              <a:rPr lang="es-VE" sz="1100" b="1" dirty="0">
                <a:latin typeface="Arial Black" panose="020B0604020202020204" pitchFamily="34" charset="0"/>
                <a:cs typeface="Arial Black" panose="020B0604020202020204" pitchFamily="34" charset="0"/>
              </a:rPr>
              <a:t>SUPLEMENTOS COMO L-CARNITINA – BCAA – QUEMADORES DE GRASA – O SIMILARES </a:t>
            </a:r>
            <a:r>
              <a:rPr lang="es-VE" sz="1100" dirty="0">
                <a:latin typeface="Arial" panose="020B0604020202020204" pitchFamily="34" charset="0"/>
                <a:cs typeface="Arial" panose="020B0604020202020204" pitchFamily="34" charset="0"/>
              </a:rPr>
              <a:t>NO TIENEN UN EFECTO POSITIVO EN LA COMPOSICIÓN CORPORAL (NO LO DIGO YO, LO DICE LA CIENCIA) </a:t>
            </a:r>
            <a:r>
              <a:rPr lang="es-VE" sz="1100" dirty="0">
                <a:latin typeface="Arial" panose="020B0604020202020204" pitchFamily="34" charset="0"/>
                <a:cs typeface="Arial" panose="020B0604020202020204" pitchFamily="34" charset="0"/>
                <a:sym typeface="Wingdings" panose="05000000000000000000" pitchFamily="2" charset="2"/>
              </a:rPr>
              <a:t>          </a:t>
            </a:r>
            <a:r>
              <a:rPr lang="es-VE" sz="1100" b="1" dirty="0">
                <a:solidFill>
                  <a:srgbClr val="FF0000"/>
                </a:solidFill>
                <a:latin typeface="Arial" panose="020B0604020202020204" pitchFamily="34" charset="0"/>
                <a:cs typeface="Arial" panose="020B0604020202020204" pitchFamily="34" charset="0"/>
                <a:sym typeface="Wingdings" panose="05000000000000000000" pitchFamily="2" charset="2"/>
              </a:rPr>
              <a:t>POR ENDE NO SUGIERO SU CONSUMO</a:t>
            </a:r>
            <a:r>
              <a:rPr lang="es-VE" sz="1100" dirty="0">
                <a:latin typeface="Arial" panose="020B0604020202020204" pitchFamily="34" charset="0"/>
                <a:cs typeface="Arial" panose="020B0604020202020204" pitchFamily="34" charset="0"/>
                <a:sym typeface="Wingdings" panose="05000000000000000000" pitchFamily="2" charset="2"/>
              </a:rPr>
              <a:t>.</a:t>
            </a:r>
          </a:p>
          <a:p>
            <a:pPr algn="just">
              <a:lnSpc>
                <a:spcPct val="150000"/>
              </a:lnSpc>
            </a:pPr>
            <a:endParaRPr lang="es-VE" sz="1100" b="1" dirty="0">
              <a:latin typeface="Arial Black" panose="020B0604020202020204" pitchFamily="34" charset="0"/>
              <a:cs typeface="Arial Black" panose="020B0604020202020204" pitchFamily="34" charset="0"/>
              <a:sym typeface="Wingdings" panose="05000000000000000000" pitchFamily="2" charset="2"/>
            </a:endParaRPr>
          </a:p>
          <a:p>
            <a:pPr algn="just">
              <a:lnSpc>
                <a:spcPct val="150000"/>
              </a:lnSpc>
            </a:pPr>
            <a:r>
              <a:rPr lang="es-VE" sz="1100" b="1" dirty="0">
                <a:latin typeface="Arial Black" panose="020B0604020202020204" pitchFamily="34" charset="0"/>
                <a:cs typeface="Arial Black" panose="020B0604020202020204" pitchFamily="34" charset="0"/>
                <a:sym typeface="Wingdings" panose="05000000000000000000" pitchFamily="2" charset="2"/>
              </a:rPr>
              <a:t>CUALQUIER OTRO SUPLEMENTO QUE DESEES INCLUIR PUEDES CONSULTAR.</a:t>
            </a:r>
            <a:endParaRPr lang="es-VE" sz="1100" b="1" dirty="0">
              <a:latin typeface="Arial Black" panose="020B0604020202020204" pitchFamily="34" charset="0"/>
              <a:cs typeface="Arial Black" panose="020B0604020202020204" pitchFamily="34" charset="0"/>
            </a:endParaRPr>
          </a:p>
        </p:txBody>
      </p:sp>
      <p:pic>
        <p:nvPicPr>
          <p:cNvPr id="1032" name="Picture 8" descr="Emoji de WhatsApp: el significado de la cara de alivio — FMDOS">
            <a:extLst>
              <a:ext uri="{FF2B5EF4-FFF2-40B4-BE49-F238E27FC236}">
                <a16:creationId xmlns:a16="http://schemas.microsoft.com/office/drawing/2014/main" id="{046C182F-EB13-9966-9891-C7ABE7932711}"/>
              </a:ext>
            </a:extLst>
          </p:cNvPr>
          <p:cNvPicPr>
            <a:picLocks noChangeAspect="1" noChangeArrowheads="1"/>
          </p:cNvPicPr>
          <p:nvPr/>
        </p:nvPicPr>
        <p:blipFill>
          <a:blip r:embed="rId10">
            <a:extLst>
              <a:ext uri="{BEBA8EAE-BF5A-486C-A8C5-ECC9F3942E4B}">
                <a14:imgProps xmlns:a14="http://schemas.microsoft.com/office/drawing/2010/main">
                  <a14:imgLayer r:embed="rId11">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2169396" y="6111694"/>
            <a:ext cx="755204" cy="39648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Proteína en Polvo de Calidad | Aumenta tu Rendimiento">
            <a:extLst>
              <a:ext uri="{FF2B5EF4-FFF2-40B4-BE49-F238E27FC236}">
                <a16:creationId xmlns:a16="http://schemas.microsoft.com/office/drawing/2014/main" id="{ABBCE638-BB19-3FA6-FEAC-5D08D7C58872}"/>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2655" y="7192596"/>
            <a:ext cx="921872" cy="1151193"/>
          </a:xfrm>
          <a:prstGeom prst="rect">
            <a:avLst/>
          </a:prstGeom>
          <a:noFill/>
          <a:extLst>
            <a:ext uri="{909E8E84-426E-40DD-AFC4-6F175D3DCCD1}">
              <a14:hiddenFill xmlns:a14="http://schemas.microsoft.com/office/drawing/2010/main">
                <a:solidFill>
                  <a:srgbClr val="FFFFFF"/>
                </a:solidFill>
              </a14:hiddenFill>
            </a:ext>
          </a:extLst>
        </p:spPr>
      </p:pic>
      <p:pic>
        <p:nvPicPr>
          <p:cNvPr id="8" name="Imagen 7">
            <a:extLst>
              <a:ext uri="{FF2B5EF4-FFF2-40B4-BE49-F238E27FC236}">
                <a16:creationId xmlns:a16="http://schemas.microsoft.com/office/drawing/2014/main" id="{67A3C4CB-827A-5F70-8BA7-3BEB2023B029}"/>
              </a:ext>
            </a:extLst>
          </p:cNvPr>
          <p:cNvPicPr>
            <a:picLocks noChangeAspect="1"/>
          </p:cNvPicPr>
          <p:nvPr/>
        </p:nvPicPr>
        <p:blipFill>
          <a:blip r:embed="rId13"/>
          <a:stretch>
            <a:fillRect/>
          </a:stretch>
        </p:blipFill>
        <p:spPr>
          <a:xfrm>
            <a:off x="3274705" y="7626611"/>
            <a:ext cx="562315" cy="845009"/>
          </a:xfrm>
          <a:prstGeom prst="rect">
            <a:avLst/>
          </a:prstGeom>
        </p:spPr>
      </p:pic>
      <p:pic>
        <p:nvPicPr>
          <p:cNvPr id="5" name="Picture 2" descr="Creatina al 100 %, Calidad platino, Sin sabor, 400 g (14,11 oz)">
            <a:extLst>
              <a:ext uri="{FF2B5EF4-FFF2-40B4-BE49-F238E27FC236}">
                <a16:creationId xmlns:a16="http://schemas.microsoft.com/office/drawing/2014/main" id="{8D9BE48D-9A91-9AE7-C414-0F781FE3F005}"/>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4314788" y="7291815"/>
            <a:ext cx="1089812" cy="10898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04383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54894-38C4-BC20-18F2-6C8A3B078B24}"/>
            </a:ext>
          </a:extLst>
        </p:cNvPr>
        <p:cNvGrpSpPr/>
        <p:nvPr/>
      </p:nvGrpSpPr>
      <p:grpSpPr>
        <a:xfrm>
          <a:off x="0" y="0"/>
          <a:ext cx="0" cy="0"/>
          <a:chOff x="0" y="0"/>
          <a:chExt cx="0" cy="0"/>
        </a:xfrm>
      </p:grpSpPr>
      <p:pic>
        <p:nvPicPr>
          <p:cNvPr id="17" name="Imagen 16">
            <a:extLst>
              <a:ext uri="{FF2B5EF4-FFF2-40B4-BE49-F238E27FC236}">
                <a16:creationId xmlns:a16="http://schemas.microsoft.com/office/drawing/2014/main" id="{F3DCF18E-E46B-D8B4-1469-2B49D3F6E845}"/>
              </a:ext>
            </a:extLst>
          </p:cNvPr>
          <p:cNvPicPr>
            <a:picLocks noChangeAspect="1"/>
          </p:cNvPicPr>
          <p:nvPr/>
        </p:nvPicPr>
        <p:blipFill>
          <a:blip r:embed="rId2"/>
          <a:srcRect t="5764" b="43344"/>
          <a:stretch/>
        </p:blipFill>
        <p:spPr>
          <a:xfrm>
            <a:off x="3281273" y="5578501"/>
            <a:ext cx="2832603" cy="3116940"/>
          </a:xfrm>
          <a:prstGeom prst="rect">
            <a:avLst/>
          </a:prstGeom>
        </p:spPr>
      </p:pic>
      <p:pic>
        <p:nvPicPr>
          <p:cNvPr id="3" name="Imagen 2">
            <a:extLst>
              <a:ext uri="{FF2B5EF4-FFF2-40B4-BE49-F238E27FC236}">
                <a16:creationId xmlns:a16="http://schemas.microsoft.com/office/drawing/2014/main" id="{0DE7B7A3-3A16-5A6E-28FF-715B1EE2BFD4}"/>
              </a:ext>
            </a:extLst>
          </p:cNvPr>
          <p:cNvPicPr>
            <a:picLocks noChangeAspect="1"/>
          </p:cNvPicPr>
          <p:nvPr/>
        </p:nvPicPr>
        <p:blipFill>
          <a:blip r:embed="rId3"/>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F61ADC3B-BDB7-FD6F-5C8F-DF5EFE732A70}"/>
              </a:ext>
            </a:extLst>
          </p:cNvPr>
          <p:cNvSpPr txBox="1"/>
          <p:nvPr/>
        </p:nvSpPr>
        <p:spPr>
          <a:xfrm>
            <a:off x="207158" y="222069"/>
            <a:ext cx="6343669" cy="646331"/>
          </a:xfrm>
          <a:prstGeom prst="rect">
            <a:avLst/>
          </a:prstGeom>
          <a:noFill/>
        </p:spPr>
        <p:txBody>
          <a:bodyPr wrap="square" rtlCol="0">
            <a:spAutoFit/>
          </a:bodyPr>
          <a:lstStyle/>
          <a:p>
            <a:pPr algn="ctr"/>
            <a:r>
              <a:rPr lang="es-VE" sz="36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¿DÓNDE ADQUIRIRLOS?</a:t>
            </a:r>
          </a:p>
        </p:txBody>
      </p:sp>
      <p:pic>
        <p:nvPicPr>
          <p:cNvPr id="8" name="Imagen 7">
            <a:extLst>
              <a:ext uri="{FF2B5EF4-FFF2-40B4-BE49-F238E27FC236}">
                <a16:creationId xmlns:a16="http://schemas.microsoft.com/office/drawing/2014/main" id="{6ECECAF3-08E6-F749-016B-B87A494FB35E}"/>
              </a:ext>
            </a:extLst>
          </p:cNvPr>
          <p:cNvPicPr>
            <a:picLocks noChangeAspect="1"/>
          </p:cNvPicPr>
          <p:nvPr/>
        </p:nvPicPr>
        <p:blipFill>
          <a:blip r:embed="rId4"/>
          <a:srcRect t="4921" b="19487"/>
          <a:stretch/>
        </p:blipFill>
        <p:spPr>
          <a:xfrm>
            <a:off x="292262" y="1254035"/>
            <a:ext cx="2633817" cy="4304727"/>
          </a:xfrm>
          <a:prstGeom prst="rect">
            <a:avLst/>
          </a:prstGeom>
        </p:spPr>
      </p:pic>
      <p:pic>
        <p:nvPicPr>
          <p:cNvPr id="13" name="Imagen 12">
            <a:extLst>
              <a:ext uri="{FF2B5EF4-FFF2-40B4-BE49-F238E27FC236}">
                <a16:creationId xmlns:a16="http://schemas.microsoft.com/office/drawing/2014/main" id="{F3A6C780-0869-BB2E-89DB-DC4EA350D355}"/>
              </a:ext>
            </a:extLst>
          </p:cNvPr>
          <p:cNvPicPr>
            <a:picLocks noChangeAspect="1"/>
          </p:cNvPicPr>
          <p:nvPr/>
        </p:nvPicPr>
        <p:blipFill>
          <a:blip r:embed="rId5"/>
          <a:srcRect t="5202" b="19303"/>
          <a:stretch/>
        </p:blipFill>
        <p:spPr>
          <a:xfrm>
            <a:off x="3378993" y="1236413"/>
            <a:ext cx="2637165" cy="4304727"/>
          </a:xfrm>
          <a:prstGeom prst="rect">
            <a:avLst/>
          </a:prstGeom>
        </p:spPr>
      </p:pic>
      <p:pic>
        <p:nvPicPr>
          <p:cNvPr id="16" name="Imagen 15">
            <a:extLst>
              <a:ext uri="{FF2B5EF4-FFF2-40B4-BE49-F238E27FC236}">
                <a16:creationId xmlns:a16="http://schemas.microsoft.com/office/drawing/2014/main" id="{1BEF1606-1654-DC11-20FE-CC10F9E4D647}"/>
              </a:ext>
            </a:extLst>
          </p:cNvPr>
          <p:cNvPicPr>
            <a:picLocks noChangeAspect="1"/>
          </p:cNvPicPr>
          <p:nvPr/>
        </p:nvPicPr>
        <p:blipFill>
          <a:blip r:embed="rId6"/>
          <a:srcRect t="4639" b="42641"/>
          <a:stretch/>
        </p:blipFill>
        <p:spPr>
          <a:xfrm>
            <a:off x="292262" y="5596122"/>
            <a:ext cx="2663686" cy="3036326"/>
          </a:xfrm>
          <a:prstGeom prst="rect">
            <a:avLst/>
          </a:prstGeom>
        </p:spPr>
      </p:pic>
    </p:spTree>
    <p:extLst>
      <p:ext uri="{BB962C8B-B14F-4D97-AF65-F5344CB8AC3E}">
        <p14:creationId xmlns:p14="http://schemas.microsoft.com/office/powerpoint/2010/main" val="19062011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5" name="Imagen 1">
            <a:extLst>
              <a:ext uri="{FF2B5EF4-FFF2-40B4-BE49-F238E27FC236}">
                <a16:creationId xmlns:a16="http://schemas.microsoft.com/office/drawing/2014/main" id="{C30DF65E-8082-3739-E7E5-01BF045155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1470" t="18887" r="31381" b="15883"/>
          <a:stretch>
            <a:fillRect/>
          </a:stretch>
        </p:blipFill>
        <p:spPr bwMode="auto">
          <a:xfrm>
            <a:off x="651385" y="1155627"/>
            <a:ext cx="5264150" cy="3379788"/>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6059F46B-F2E5-E544-08A9-A598EC056E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2376" t="19086" r="31755" b="15324"/>
          <a:stretch>
            <a:fillRect/>
          </a:stretch>
        </p:blipFill>
        <p:spPr bwMode="auto">
          <a:xfrm>
            <a:off x="1032385" y="5454649"/>
            <a:ext cx="4502150" cy="29718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8">
            <a:extLst>
              <a:ext uri="{FF2B5EF4-FFF2-40B4-BE49-F238E27FC236}">
                <a16:creationId xmlns:a16="http://schemas.microsoft.com/office/drawing/2014/main" id="{7E79C897-67FE-7FBF-E6CA-14F3A50CFC2D}"/>
              </a:ext>
            </a:extLst>
          </p:cNvPr>
          <p:cNvSpPr>
            <a:spLocks noChangeArrowheads="1"/>
          </p:cNvSpPr>
          <p:nvPr/>
        </p:nvSpPr>
        <p:spPr bwMode="auto">
          <a:xfrm>
            <a:off x="0" y="0"/>
            <a:ext cx="67579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VE"/>
          </a:p>
        </p:txBody>
      </p:sp>
      <p:sp>
        <p:nvSpPr>
          <p:cNvPr id="9" name="CuadroTexto 8">
            <a:extLst>
              <a:ext uri="{FF2B5EF4-FFF2-40B4-BE49-F238E27FC236}">
                <a16:creationId xmlns:a16="http://schemas.microsoft.com/office/drawing/2014/main" id="{85D2FA11-2F92-BC77-7ED0-F5178048F907}"/>
              </a:ext>
            </a:extLst>
          </p:cNvPr>
          <p:cNvSpPr txBox="1"/>
          <p:nvPr/>
        </p:nvSpPr>
        <p:spPr>
          <a:xfrm>
            <a:off x="448432" y="4780861"/>
            <a:ext cx="5801382"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tab pos="1238250" algn="l"/>
              </a:tabLst>
            </a:pPr>
            <a:r>
              <a:rPr kumimoji="0" lang="es-VE" altLang="es-VE" sz="1800" b="1" i="0" u="none" strike="noStrike" cap="none" normalizeH="0" baseline="0" dirty="0">
                <a:ln>
                  <a:noFill/>
                </a:ln>
                <a:solidFill>
                  <a:schemeClr val="tx1"/>
                </a:solidFill>
                <a:effectLst/>
                <a:latin typeface="Arial" panose="020B0604020202020204" pitchFamily="34" charset="0"/>
                <a:ea typeface="Calibri" panose="020F0502020204030204" pitchFamily="34" charset="0"/>
                <a:cs typeface="Arial" panose="020B0604020202020204" pitchFamily="34" charset="0"/>
                <a:hlinkClick r:id="rId4"/>
              </a:rPr>
              <a:t>https://www.youtube.com/watch?v=cuRc7uYdWbM</a:t>
            </a:r>
            <a:endParaRPr kumimoji="0" lang="es-VE" altLang="es-VE" sz="800" b="0" i="0" u="none" strike="noStrike" cap="none" normalizeH="0" baseline="0" dirty="0">
              <a:ln>
                <a:noFill/>
              </a:ln>
              <a:solidFill>
                <a:schemeClr val="tx1"/>
              </a:solidFill>
              <a:effectLst/>
            </a:endParaRPr>
          </a:p>
        </p:txBody>
      </p:sp>
      <p:sp>
        <p:nvSpPr>
          <p:cNvPr id="11" name="CuadroTexto 10">
            <a:extLst>
              <a:ext uri="{FF2B5EF4-FFF2-40B4-BE49-F238E27FC236}">
                <a16:creationId xmlns:a16="http://schemas.microsoft.com/office/drawing/2014/main" id="{08B65D36-CED0-329F-2520-C3C8501421B5}"/>
              </a:ext>
            </a:extLst>
          </p:cNvPr>
          <p:cNvSpPr txBox="1"/>
          <p:nvPr/>
        </p:nvSpPr>
        <p:spPr>
          <a:xfrm>
            <a:off x="448432" y="8613631"/>
            <a:ext cx="6461597"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VE" altLang="es-VE" sz="1800" b="1" i="0" u="none" strike="noStrike" cap="none" normalizeH="0" baseline="0" dirty="0">
                <a:ln>
                  <a:noFill/>
                </a:ln>
                <a:solidFill>
                  <a:schemeClr val="tx1"/>
                </a:solidFill>
                <a:effectLst/>
                <a:latin typeface="Arial" panose="020B0604020202020204" pitchFamily="34" charset="0"/>
                <a:ea typeface="Calibri" panose="020F0502020204030204" pitchFamily="34" charset="0"/>
                <a:cs typeface="Arial" panose="020B0604020202020204" pitchFamily="34" charset="0"/>
                <a:hlinkClick r:id="rId5"/>
              </a:rPr>
              <a:t>https://www.youtube.com/watch?v=wFWL3ZXvPP4</a:t>
            </a:r>
            <a:r>
              <a:rPr kumimoji="0" lang="es-VE" altLang="es-VE" sz="800" b="0" i="0" u="none" strike="noStrike" cap="none" normalizeH="0" baseline="0" dirty="0">
                <a:ln>
                  <a:noFill/>
                </a:ln>
                <a:solidFill>
                  <a:schemeClr val="tx1"/>
                </a:solidFill>
                <a:effectLst/>
              </a:rPr>
              <a:t> </a:t>
            </a:r>
            <a:endParaRPr kumimoji="0" lang="es-VE" altLang="es-VE" sz="3200" b="0" i="0" u="none" strike="noStrike" cap="none" normalizeH="0" baseline="0" dirty="0">
              <a:ln>
                <a:noFill/>
              </a:ln>
              <a:solidFill>
                <a:schemeClr val="tx1"/>
              </a:solidFill>
              <a:effectLst/>
              <a:latin typeface="Arial" panose="020B0604020202020204" pitchFamily="34" charset="0"/>
            </a:endParaRPr>
          </a:p>
        </p:txBody>
      </p:sp>
      <p:sp>
        <p:nvSpPr>
          <p:cNvPr id="2" name="CuadroTexto 1">
            <a:extLst>
              <a:ext uri="{FF2B5EF4-FFF2-40B4-BE49-F238E27FC236}">
                <a16:creationId xmlns:a16="http://schemas.microsoft.com/office/drawing/2014/main" id="{1BA8DD4E-B6FE-30A1-670E-9962C4C2278B}"/>
              </a:ext>
            </a:extLst>
          </p:cNvPr>
          <p:cNvSpPr txBox="1"/>
          <p:nvPr/>
        </p:nvSpPr>
        <p:spPr>
          <a:xfrm>
            <a:off x="207158" y="222069"/>
            <a:ext cx="6343669" cy="830997"/>
          </a:xfrm>
          <a:prstGeom prst="rect">
            <a:avLst/>
          </a:prstGeom>
          <a:noFill/>
        </p:spPr>
        <p:txBody>
          <a:bodyPr wrap="square" rtlCol="0">
            <a:spAutoFit/>
          </a:bodyPr>
          <a:lstStyle/>
          <a:p>
            <a:pPr algn="ctr"/>
            <a:r>
              <a:rPr lang="es-VE" sz="24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ORIENTACIÓN BÁSICA PARA ORGANIZAR TUS RUTINAS</a:t>
            </a:r>
          </a:p>
        </p:txBody>
      </p:sp>
    </p:spTree>
    <p:extLst>
      <p:ext uri="{BB962C8B-B14F-4D97-AF65-F5344CB8AC3E}">
        <p14:creationId xmlns:p14="http://schemas.microsoft.com/office/powerpoint/2010/main" val="3119834231"/>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21904</TotalTime>
  <Words>4188</Words>
  <Application>Microsoft Macintosh PowerPoint</Application>
  <PresentationFormat>Custom</PresentationFormat>
  <Paragraphs>604</Paragraphs>
  <Slides>17</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Aptos</vt:lpstr>
      <vt:lpstr>Arial</vt:lpstr>
      <vt:lpstr>Arial Black</vt:lpstr>
      <vt:lpstr>Calibri</vt:lpstr>
      <vt:lpstr>Calibri Light</vt:lpstr>
      <vt:lpstr>Lovelo Bold</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Microsoft Office User</dc:creator>
  <cp:lastModifiedBy>Ernesto Lugo</cp:lastModifiedBy>
  <cp:revision>112</cp:revision>
  <dcterms:created xsi:type="dcterms:W3CDTF">2024-06-02T23:16:25Z</dcterms:created>
  <dcterms:modified xsi:type="dcterms:W3CDTF">2026-04-05T16:25:16Z</dcterms:modified>
</cp:coreProperties>
</file>