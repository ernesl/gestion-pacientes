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4762500" cy="4762500"/>
  <p:notesSz cx="6858000" cy="9144000"/>
  <p:embeddedFontLst>
    <p:embeddedFont>
      <p:font typeface="Arial Black" panose="020B0604020202020204" pitchFamily="34" charset="0"/>
      <p:bold r:id="rId9"/>
    </p:embeddedFont>
    <p:embeddedFont>
      <p:font typeface="Assistant Bold" pitchFamily="2" charset="-79"/>
      <p:regular r:id="rId10"/>
      <p:bold r:id="rId11"/>
    </p:embeddedFont>
    <p:embeddedFont>
      <p:font typeface="Assistant Ultra-Bold" pitchFamily="2" charset="-79"/>
      <p:regular r:id="rId12"/>
      <p:bold r:id="rId13"/>
    </p:embeddedFont>
    <p:embeddedFont>
      <p:font typeface="Cabin" pitchFamily="2" charset="77"/>
      <p:regular r:id="rId14"/>
    </p:embeddedFont>
    <p:embeddedFont>
      <p:font typeface="Cooper Hewitt Bold" pitchFamily="2" charset="77"/>
      <p:regular r:id="rId15"/>
      <p:bold r:id="rId16"/>
    </p:embeddedFont>
    <p:embeddedFont>
      <p:font typeface="Cooper Hewitt Bold Italics" pitchFamily="2" charset="77"/>
      <p:regular r:id="rId17"/>
      <p:bold r:id="rId18"/>
      <p:italic r:id="rId19"/>
      <p:boldItalic r:id="rId20"/>
    </p:embeddedFont>
    <p:embeddedFont>
      <p:font typeface="Exo" pitchFamily="2" charset="77"/>
      <p:regular r:id="rId21"/>
    </p:embeddedFont>
    <p:embeddedFont>
      <p:font typeface="Exo Bold" pitchFamily="2" charset="77"/>
      <p:regular r:id="rId22"/>
      <p:bold r:id="rId23"/>
    </p:embeddedFont>
    <p:embeddedFont>
      <p:font typeface="Lovelo" panose="02000000000000000000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 autoAdjust="0"/>
    <p:restoredTop sz="94589" autoAdjust="0"/>
  </p:normalViewPr>
  <p:slideViewPr>
    <p:cSldViewPr>
      <p:cViewPr varScale="1">
        <p:scale>
          <a:sx n="173" d="100"/>
          <a:sy n="173" d="100"/>
        </p:scale>
        <p:origin x="238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4E3182-D21F-284E-B82E-6C2D60E7DEA9}" type="datetimeFigureOut">
              <a:rPr lang="en-VE" smtClean="0"/>
              <a:t>5/4/26</a:t>
            </a:fld>
            <a:endParaRPr lang="en-V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36D188-D98E-4642-A1C2-932BD2B916D4}" type="slidenum">
              <a:rPr lang="en-VE" smtClean="0"/>
              <a:t>‹#›</a:t>
            </a:fld>
            <a:endParaRPr lang="en-VE"/>
          </a:p>
        </p:txBody>
      </p:sp>
    </p:spTree>
    <p:extLst>
      <p:ext uri="{BB962C8B-B14F-4D97-AF65-F5344CB8AC3E}">
        <p14:creationId xmlns:p14="http://schemas.microsoft.com/office/powerpoint/2010/main" val="3486436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6D188-D98E-4642-A1C2-932BD2B916D4}" type="slidenum">
              <a:rPr lang="en-VE" smtClean="0"/>
              <a:t>1</a:t>
            </a:fld>
            <a:endParaRPr lang="en-VE"/>
          </a:p>
        </p:txBody>
      </p:sp>
    </p:spTree>
    <p:extLst>
      <p:ext uri="{BB962C8B-B14F-4D97-AF65-F5344CB8AC3E}">
        <p14:creationId xmlns:p14="http://schemas.microsoft.com/office/powerpoint/2010/main" val="1151312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6D188-D98E-4642-A1C2-932BD2B916D4}" type="slidenum">
              <a:rPr lang="en-VE" smtClean="0"/>
              <a:t>3</a:t>
            </a:fld>
            <a:endParaRPr lang="en-VE"/>
          </a:p>
        </p:txBody>
      </p:sp>
    </p:spTree>
    <p:extLst>
      <p:ext uri="{BB962C8B-B14F-4D97-AF65-F5344CB8AC3E}">
        <p14:creationId xmlns:p14="http://schemas.microsoft.com/office/powerpoint/2010/main" val="3670702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1.png"/><Relationship Id="rId18" Type="http://schemas.microsoft.com/office/2007/relationships/hdphoto" Target="../media/hdphoto7.wdp"/><Relationship Id="rId3" Type="http://schemas.openxmlformats.org/officeDocument/2006/relationships/image" Target="../media/image5.png"/><Relationship Id="rId21" Type="http://schemas.openxmlformats.org/officeDocument/2006/relationships/image" Target="../media/image15.png"/><Relationship Id="rId7" Type="http://schemas.openxmlformats.org/officeDocument/2006/relationships/image" Target="../media/image8.png"/><Relationship Id="rId12" Type="http://schemas.microsoft.com/office/2007/relationships/hdphoto" Target="../media/hdphoto4.wdp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6" Type="http://schemas.microsoft.com/office/2007/relationships/hdphoto" Target="../media/hdphoto6.wdp"/><Relationship Id="rId20" Type="http://schemas.microsoft.com/office/2007/relationships/hdphoto" Target="../media/hdphoto8.wdp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10" Type="http://schemas.microsoft.com/office/2007/relationships/hdphoto" Target="../media/hdphoto3.wdp"/><Relationship Id="rId19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14" Type="http://schemas.microsoft.com/office/2007/relationships/hdphoto" Target="../media/hdphoto5.wdp"/><Relationship Id="rId22" Type="http://schemas.microsoft.com/office/2007/relationships/hdphoto" Target="../media/hdphoto9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762500" cy="4762500"/>
          </a:xfrm>
          <a:custGeom>
            <a:avLst/>
            <a:gdLst/>
            <a:ahLst/>
            <a:cxnLst/>
            <a:rect l="l" t="t" r="r" b="b"/>
            <a:pathLst>
              <a:path w="4762500" h="4762500">
                <a:moveTo>
                  <a:pt x="0" y="0"/>
                </a:moveTo>
                <a:lnTo>
                  <a:pt x="4762500" y="0"/>
                </a:lnTo>
                <a:lnTo>
                  <a:pt x="4762500" y="4762500"/>
                </a:lnTo>
                <a:lnTo>
                  <a:pt x="0" y="4762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6751" b="-675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1750" y="3276406"/>
            <a:ext cx="1133834" cy="1486094"/>
          </a:xfrm>
          <a:custGeom>
            <a:avLst/>
            <a:gdLst/>
            <a:ahLst/>
            <a:cxnLst/>
            <a:rect l="l" t="t" r="r" b="b"/>
            <a:pathLst>
              <a:path w="1133834" h="1486094">
                <a:moveTo>
                  <a:pt x="0" y="0"/>
                </a:moveTo>
                <a:lnTo>
                  <a:pt x="1133834" y="0"/>
                </a:lnTo>
                <a:lnTo>
                  <a:pt x="1133834" y="1486094"/>
                </a:lnTo>
                <a:lnTo>
                  <a:pt x="0" y="14860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84343" y="2899901"/>
            <a:ext cx="2882589" cy="550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2"/>
              </a:lnSpc>
            </a:pPr>
            <a:r>
              <a:rPr lang="en-US" sz="2179" b="1" i="1" spc="-43">
                <a:solidFill>
                  <a:srgbClr val="1E1E1E"/>
                </a:solidFill>
                <a:latin typeface="Lovelo"/>
                <a:ea typeface="Lovelo"/>
                <a:cs typeface="Lovelo"/>
                <a:sym typeface="Lovelo"/>
              </a:rPr>
              <a:t>INFORME ANTROPOMÉTRICO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35850" y="339927"/>
            <a:ext cx="2858890" cy="17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52"/>
              </a:lnSpc>
              <a:spcBef>
                <a:spcPct val="0"/>
              </a:spcBef>
            </a:pPr>
            <a:r>
              <a:rPr lang="en-US" sz="965" b="1" i="1" spc="-19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CARACAS, {{MES_ACTUAL}} DE 2026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80459" y="674039"/>
            <a:ext cx="3189335" cy="3612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62"/>
              </a:lnSpc>
            </a:pPr>
            <a:r>
              <a:rPr lang="en-US" sz="92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La evaluación antropométrica (a través de la cineantropometría) es una herramienta que permite analizar la influencia de varios factores que afectan las características morfológicas y la composición corporal de individuos o deportistas físicamente activos, lo que directamente tendrá influencia en el entrenamiento, recuperación, y nutrición. La realización de un perfil antropométrico permite obtener valores correspondientes a los  componentes estructurales más importantes del cuerpo, los cuales son: músculo, grasa y hueso, datos de suma importancia al momento de realizar una intervención dietética especifica. </a:t>
            </a:r>
          </a:p>
          <a:p>
            <a:pPr algn="just">
              <a:lnSpc>
                <a:spcPts val="1462"/>
              </a:lnSpc>
            </a:pPr>
            <a:endParaRPr lang="en-US" sz="921">
              <a:solidFill>
                <a:srgbClr val="000000"/>
              </a:solidFill>
              <a:latin typeface="Exo"/>
              <a:ea typeface="Exo"/>
              <a:cs typeface="Exo"/>
              <a:sym typeface="Exo"/>
            </a:endParaRPr>
          </a:p>
          <a:p>
            <a:pPr algn="just">
              <a:lnSpc>
                <a:spcPts val="1462"/>
              </a:lnSpc>
            </a:pPr>
            <a:r>
              <a:rPr lang="en-US" sz="92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La evaluación se lleva a cabo bajo el protocolo de marcaje y medición indicado por la </a:t>
            </a:r>
            <a:r>
              <a:rPr lang="en-US" sz="921">
                <a:solidFill>
                  <a:srgbClr val="049ADE"/>
                </a:solidFill>
                <a:latin typeface="Exo"/>
                <a:ea typeface="Exo"/>
                <a:cs typeface="Exo"/>
                <a:sym typeface="Exo"/>
              </a:rPr>
              <a:t>International Society for the Avancement in Kineanthropometric (ISAK)</a:t>
            </a:r>
            <a:r>
              <a:rPr lang="en-US" sz="92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, en condiciones normales de temperatura, en un área con suficiente espacio y buena iluminación. Las variables tomadas en cuenta fueron: masa corporal, talla, talla sentado, pliegues cutáneos, perímetros musculares y diámetros óseos. </a:t>
            </a:r>
          </a:p>
        </p:txBody>
      </p:sp>
      <p:sp>
        <p:nvSpPr>
          <p:cNvPr id="4" name="Freeform 4"/>
          <p:cNvSpPr/>
          <p:nvPr/>
        </p:nvSpPr>
        <p:spPr>
          <a:xfrm>
            <a:off x="77250" y="3645579"/>
            <a:ext cx="1244013" cy="833595"/>
          </a:xfrm>
          <a:custGeom>
            <a:avLst/>
            <a:gdLst/>
            <a:ahLst/>
            <a:cxnLst/>
            <a:rect l="l" t="t" r="r" b="b"/>
            <a:pathLst>
              <a:path w="1244013" h="833595">
                <a:moveTo>
                  <a:pt x="0" y="0"/>
                </a:moveTo>
                <a:lnTo>
                  <a:pt x="1244012" y="0"/>
                </a:lnTo>
                <a:lnTo>
                  <a:pt x="1244012" y="833594"/>
                </a:lnTo>
                <a:lnTo>
                  <a:pt x="0" y="8335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945496"/>
            <a:ext cx="1421242" cy="2133511"/>
          </a:xfrm>
          <a:custGeom>
            <a:avLst/>
            <a:gdLst/>
            <a:ahLst/>
            <a:cxnLst/>
            <a:rect l="l" t="t" r="r" b="b"/>
            <a:pathLst>
              <a:path w="1421242" h="2133511">
                <a:moveTo>
                  <a:pt x="0" y="0"/>
                </a:moveTo>
                <a:lnTo>
                  <a:pt x="1421242" y="0"/>
                </a:lnTo>
                <a:lnTo>
                  <a:pt x="1421242" y="2133511"/>
                </a:lnTo>
                <a:lnTo>
                  <a:pt x="0" y="21335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441" r="-16674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5916" y="3112842"/>
            <a:ext cx="1306680" cy="553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1"/>
              </a:lnSpc>
            </a:pPr>
            <a:r>
              <a:rPr lang="en-US" sz="671" b="1" i="1" spc="-13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SAMUEL OCHOA</a:t>
            </a:r>
          </a:p>
          <a:p>
            <a:pPr algn="ctr">
              <a:lnSpc>
                <a:spcPts val="1121"/>
              </a:lnSpc>
            </a:pPr>
            <a:r>
              <a:rPr lang="es-VE" sz="600" b="1" i="1" u="sng" dirty="0">
                <a:latin typeface="Arial Black" panose="020B0604020202020204" pitchFamily="34" charset="0"/>
                <a:cs typeface="Arial Black" panose="020B0604020202020204" pitchFamily="34" charset="0"/>
              </a:rPr>
              <a:t>UCV-MPPS: 5489</a:t>
            </a:r>
            <a:endParaRPr lang="en-US" sz="500" b="1" i="1" spc="-13" dirty="0">
              <a:solidFill>
                <a:srgbClr val="000000"/>
              </a:solidFill>
              <a:latin typeface="Lovelo"/>
              <a:ea typeface="Lovelo"/>
              <a:cs typeface="Lovelo"/>
              <a:sym typeface="Lovelo"/>
            </a:endParaRPr>
          </a:p>
          <a:p>
            <a:pPr algn="ctr">
              <a:lnSpc>
                <a:spcPts val="1121"/>
              </a:lnSpc>
            </a:pPr>
            <a:r>
              <a:rPr lang="en-US" sz="671" b="1" i="1" spc="-13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ANTROPOMETRISTA ISAK NIVEL 2.</a:t>
            </a:r>
          </a:p>
          <a:p>
            <a:pPr algn="ctr">
              <a:lnSpc>
                <a:spcPts val="1121"/>
              </a:lnSpc>
            </a:pPr>
            <a:r>
              <a:rPr lang="en-US" sz="671" b="1" i="1" spc="-13" dirty="0">
                <a:solidFill>
                  <a:srgbClr val="049ADE"/>
                </a:solidFill>
                <a:latin typeface="Lovelo"/>
                <a:ea typeface="Lovelo"/>
                <a:cs typeface="Lovelo"/>
                <a:sym typeface="Lovelo"/>
              </a:rPr>
              <a:t>Certificate #638578814603302690</a:t>
            </a:r>
          </a:p>
        </p:txBody>
      </p:sp>
      <p:sp>
        <p:nvSpPr>
          <p:cNvPr id="7" name="Freeform 7"/>
          <p:cNvSpPr/>
          <p:nvPr/>
        </p:nvSpPr>
        <p:spPr>
          <a:xfrm>
            <a:off x="4438650" y="4362449"/>
            <a:ext cx="323850" cy="403303"/>
          </a:xfrm>
          <a:custGeom>
            <a:avLst/>
            <a:gdLst/>
            <a:ahLst/>
            <a:cxnLst/>
            <a:rect l="l" t="t" r="r" b="b"/>
            <a:pathLst>
              <a:path w="408844" h="535864">
                <a:moveTo>
                  <a:pt x="0" y="0"/>
                </a:moveTo>
                <a:lnTo>
                  <a:pt x="408844" y="0"/>
                </a:lnTo>
                <a:lnTo>
                  <a:pt x="408844" y="535864"/>
                </a:lnTo>
                <a:lnTo>
                  <a:pt x="0" y="535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560" y="315559"/>
            <a:ext cx="1480481" cy="4762500"/>
            <a:chOff x="0" y="0"/>
            <a:chExt cx="1577229" cy="36264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77229" cy="3626405"/>
            </a:xfrm>
            <a:custGeom>
              <a:avLst/>
              <a:gdLst/>
              <a:ahLst/>
              <a:cxnLst/>
              <a:rect l="l" t="t" r="r" b="b"/>
              <a:pathLst>
                <a:path w="1577229" h="3626405">
                  <a:moveTo>
                    <a:pt x="76808" y="0"/>
                  </a:moveTo>
                  <a:lnTo>
                    <a:pt x="1500422" y="0"/>
                  </a:lnTo>
                  <a:cubicBezTo>
                    <a:pt x="1542841" y="0"/>
                    <a:pt x="1577229" y="34388"/>
                    <a:pt x="1577229" y="76808"/>
                  </a:cubicBezTo>
                  <a:lnTo>
                    <a:pt x="1577229" y="3549597"/>
                  </a:lnTo>
                  <a:cubicBezTo>
                    <a:pt x="1577229" y="3592017"/>
                    <a:pt x="1542841" y="3626405"/>
                    <a:pt x="1500422" y="3626405"/>
                  </a:cubicBezTo>
                  <a:lnTo>
                    <a:pt x="76808" y="3626405"/>
                  </a:lnTo>
                  <a:cubicBezTo>
                    <a:pt x="56437" y="3626405"/>
                    <a:pt x="36901" y="3618312"/>
                    <a:pt x="22496" y="3603908"/>
                  </a:cubicBezTo>
                  <a:cubicBezTo>
                    <a:pt x="8092" y="3589504"/>
                    <a:pt x="0" y="3569968"/>
                    <a:pt x="0" y="3549597"/>
                  </a:cubicBezTo>
                  <a:lnTo>
                    <a:pt x="0" y="76808"/>
                  </a:lnTo>
                  <a:cubicBezTo>
                    <a:pt x="0" y="56437"/>
                    <a:pt x="8092" y="36901"/>
                    <a:pt x="22496" y="22496"/>
                  </a:cubicBezTo>
                  <a:cubicBezTo>
                    <a:pt x="36901" y="8092"/>
                    <a:pt x="56437" y="0"/>
                    <a:pt x="76808" y="0"/>
                  </a:cubicBezTo>
                  <a:close/>
                </a:path>
              </a:pathLst>
            </a:custGeom>
            <a:solidFill>
              <a:srgbClr val="233A5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77229" cy="3664505"/>
            </a:xfrm>
            <a:prstGeom prst="rect">
              <a:avLst/>
            </a:prstGeom>
          </p:spPr>
          <p:txBody>
            <a:bodyPr lIns="24433" tIns="24433" rIns="24433" bIns="24433" rtlCol="0" anchor="ctr"/>
            <a:lstStyle/>
            <a:p>
              <a:pPr algn="ctr">
                <a:lnSpc>
                  <a:spcPts val="90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1313" y="2000588"/>
            <a:ext cx="1090820" cy="163540"/>
            <a:chOff x="0" y="0"/>
            <a:chExt cx="812800" cy="1218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21858"/>
            </a:xfrm>
            <a:custGeom>
              <a:avLst/>
              <a:gdLst/>
              <a:ahLst/>
              <a:cxnLst/>
              <a:rect l="l" t="t" r="r" b="b"/>
              <a:pathLst>
                <a:path w="812800" h="121858">
                  <a:moveTo>
                    <a:pt x="0" y="0"/>
                  </a:moveTo>
                  <a:lnTo>
                    <a:pt x="812800" y="0"/>
                  </a:lnTo>
                  <a:lnTo>
                    <a:pt x="812800" y="121858"/>
                  </a:lnTo>
                  <a:lnTo>
                    <a:pt x="0" y="1218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159958"/>
            </a:xfrm>
            <a:prstGeom prst="rect">
              <a:avLst/>
            </a:prstGeom>
          </p:spPr>
          <p:txBody>
            <a:bodyPr lIns="24433" tIns="24433" rIns="24433" bIns="24433" rtlCol="0" anchor="ctr"/>
            <a:lstStyle/>
            <a:p>
              <a:pPr algn="ctr">
                <a:lnSpc>
                  <a:spcPts val="90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2966579" y="993965"/>
            <a:ext cx="281476" cy="3310373"/>
            <a:chOff x="0" y="0"/>
            <a:chExt cx="660400" cy="82950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0400" cy="8295007"/>
            </a:xfrm>
            <a:custGeom>
              <a:avLst/>
              <a:gdLst/>
              <a:ahLst/>
              <a:cxnLst/>
              <a:rect l="l" t="t" r="r" b="b"/>
              <a:pathLst>
                <a:path w="660400" h="8295007">
                  <a:moveTo>
                    <a:pt x="220252" y="8275937"/>
                  </a:moveTo>
                  <a:cubicBezTo>
                    <a:pt x="254109" y="8287452"/>
                    <a:pt x="292600" y="8295007"/>
                    <a:pt x="330378" y="8295007"/>
                  </a:cubicBezTo>
                  <a:cubicBezTo>
                    <a:pt x="368157" y="8295007"/>
                    <a:pt x="404509" y="8288530"/>
                    <a:pt x="438009" y="8277016"/>
                  </a:cubicBezTo>
                  <a:cubicBezTo>
                    <a:pt x="438723" y="8276656"/>
                    <a:pt x="439435" y="8276656"/>
                    <a:pt x="440148" y="8276297"/>
                  </a:cubicBezTo>
                  <a:cubicBezTo>
                    <a:pt x="565955" y="8230242"/>
                    <a:pt x="658618" y="8108628"/>
                    <a:pt x="660400" y="780030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794515"/>
                  </a:lnTo>
                  <a:cubicBezTo>
                    <a:pt x="1782" y="8109347"/>
                    <a:pt x="93019" y="8230962"/>
                    <a:pt x="220252" y="8275937"/>
                  </a:cubicBezTo>
                  <a:close/>
                </a:path>
              </a:pathLst>
            </a:custGeom>
            <a:solidFill>
              <a:srgbClr val="233A5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660400" cy="821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2966578" y="2718460"/>
            <a:ext cx="281476" cy="3310373"/>
            <a:chOff x="0" y="0"/>
            <a:chExt cx="660400" cy="82950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0400" cy="8295007"/>
            </a:xfrm>
            <a:custGeom>
              <a:avLst/>
              <a:gdLst/>
              <a:ahLst/>
              <a:cxnLst/>
              <a:rect l="l" t="t" r="r" b="b"/>
              <a:pathLst>
                <a:path w="660400" h="8295007">
                  <a:moveTo>
                    <a:pt x="220252" y="8275937"/>
                  </a:moveTo>
                  <a:cubicBezTo>
                    <a:pt x="254109" y="8287452"/>
                    <a:pt x="292600" y="8295007"/>
                    <a:pt x="330378" y="8295007"/>
                  </a:cubicBezTo>
                  <a:cubicBezTo>
                    <a:pt x="368157" y="8295007"/>
                    <a:pt x="404509" y="8288530"/>
                    <a:pt x="438009" y="8277016"/>
                  </a:cubicBezTo>
                  <a:cubicBezTo>
                    <a:pt x="438723" y="8276656"/>
                    <a:pt x="439435" y="8276656"/>
                    <a:pt x="440148" y="8276297"/>
                  </a:cubicBezTo>
                  <a:cubicBezTo>
                    <a:pt x="565955" y="8230242"/>
                    <a:pt x="658618" y="8108628"/>
                    <a:pt x="660400" y="780030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794515"/>
                  </a:lnTo>
                  <a:cubicBezTo>
                    <a:pt x="1782" y="8109347"/>
                    <a:pt x="93019" y="8230962"/>
                    <a:pt x="220252" y="8275937"/>
                  </a:cubicBezTo>
                  <a:close/>
                </a:path>
              </a:pathLst>
            </a:custGeom>
            <a:solidFill>
              <a:srgbClr val="233A57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660400" cy="821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5400000">
            <a:off x="2972245" y="-1407423"/>
            <a:ext cx="281476" cy="3299039"/>
            <a:chOff x="0" y="0"/>
            <a:chExt cx="660400" cy="829500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60400" cy="8295007"/>
            </a:xfrm>
            <a:custGeom>
              <a:avLst/>
              <a:gdLst/>
              <a:ahLst/>
              <a:cxnLst/>
              <a:rect l="l" t="t" r="r" b="b"/>
              <a:pathLst>
                <a:path w="660400" h="8295007">
                  <a:moveTo>
                    <a:pt x="220252" y="8275937"/>
                  </a:moveTo>
                  <a:cubicBezTo>
                    <a:pt x="254109" y="8287452"/>
                    <a:pt x="292600" y="8295007"/>
                    <a:pt x="330378" y="8295007"/>
                  </a:cubicBezTo>
                  <a:cubicBezTo>
                    <a:pt x="368157" y="8295007"/>
                    <a:pt x="404509" y="8288530"/>
                    <a:pt x="438009" y="8277016"/>
                  </a:cubicBezTo>
                  <a:cubicBezTo>
                    <a:pt x="438723" y="8276656"/>
                    <a:pt x="439435" y="8276656"/>
                    <a:pt x="440148" y="8276297"/>
                  </a:cubicBezTo>
                  <a:cubicBezTo>
                    <a:pt x="565955" y="8230242"/>
                    <a:pt x="658618" y="8108628"/>
                    <a:pt x="660400" y="780030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794515"/>
                  </a:lnTo>
                  <a:cubicBezTo>
                    <a:pt x="1782" y="8109347"/>
                    <a:pt x="93019" y="8230962"/>
                    <a:pt x="220252" y="8275937"/>
                  </a:cubicBezTo>
                  <a:close/>
                </a:path>
              </a:pathLst>
            </a:custGeom>
            <a:solidFill>
              <a:srgbClr val="233A57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660400" cy="821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2175018" y="3912079"/>
            <a:ext cx="165690" cy="1446502"/>
            <a:chOff x="0" y="0"/>
            <a:chExt cx="660400" cy="576541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60400" cy="5765410"/>
            </a:xfrm>
            <a:custGeom>
              <a:avLst/>
              <a:gdLst/>
              <a:ahLst/>
              <a:cxnLst/>
              <a:rect l="l" t="t" r="r" b="b"/>
              <a:pathLst>
                <a:path w="660400" h="5765410">
                  <a:moveTo>
                    <a:pt x="220252" y="5746341"/>
                  </a:moveTo>
                  <a:cubicBezTo>
                    <a:pt x="254109" y="5757856"/>
                    <a:pt x="292600" y="5765410"/>
                    <a:pt x="330378" y="5765410"/>
                  </a:cubicBezTo>
                  <a:cubicBezTo>
                    <a:pt x="368157" y="5765410"/>
                    <a:pt x="404509" y="5758934"/>
                    <a:pt x="438009" y="5747420"/>
                  </a:cubicBezTo>
                  <a:cubicBezTo>
                    <a:pt x="438723" y="5747060"/>
                    <a:pt x="439435" y="5747060"/>
                    <a:pt x="440148" y="5746701"/>
                  </a:cubicBezTo>
                  <a:cubicBezTo>
                    <a:pt x="565955" y="5700646"/>
                    <a:pt x="658618" y="5579032"/>
                    <a:pt x="660400" y="532689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5322944"/>
                  </a:lnTo>
                  <a:cubicBezTo>
                    <a:pt x="1782" y="5579751"/>
                    <a:pt x="93019" y="5701366"/>
                    <a:pt x="220252" y="5746341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660400" cy="5686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7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5400000">
            <a:off x="3788743" y="3862927"/>
            <a:ext cx="169366" cy="1548482"/>
            <a:chOff x="0" y="0"/>
            <a:chExt cx="660400" cy="603792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60400" cy="6037927"/>
            </a:xfrm>
            <a:custGeom>
              <a:avLst/>
              <a:gdLst/>
              <a:ahLst/>
              <a:cxnLst/>
              <a:rect l="l" t="t" r="r" b="b"/>
              <a:pathLst>
                <a:path w="660400" h="6037927">
                  <a:moveTo>
                    <a:pt x="220252" y="6018858"/>
                  </a:moveTo>
                  <a:cubicBezTo>
                    <a:pt x="254109" y="6030372"/>
                    <a:pt x="292600" y="6037927"/>
                    <a:pt x="330378" y="6037927"/>
                  </a:cubicBezTo>
                  <a:cubicBezTo>
                    <a:pt x="368157" y="6037927"/>
                    <a:pt x="404509" y="6031450"/>
                    <a:pt x="438009" y="6019936"/>
                  </a:cubicBezTo>
                  <a:cubicBezTo>
                    <a:pt x="438723" y="6019577"/>
                    <a:pt x="439435" y="6019577"/>
                    <a:pt x="440148" y="6019217"/>
                  </a:cubicBezTo>
                  <a:cubicBezTo>
                    <a:pt x="565955" y="5973162"/>
                    <a:pt x="658618" y="5851548"/>
                    <a:pt x="660400" y="5593361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5589209"/>
                  </a:lnTo>
                  <a:cubicBezTo>
                    <a:pt x="1782" y="5852267"/>
                    <a:pt x="93019" y="5973882"/>
                    <a:pt x="220252" y="6018858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660400" cy="5958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7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09049" y="86288"/>
            <a:ext cx="294549" cy="281478"/>
          </a:xfrm>
          <a:custGeom>
            <a:avLst/>
            <a:gdLst/>
            <a:ahLst/>
            <a:cxnLst/>
            <a:rect l="l" t="t" r="r" b="b"/>
            <a:pathLst>
              <a:path w="1251523" h="1246905">
                <a:moveTo>
                  <a:pt x="0" y="0"/>
                </a:moveTo>
                <a:lnTo>
                  <a:pt x="1251523" y="0"/>
                </a:lnTo>
                <a:lnTo>
                  <a:pt x="1251523" y="1246905"/>
                </a:lnTo>
                <a:lnTo>
                  <a:pt x="0" y="1246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214706" y="1395103"/>
            <a:ext cx="111662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9"/>
              </a:lnSpc>
            </a:pPr>
            <a:r>
              <a:rPr lang="en-US" sz="1840" spc="92" dirty="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{{PACIENTE}}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8413" y="2012379"/>
            <a:ext cx="1116620" cy="129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5"/>
              </a:lnSpc>
            </a:pPr>
            <a:r>
              <a:rPr lang="en-US" sz="977" b="1" spc="135" dirty="0">
                <a:solidFill>
                  <a:srgbClr val="233A57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{{DISCIPLINA}}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399" y="2297849"/>
            <a:ext cx="1368729" cy="610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70"/>
              </a:lnSpc>
            </a:pPr>
            <a:r>
              <a:rPr lang="en-US" sz="980" b="1" spc="63" dirty="0">
                <a:solidFill>
                  <a:schemeClr val="bg1"/>
                </a:solidFill>
                <a:latin typeface=""/>
                <a:ea typeface="Assistant Ultra-Bold"/>
                <a:cs typeface="Assistant Ultra-Bold"/>
                <a:sym typeface="Assistant Ultra-Bold"/>
              </a:rPr>
              <a:t>EDAD: {{EDAD}}</a:t>
            </a:r>
          </a:p>
          <a:p>
            <a:pPr algn="just">
              <a:lnSpc>
                <a:spcPts val="1170"/>
              </a:lnSpc>
            </a:pPr>
            <a:r>
              <a:rPr sz="980" b="1" dirty="0">
                <a:solidFill>
                  <a:schemeClr val="bg1"/>
                </a:solidFill>
                <a:latin typeface=""/>
              </a:rPr>
              <a:t>CI: {{CI}}</a:t>
            </a:r>
            <a:endParaRPr lang="en-US" sz="980" b="1" spc="63" dirty="0">
              <a:solidFill>
                <a:schemeClr val="bg1"/>
              </a:solidFill>
              <a:latin typeface=""/>
              <a:ea typeface="Assistant Ultra-Bold"/>
              <a:cs typeface="Assistant Ultra-Bold"/>
              <a:sym typeface="Assistant Ultra-Bold"/>
            </a:endParaRPr>
          </a:p>
          <a:p>
            <a:pPr algn="just">
              <a:lnSpc>
                <a:spcPts val="1170"/>
              </a:lnSpc>
            </a:pPr>
            <a:r>
              <a:rPr lang="en-US" sz="980" b="1" spc="63" dirty="0">
                <a:solidFill>
                  <a:schemeClr val="bg1"/>
                </a:solidFill>
                <a:latin typeface=""/>
                <a:ea typeface="Assistant Ultra-Bold"/>
                <a:cs typeface="Assistant Ultra-Bold"/>
                <a:sym typeface="Assistant Ultra-Bold"/>
              </a:rPr>
              <a:t>OBJETIVO: {{OBJETIVO}}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26402" y="418872"/>
            <a:ext cx="3185417" cy="2479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453"/>
              </a:lnSpc>
            </a:pP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Los hallazgos de la evaluación antropométrica describen su composición corporal con un peso corporal de {{PESO_CORPORAL_KG}} Kg y una estatura de {{ESTATURA_M}} m para la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actualidad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, lo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cual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representa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un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indice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de masa corporal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catalogado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Sobrepeso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II </a:t>
            </a:r>
            <a:r>
              <a:rPr lang="en-US" sz="840" b="1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(VALORES DE REFERENCIA PARA EVALUACION NUTRICIONAL ANTROPOMETRICA EN EL ADULTO VENEZOLANO – USB 2011).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Es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importante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tomar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en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cuenta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que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el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I.M.C no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considera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composicion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corporal,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por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ende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no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refleja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valores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de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tejido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adipose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ni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muscular, aspect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que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es representative al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evaluar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personas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fisicamente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activas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. En cuanto a la masa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magra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se obtuvo un valor de {{MASA_GRASA_KG}} Kg. El porcentaje de grasa es de {{PCT_GRASA_CARTER}} % (Carter 1986) valor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que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se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encuentra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840" b="1" dirty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fuera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del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rango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optimo</a:t>
            </a:r>
            <a:r>
              <a:rPr lang="en-US" sz="84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840" dirty="0" err="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deseado</a:t>
            </a:r>
            <a:endParaRPr lang="en-US" sz="840" dirty="0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452129" y="2568189"/>
            <a:ext cx="3271445" cy="16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43"/>
              </a:lnSpc>
              <a:spcBef>
                <a:spcPct val="0"/>
              </a:spcBef>
            </a:pPr>
            <a:r>
              <a:rPr lang="en-US" sz="1119" b="1" spc="72" dirty="0">
                <a:solidFill>
                  <a:srgbClr val="FFFFFF"/>
                </a:solidFill>
                <a:latin typeface="Assistant Ultra-Bold"/>
                <a:ea typeface="Assistant Ultra-Bold"/>
                <a:cs typeface="Assistant Ultra-Bold"/>
                <a:sym typeface="Assistant Ultra-Bold"/>
              </a:rPr>
              <a:t>TABLA ANTROPOMÉTRICA RESUMEN: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63462" y="4285016"/>
            <a:ext cx="3271445" cy="16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43"/>
              </a:lnSpc>
              <a:spcBef>
                <a:spcPct val="0"/>
              </a:spcBef>
            </a:pPr>
            <a:r>
              <a:rPr lang="en-US" sz="1119" b="1" spc="72">
                <a:solidFill>
                  <a:srgbClr val="FFFFFF"/>
                </a:solidFill>
                <a:latin typeface="Assistant Ultra-Bold"/>
                <a:ea typeface="Assistant Ultra-Bold"/>
                <a:cs typeface="Assistant Ultra-Bold"/>
                <a:sym typeface="Assistant Ultra-Bold"/>
              </a:rPr>
              <a:t>METAS NUTRICIONALES: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19505" y="161134"/>
            <a:ext cx="3271445" cy="16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43"/>
              </a:lnSpc>
              <a:spcBef>
                <a:spcPct val="0"/>
              </a:spcBef>
            </a:pPr>
            <a:r>
              <a:rPr lang="en-US" sz="1119" b="1" spc="72">
                <a:solidFill>
                  <a:srgbClr val="FFFFFF"/>
                </a:solidFill>
                <a:latin typeface="Assistant Ultra-Bold"/>
                <a:ea typeface="Assistant Ultra-Bold"/>
                <a:cs typeface="Assistant Ultra-Bold"/>
                <a:sym typeface="Assistant Ultra-Bold"/>
              </a:rPr>
              <a:t>DIAGNÓSTICO ANTROPOMÉTRICO: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399" y="3760511"/>
            <a:ext cx="1098792" cy="157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70"/>
              </a:lnSpc>
              <a:spcBef>
                <a:spcPct val="0"/>
              </a:spcBef>
            </a:pPr>
            <a:r>
              <a:rPr lang="en-US" sz="975" b="1" spc="63" dirty="0">
                <a:solidFill>
                  <a:srgbClr val="FFFFFF"/>
                </a:solidFill>
                <a:latin typeface="Assistant Ultra-Bold"/>
                <a:ea typeface="Assistant Ultra-Bold"/>
                <a:cs typeface="Assistant Ultra-Bold"/>
                <a:sym typeface="Assistant Ultra-Bold"/>
              </a:rPr>
              <a:t>OBSERVACIONES: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88548" y="4595643"/>
            <a:ext cx="1935701" cy="76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42"/>
              </a:lnSpc>
              <a:spcBef>
                <a:spcPct val="0"/>
              </a:spcBef>
            </a:pPr>
            <a:r>
              <a:rPr lang="en-US" sz="535" b="1" spc="34" dirty="0">
                <a:solidFill>
                  <a:srgbClr val="000000"/>
                </a:solidFill>
                <a:latin typeface="Assistant Ultra-Bold"/>
                <a:ea typeface="Assistant Ultra-Bold"/>
                <a:cs typeface="Assistant Ultra-Bold"/>
                <a:sym typeface="Assistant Ultra-Bold"/>
              </a:rPr>
              <a:t>PRÓXIMO CONTROL: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155228" y="4595643"/>
            <a:ext cx="1568345" cy="7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2"/>
              </a:lnSpc>
              <a:spcBef>
                <a:spcPct val="0"/>
              </a:spcBef>
            </a:pPr>
            <a:r>
              <a:rPr lang="en-US" sz="535" b="1" spc="34" dirty="0">
                <a:solidFill>
                  <a:srgbClr val="000000"/>
                </a:solidFill>
                <a:latin typeface="Assistant Ultra-Bold"/>
                <a:ea typeface="Assistant Ultra-Bold"/>
                <a:cs typeface="Assistant Ultra-Bold"/>
                <a:sym typeface="Assistant Ultra-Bold"/>
              </a:rPr>
              <a:t>META FINAL: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9DED6297-6919-95D4-A62D-E84A320605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64" r="16623" b="18116"/>
          <a:stretch>
            <a:fillRect/>
          </a:stretch>
        </p:blipFill>
        <p:spPr>
          <a:xfrm>
            <a:off x="1104751" y="49571"/>
            <a:ext cx="294549" cy="339160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7C514027-4D47-1515-6B47-3215D88CEE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899" b="97679" l="9961" r="89844">
                        <a14:foregroundMark x1="51172" y1="13924" x2="51172" y2="13924"/>
                        <a14:foregroundMark x1="46680" y1="12869" x2="46680" y2="12869"/>
                        <a14:foregroundMark x1="44531" y1="5907" x2="44531" y2="5907"/>
                        <a14:foregroundMark x1="49902" y1="2004" x2="49902" y2="2004"/>
                        <a14:foregroundMark x1="31348" y1="95464" x2="31348" y2="95464"/>
                        <a14:foregroundMark x1="68945" y1="92827" x2="68945" y2="92827"/>
                        <a14:foregroundMark x1="73535" y1="95675" x2="73535" y2="95675"/>
                        <a14:foregroundMark x1="26660" y1="95464" x2="72754" y2="96624"/>
                        <a14:foregroundMark x1="45898" y1="97679" x2="45898" y2="976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215" y="410215"/>
            <a:ext cx="339809" cy="314589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4DF3F619-F389-8F4A-0EFC-B833BEDFC0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903" b="96308" l="9961" r="89844">
                        <a14:foregroundMark x1="61328" y1="3903" x2="61328" y2="3903"/>
                        <a14:foregroundMark x1="24609" y1="95148" x2="64258" y2="96308"/>
                        <a14:foregroundMark x1="64258" y1="96308" x2="73926" y2="9535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271" y="741914"/>
            <a:ext cx="365429" cy="338307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7FE249BF-F05F-86A5-2B2A-7AB11E90FD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633" b="98629" l="9961" r="89844">
                        <a14:foregroundMark x1="45996" y1="5485" x2="45996" y2="5485"/>
                        <a14:foregroundMark x1="31055" y1="44304" x2="31055" y2="44304"/>
                        <a14:foregroundMark x1="37012" y1="44093" x2="37012" y2="44093"/>
                        <a14:foregroundMark x1="64746" y1="42722" x2="62207" y2="46097"/>
                        <a14:foregroundMark x1="68652" y1="94409" x2="29980" y2="91667"/>
                        <a14:foregroundMark x1="40430" y1="40084" x2="37109" y2="39662"/>
                        <a14:foregroundMark x1="37109" y1="39662" x2="37109" y2="43671"/>
                        <a14:foregroundMark x1="65723" y1="39979" x2="34863" y2="44515"/>
                        <a14:foregroundMark x1="34863" y1="44515" x2="66211" y2="43143"/>
                        <a14:foregroundMark x1="66211" y1="43143" x2="68750" y2="43354"/>
                        <a14:foregroundMark x1="78711" y1="97363" x2="25781" y2="98734"/>
                        <a14:foregroundMark x1="25781" y1="96624" x2="25488" y2="94304"/>
                        <a14:foregroundMark x1="39355" y1="46308" x2="39355" y2="46308"/>
                        <a14:foregroundMark x1="16309" y1="97996" x2="16309" y2="97996"/>
                        <a14:foregroundMark x1="82129" y1="96097" x2="82129" y2="96097"/>
                        <a14:foregroundMark x1="15723" y1="96624" x2="22949" y2="96730"/>
                        <a14:foregroundMark x1="48535" y1="633" x2="48535" y2="633"/>
                        <a14:foregroundMark x1="79980" y1="94937" x2="83203" y2="97468"/>
                        <a14:foregroundMark x1="15039" y1="97363" x2="15039" y2="97363"/>
                        <a14:foregroundMark x1="86133" y1="97679" x2="86133" y2="976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399" y="1088093"/>
            <a:ext cx="341705" cy="316344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1D84CF82-A6E1-C363-21D2-7249EDA4D5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5469" b="95996" l="9909" r="99317">
                        <a14:foregroundMark x1="50683" y1="9570" x2="50683" y2="9570"/>
                        <a14:foregroundMark x1="43166" y1="86719" x2="43166" y2="86719"/>
                        <a14:foregroundMark x1="48861" y1="5469" x2="48861" y2="5469"/>
                        <a14:foregroundMark x1="28132" y1="95703" x2="73462" y2="90137"/>
                        <a14:foregroundMark x1="73462" y1="90137" x2="58200" y2="83301"/>
                        <a14:foregroundMark x1="58200" y1="83301" x2="24601" y2="86328"/>
                        <a14:foregroundMark x1="24601" y1="86328" x2="81093" y2="90918"/>
                        <a14:foregroundMark x1="81093" y1="90918" x2="90319" y2="85156"/>
                        <a14:foregroundMark x1="91230" y1="84375" x2="72893" y2="97754"/>
                        <a14:foregroundMark x1="72893" y1="97754" x2="13326" y2="95313"/>
                        <a14:foregroundMark x1="13326" y1="95313" x2="16743" y2="80469"/>
                        <a14:foregroundMark x1="16743" y1="80469" x2="18565" y2="78125"/>
                        <a14:foregroundMark x1="98447" y1="94188" x2="99317" y2="95996"/>
                        <a14:foregroundMark x1="91002" y1="78711" x2="98330" y2="93945"/>
                        <a14:backgroundMark x1="99089" y1="93945" x2="99089" y2="93945"/>
                        <a14:backgroundMark x1="97950" y1="89453" x2="97950" y2="93750"/>
                        <a14:backgroundMark x1="98292" y1="91406" x2="96583" y2="92871"/>
                      </a14:backgroundRemoval>
                    </a14:imgEffect>
                  </a14:imgLayer>
                </a14:imgProps>
              </a:ext>
            </a:extLst>
          </a:blip>
          <a:srcRect r="-383" b="12826"/>
          <a:stretch>
            <a:fillRect/>
          </a:stretch>
        </p:blipFill>
        <p:spPr>
          <a:xfrm>
            <a:off x="1104751" y="428464"/>
            <a:ext cx="326177" cy="330356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978739A2-F718-F9F3-C40F-05501D8D947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5859" b="98438" l="9909" r="92027">
                        <a14:foregroundMark x1="63554" y1="7129" x2="43850" y2="8984"/>
                        <a14:foregroundMark x1="43850" y1="8984" x2="42369" y2="10352"/>
                        <a14:foregroundMark x1="37585" y1="82227" x2="49886" y2="92188"/>
                        <a14:foregroundMark x1="49886" y1="92188" x2="74943" y2="79004"/>
                        <a14:foregroundMark x1="74943" y1="79004" x2="48064" y2="88086"/>
                        <a14:foregroundMark x1="48064" y1="88086" x2="61276" y2="90723"/>
                        <a14:foregroundMark x1="61276" y1="90723" x2="39066" y2="84473"/>
                        <a14:foregroundMark x1="39066" y1="84473" x2="30979" y2="92578"/>
                        <a14:foregroundMark x1="91572" y1="87012" x2="78246" y2="92383"/>
                        <a14:foregroundMark x1="78246" y1="92383" x2="35194" y2="95215"/>
                        <a14:foregroundMark x1="35194" y1="95215" x2="21185" y2="89746"/>
                        <a14:foregroundMark x1="21185" y1="89746" x2="18907" y2="87012"/>
                        <a14:foregroundMark x1="15718" y1="89941" x2="17426" y2="77832"/>
                        <a14:foregroundMark x1="63554" y1="96875" x2="38269" y2="96387"/>
                        <a14:foregroundMark x1="91572" y1="79492" x2="81549" y2="95898"/>
                        <a14:foregroundMark x1="81549" y1="95898" x2="81549" y2="95898"/>
                        <a14:foregroundMark x1="89749" y1="79688" x2="91002" y2="90820"/>
                        <a14:foregroundMark x1="91002" y1="90820" x2="91002" y2="90820"/>
                        <a14:foregroundMark x1="93166" y1="90137" x2="83713" y2="98535"/>
                        <a14:foregroundMark x1="83713" y1="98535" x2="82916" y2="98535"/>
                        <a14:foregroundMark x1="92141" y1="95605" x2="92141" y2="95605"/>
                        <a14:foregroundMark x1="58884" y1="4004" x2="43394" y2="5859"/>
                        <a14:foregroundMark x1="43394" y1="5859" x2="41116" y2="79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4751" y="779079"/>
            <a:ext cx="294549" cy="343529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7008831D-004A-F1F5-9123-A3F6B722DE2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055" b="98438" l="9909" r="92255">
                        <a14:foregroundMark x1="50228" y1="13086" x2="38610" y2="23926"/>
                        <a14:foregroundMark x1="38610" y1="23926" x2="29499" y2="50586"/>
                        <a14:foregroundMark x1="29499" y1="50586" x2="31093" y2="54297"/>
                        <a14:foregroundMark x1="71754" y1="16797" x2="78929" y2="32227"/>
                        <a14:foregroundMark x1="78929" y1="32227" x2="77563" y2="64551"/>
                        <a14:foregroundMark x1="77563" y1="64551" x2="40661" y2="80566"/>
                        <a14:foregroundMark x1="40661" y1="80566" x2="27677" y2="53809"/>
                        <a14:foregroundMark x1="27677" y1="53809" x2="30410" y2="33496"/>
                        <a14:foregroundMark x1="30410" y1="33496" x2="32118" y2="31055"/>
                        <a14:foregroundMark x1="31777" y1="24219" x2="18337" y2="43848"/>
                        <a14:foregroundMark x1="18337" y1="43848" x2="13895" y2="66211"/>
                        <a14:foregroundMark x1="13895" y1="66211" x2="18109" y2="73633"/>
                        <a14:foregroundMark x1="82118" y1="26465" x2="86560" y2="60547"/>
                        <a14:foregroundMark x1="86560" y1="60547" x2="84055" y2="76074"/>
                        <a14:foregroundMark x1="63098" y1="10156" x2="43052" y2="9570"/>
                        <a14:foregroundMark x1="43052" y1="9570" x2="37927" y2="14063"/>
                        <a14:foregroundMark x1="83713" y1="83203" x2="71071" y2="94824"/>
                        <a14:foregroundMark x1="71071" y1="94824" x2="25399" y2="86426"/>
                        <a14:foregroundMark x1="25399" y1="86426" x2="25399" y2="86426"/>
                        <a14:foregroundMark x1="25740" y1="87500" x2="48519" y2="94434"/>
                        <a14:foregroundMark x1="48519" y1="94434" x2="48519" y2="94434"/>
                        <a14:foregroundMark x1="47950" y1="93848" x2="47950" y2="93848"/>
                        <a14:foregroundMark x1="23576" y1="83008" x2="64237" y2="97266"/>
                        <a14:foregroundMark x1="64237" y1="97266" x2="77221" y2="88965"/>
                        <a14:foregroundMark x1="77221" y1="88965" x2="87244" y2="91113"/>
                        <a14:foregroundMark x1="56378" y1="4297" x2="41800" y2="6055"/>
                        <a14:foregroundMark x1="41800" y1="6055" x2="41800" y2="6055"/>
                        <a14:foregroundMark x1="91002" y1="44824" x2="92369" y2="68848"/>
                        <a14:foregroundMark x1="92369" y1="68848" x2="91116" y2="71680"/>
                        <a14:foregroundMark x1="89636" y1="85352" x2="89636" y2="98438"/>
                        <a14:foregroundMark x1="18565" y1="85156" x2="18565" y2="95117"/>
                      </a14:backgroundRemoval>
                    </a14:imgEffect>
                  </a14:imgLayer>
                </a14:imgProps>
              </a:ext>
            </a:extLst>
          </a:blip>
          <a:srcRect l="4785" b="8286"/>
          <a:stretch>
            <a:fillRect/>
          </a:stretch>
        </p:blipFill>
        <p:spPr>
          <a:xfrm>
            <a:off x="1114998" y="1119616"/>
            <a:ext cx="301905" cy="339160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349EBD42-4569-474D-320F-D2ECC1AB8F9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4883" b="90918" l="9909" r="94077">
                        <a14:foregroundMark x1="88952" y1="86426" x2="24032" y2="85254"/>
                        <a14:foregroundMark x1="24032" y1="85254" x2="17768" y2="78906"/>
                        <a14:foregroundMark x1="61048" y1="7031" x2="45444" y2="6250"/>
                        <a14:foregroundMark x1="45444" y1="6250" x2="59681" y2="7324"/>
                        <a14:foregroundMark x1="59681" y1="7324" x2="42483" y2="8301"/>
                        <a14:foregroundMark x1="55467" y1="4980" x2="55467" y2="4980"/>
                        <a14:foregroundMark x1="20273" y1="76758" x2="23349" y2="87500"/>
                        <a14:foregroundMark x1="23349" y1="87500" x2="58200" y2="85547"/>
                        <a14:foregroundMark x1="58200" y1="85547" x2="72210" y2="86914"/>
                        <a14:foregroundMark x1="72210" y1="86914" x2="79954" y2="89648"/>
                        <a14:foregroundMark x1="68679" y1="88574" x2="27221" y2="86426"/>
                        <a14:foregroundMark x1="27221" y1="86426" x2="22096" y2="75391"/>
                        <a14:foregroundMark x1="22096" y1="75391" x2="21982" y2="75391"/>
                        <a14:foregroundMark x1="22893" y1="75195" x2="15148" y2="85645"/>
                        <a14:foregroundMark x1="15148" y1="85645" x2="28702" y2="90332"/>
                        <a14:foregroundMark x1="28702" y1="90332" x2="57631" y2="90234"/>
                        <a14:foregroundMark x1="57631" y1="90234" x2="66856" y2="90430"/>
                        <a14:foregroundMark x1="89636" y1="77246" x2="83371" y2="89648"/>
                        <a14:foregroundMark x1="83371" y1="89648" x2="23576" y2="90918"/>
                        <a14:foregroundMark x1="23576" y1="90918" x2="17198" y2="87305"/>
                        <a14:foregroundMark x1="89066" y1="79980" x2="92141" y2="89941"/>
                        <a14:foregroundMark x1="14465" y1="87402" x2="14465" y2="87402"/>
                        <a14:foregroundMark x1="14579" y1="88379" x2="14579" y2="88379"/>
                        <a14:foregroundMark x1="15945" y1="89844" x2="15945" y2="89844"/>
                        <a14:foregroundMark x1="15945" y1="89844" x2="12415" y2="87500"/>
                        <a14:foregroundMark x1="92483" y1="88379" x2="92483" y2="88379"/>
                        <a14:foregroundMark x1="94077" y1="87988" x2="94077" y2="87988"/>
                        <a14:foregroundMark x1="94077" y1="89648" x2="94077" y2="89648"/>
                      </a14:backgroundRemoval>
                    </a14:imgEffect>
                  </a14:imgLayer>
                </a14:imgProps>
              </a:ext>
            </a:extLst>
          </a:blip>
          <a:srcRect r="-383" b="8997"/>
          <a:stretch>
            <a:fillRect/>
          </a:stretch>
        </p:blipFill>
        <p:spPr>
          <a:xfrm>
            <a:off x="597983" y="504173"/>
            <a:ext cx="339809" cy="359282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E0FBA8A5-0D6E-BC47-8A45-6195BD87E7A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4688" b="89258" l="9909" r="92255">
                        <a14:foregroundMark x1="52733" y1="4688" x2="52733" y2="4688"/>
                        <a14:foregroundMark x1="20729" y1="84961" x2="57403" y2="85840"/>
                        <a14:foregroundMark x1="57403" y1="85840" x2="88724" y2="82227"/>
                        <a14:foregroundMark x1="88724" y1="86523" x2="29499" y2="89453"/>
                        <a14:foregroundMark x1="29499" y1="89453" x2="17995" y2="83887"/>
                        <a14:foregroundMark x1="17995" y1="83887" x2="20729" y2="79102"/>
                        <a14:foregroundMark x1="91572" y1="78125" x2="20387" y2="86328"/>
                        <a14:foregroundMark x1="20387" y1="86328" x2="20273" y2="77344"/>
                        <a14:foregroundMark x1="16629" y1="77637" x2="72323" y2="87402"/>
                        <a14:foregroundMark x1="72323" y1="87402" x2="86333" y2="83398"/>
                        <a14:foregroundMark x1="86333" y1="83398" x2="91002" y2="83203"/>
                        <a14:foregroundMark x1="89294" y1="76953" x2="92255" y2="88574"/>
                        <a14:foregroundMark x1="17768" y1="75195" x2="13895" y2="85254"/>
                        <a14:foregroundMark x1="13895" y1="85254" x2="14123" y2="86426"/>
                        <a14:foregroundMark x1="16743" y1="80078" x2="17768" y2="86133"/>
                      </a14:backgroundRemoval>
                    </a14:imgEffect>
                  </a14:imgLayer>
                </a14:imgProps>
              </a:ext>
            </a:extLst>
          </a:blip>
          <a:srcRect r="-383" b="10026"/>
          <a:stretch>
            <a:fillRect/>
          </a:stretch>
        </p:blipFill>
        <p:spPr>
          <a:xfrm>
            <a:off x="573841" y="943916"/>
            <a:ext cx="392420" cy="410215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0F2FCE7B-0A36-50C2-25E9-786A308AA6F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4590" b="96094" l="6834" r="98178">
                        <a14:foregroundMark x1="43850" y1="8594" x2="60023" y2="8887"/>
                        <a14:foregroundMark x1="45672" y1="4883" x2="57859" y2="4590"/>
                        <a14:foregroundMark x1="57859" y1="4590" x2="61048" y2="4980"/>
                        <a14:foregroundMark x1="88952" y1="89941" x2="66970" y2="85156"/>
                        <a14:foregroundMark x1="66970" y1="85156" x2="24829" y2="89941"/>
                        <a14:foregroundMark x1="24829" y1="89941" x2="76424" y2="94531"/>
                        <a14:foregroundMark x1="76424" y1="94531" x2="19021" y2="90234"/>
                        <a14:foregroundMark x1="19021" y1="90234" x2="25854" y2="81934"/>
                        <a14:foregroundMark x1="25854" y1="81934" x2="24715" y2="94922"/>
                        <a14:foregroundMark x1="24715" y1="94922" x2="83599" y2="91699"/>
                        <a14:foregroundMark x1="83599" y1="91699" x2="83599" y2="81250"/>
                        <a14:foregroundMark x1="91800" y1="81055" x2="91230" y2="92285"/>
                        <a14:foregroundMark x1="91230" y1="92285" x2="6834" y2="96191"/>
                        <a14:foregroundMark x1="6834" y1="96191" x2="27335" y2="78223"/>
                        <a14:foregroundMark x1="27335" y1="78223" x2="30752" y2="76660"/>
                        <a14:foregroundMark x1="32460" y1="73242" x2="6150" y2="89258"/>
                        <a14:foregroundMark x1="6150" y1="89258" x2="18337" y2="96680"/>
                        <a14:foregroundMark x1="18337" y1="96680" x2="77335" y2="93457"/>
                        <a14:foregroundMark x1="77335" y1="93457" x2="91458" y2="95215"/>
                        <a14:foregroundMark x1="91458" y1="95215" x2="94647" y2="82422"/>
                        <a14:foregroundMark x1="98178" y1="83203" x2="98178" y2="83203"/>
                        <a14:foregroundMark x1="28246" y1="72461" x2="28246" y2="72461"/>
                        <a14:foregroundMark x1="24943" y1="74805" x2="27563" y2="74121"/>
                        <a14:foregroundMark x1="32118" y1="71484" x2="21640" y2="74512"/>
                        <a14:foregroundMark x1="32346" y1="70215" x2="32346" y2="70215"/>
                        <a14:foregroundMark x1="73690" y1="68945" x2="73690" y2="68945"/>
                        <a14:foregroundMark x1="34282" y1="68652" x2="34282" y2="686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052" y="70886"/>
            <a:ext cx="342023" cy="39889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6DC28301-B8EF-9F33-9CE6-9627CF155D48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6717" r="16893" b="29248"/>
          <a:stretch>
            <a:fillRect/>
          </a:stretch>
        </p:blipFill>
        <p:spPr>
          <a:xfrm>
            <a:off x="245298" y="1508812"/>
            <a:ext cx="982850" cy="1047422"/>
          </a:xfrm>
          <a:prstGeom prst="rect">
            <a:avLst/>
          </a:prstGeom>
        </p:spPr>
      </p:pic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FB76F6F-C5DE-2427-D7A2-F3E20F2A1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31189"/>
              </p:ext>
            </p:extLst>
          </p:nvPr>
        </p:nvGraphicFramePr>
        <p:xfrm>
          <a:off x="1558084" y="2873162"/>
          <a:ext cx="3165068" cy="126068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82534">
                  <a:extLst>
                    <a:ext uri="{9D8B030D-6E8A-4147-A177-3AD203B41FA5}">
                      <a16:colId xmlns:a16="http://schemas.microsoft.com/office/drawing/2014/main" val="2915183924"/>
                    </a:ext>
                  </a:extLst>
                </a:gridCol>
                <a:gridCol w="1582534">
                  <a:extLst>
                    <a:ext uri="{9D8B030D-6E8A-4147-A177-3AD203B41FA5}">
                      <a16:colId xmlns:a16="http://schemas.microsoft.com/office/drawing/2014/main" val="1356230808"/>
                    </a:ext>
                  </a:extLst>
                </a:gridCol>
              </a:tblGrid>
              <a:tr h="96976"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{{R1C1}}</a:t>
                      </a:r>
                      <a:endParaRPr lang="en-VE" sz="600" b="1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{{R1C2}}</a:t>
                      </a:r>
                      <a:endParaRPr lang="en-VE" sz="600" b="1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28459575"/>
                  </a:ext>
                </a:extLst>
              </a:tr>
              <a:tr h="96976"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{{R2C1}}</a:t>
                      </a:r>
                      <a:endParaRPr lang="en-VE" sz="600" b="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{{R2C2}}</a:t>
                      </a:r>
                      <a:endParaRPr lang="en-VE" sz="6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39046568"/>
                  </a:ext>
                </a:extLst>
              </a:tr>
              <a:tr h="96976"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{{R3C1}}</a:t>
                      </a:r>
                      <a:endParaRPr lang="en-VE" sz="600" b="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{{R3C2}}</a:t>
                      </a:r>
                      <a:endParaRPr lang="en-VE" sz="6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95037693"/>
                  </a:ext>
                </a:extLst>
              </a:tr>
              <a:tr h="96976"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{{R4C1}}</a:t>
                      </a:r>
                      <a:endParaRPr lang="en-VE" sz="600" b="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{{R4C2}}</a:t>
                      </a:r>
                      <a:endParaRPr lang="en-VE" sz="6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23804842"/>
                  </a:ext>
                </a:extLst>
              </a:tr>
              <a:tr h="96976"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{{R5C1}}</a:t>
                      </a:r>
                      <a:endParaRPr lang="en-VE" sz="600" b="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{{R5C2}}</a:t>
                      </a:r>
                      <a:endParaRPr lang="en-VE" sz="6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80368355"/>
                  </a:ext>
                </a:extLst>
              </a:tr>
              <a:tr h="96976"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{{R6C1}}</a:t>
                      </a:r>
                      <a:endParaRPr lang="en-VE" sz="600" b="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{{R6C2}}</a:t>
                      </a:r>
                      <a:endParaRPr lang="en-VE" sz="6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16071062"/>
                  </a:ext>
                </a:extLst>
              </a:tr>
              <a:tr h="96976"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{{R7C1}}</a:t>
                      </a:r>
                      <a:endParaRPr lang="en-VE" sz="600" b="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{{R7C2}}</a:t>
                      </a:r>
                      <a:endParaRPr lang="en-VE" sz="6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3878402"/>
                  </a:ext>
                </a:extLst>
              </a:tr>
              <a:tr h="96976"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{{R8C1}}</a:t>
                      </a:r>
                      <a:endParaRPr lang="en-VE" sz="600" b="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{{R8C2}}</a:t>
                      </a:r>
                      <a:endParaRPr lang="en-VE" sz="6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72219585"/>
                  </a:ext>
                </a:extLst>
              </a:tr>
              <a:tr h="96976"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{{R9C1}}</a:t>
                      </a:r>
                      <a:endParaRPr lang="en-VE" sz="600" b="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{{R9C2}}</a:t>
                      </a:r>
                      <a:endParaRPr lang="en-VE" sz="6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65548115"/>
                  </a:ext>
                </a:extLst>
              </a:tr>
              <a:tr h="96976"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{{R10C1}}</a:t>
                      </a:r>
                      <a:endParaRPr lang="en-VE" sz="600" b="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{{R10C2}}</a:t>
                      </a:r>
                      <a:endParaRPr lang="en-VE" sz="6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26775010"/>
                  </a:ext>
                </a:extLst>
              </a:tr>
              <a:tr h="96976"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{{R11C1}}</a:t>
                      </a:r>
                      <a:endParaRPr lang="en-VE" sz="600" b="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{{R11C2}}</a:t>
                      </a:r>
                      <a:endParaRPr lang="en-VE" sz="6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7314938"/>
                  </a:ext>
                </a:extLst>
              </a:tr>
              <a:tr h="96976"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{{R12C1}}</a:t>
                      </a:r>
                      <a:endParaRPr lang="en-VE" sz="600" b="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{{R12C2}}</a:t>
                      </a:r>
                      <a:endParaRPr lang="en-VE" sz="6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695258"/>
                  </a:ext>
                </a:extLst>
              </a:tr>
              <a:tr h="969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{{R13C1}}</a:t>
                      </a:r>
                      <a:endParaRPr lang="en-VE" sz="600" b="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{{R13C2}}</a:t>
                      </a:r>
                      <a:endParaRPr lang="en-VE" sz="6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74071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2173251" y="-2059786"/>
            <a:ext cx="415999" cy="4762503"/>
            <a:chOff x="0" y="0"/>
            <a:chExt cx="660400" cy="82950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8295007"/>
            </a:xfrm>
            <a:custGeom>
              <a:avLst/>
              <a:gdLst/>
              <a:ahLst/>
              <a:cxnLst/>
              <a:rect l="l" t="t" r="r" b="b"/>
              <a:pathLst>
                <a:path w="660400" h="8295007">
                  <a:moveTo>
                    <a:pt x="220252" y="8275937"/>
                  </a:moveTo>
                  <a:cubicBezTo>
                    <a:pt x="254109" y="8287452"/>
                    <a:pt x="292600" y="8295007"/>
                    <a:pt x="330378" y="8295007"/>
                  </a:cubicBezTo>
                  <a:cubicBezTo>
                    <a:pt x="368157" y="8295007"/>
                    <a:pt x="404509" y="8288530"/>
                    <a:pt x="438009" y="8277016"/>
                  </a:cubicBezTo>
                  <a:cubicBezTo>
                    <a:pt x="438723" y="8276656"/>
                    <a:pt x="439435" y="8276656"/>
                    <a:pt x="440148" y="8276297"/>
                  </a:cubicBezTo>
                  <a:cubicBezTo>
                    <a:pt x="565955" y="8230242"/>
                    <a:pt x="658618" y="8108628"/>
                    <a:pt x="660400" y="780030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794515"/>
                  </a:lnTo>
                  <a:cubicBezTo>
                    <a:pt x="1782" y="8109347"/>
                    <a:pt x="93019" y="8230962"/>
                    <a:pt x="220252" y="8275937"/>
                  </a:cubicBezTo>
                  <a:close/>
                </a:path>
              </a:pathLst>
            </a:custGeom>
            <a:solidFill>
              <a:srgbClr val="233A5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660400" cy="821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353656" y="4226636"/>
            <a:ext cx="408844" cy="535864"/>
          </a:xfrm>
          <a:custGeom>
            <a:avLst/>
            <a:gdLst/>
            <a:ahLst/>
            <a:cxnLst/>
            <a:rect l="l" t="t" r="r" b="b"/>
            <a:pathLst>
              <a:path w="408844" h="535864">
                <a:moveTo>
                  <a:pt x="0" y="0"/>
                </a:moveTo>
                <a:lnTo>
                  <a:pt x="408844" y="0"/>
                </a:lnTo>
                <a:lnTo>
                  <a:pt x="408844" y="535864"/>
                </a:lnTo>
                <a:lnTo>
                  <a:pt x="0" y="535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1604" y="613729"/>
            <a:ext cx="4619292" cy="133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7"/>
              </a:lnSpc>
              <a:spcBef>
                <a:spcPct val="0"/>
              </a:spcBef>
            </a:pPr>
            <a:r>
              <a:rPr lang="en-US" sz="769" b="1" i="1" spc="-15" dirty="0">
                <a:solidFill>
                  <a:srgbClr val="1E1E1E"/>
                </a:solidFill>
                <a:latin typeface="Lovelo"/>
                <a:ea typeface="Lovelo"/>
                <a:cs typeface="Lovelo"/>
                <a:sym typeface="Lovelo"/>
              </a:rPr>
              <a:t>TABLA 1. VALORES ANTROPOMÉTRICOS DEL PACIENTE. </a:t>
            </a:r>
            <a:r>
              <a:rPr lang="en-US" sz="769" b="1" i="1" spc="-15">
                <a:solidFill>
                  <a:srgbClr val="1E1E1E"/>
                </a:solidFill>
                <a:latin typeface="Lovelo"/>
                <a:ea typeface="Lovelo"/>
                <a:cs typeface="Lovelo"/>
                <a:sym typeface="Lovelo"/>
              </a:rPr>
              <a:t>CARACAS, VENEZUELA, 2026.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4535714"/>
            <a:ext cx="4619292" cy="14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7"/>
              </a:lnSpc>
              <a:spcBef>
                <a:spcPct val="0"/>
              </a:spcBef>
            </a:pPr>
            <a:r>
              <a:rPr lang="en-US" sz="769" b="1" i="1" spc="-15">
                <a:solidFill>
                  <a:srgbClr val="1E1E1E"/>
                </a:solidFill>
                <a:latin typeface="Lovelo"/>
                <a:ea typeface="Lovelo"/>
                <a:cs typeface="Lovelo"/>
                <a:sym typeface="Lovelo"/>
              </a:rPr>
              <a:t>FUENTE: ELABORACIÓN PROPIA, PRIVADA.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72430" y="171450"/>
            <a:ext cx="483493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45"/>
              </a:lnSpc>
              <a:spcBef>
                <a:spcPct val="0"/>
              </a:spcBef>
            </a:pPr>
            <a:r>
              <a:rPr lang="en-US" sz="1954" b="1" spc="127">
                <a:solidFill>
                  <a:srgbClr val="FFFFFF"/>
                </a:solidFill>
                <a:latin typeface="Assistant Ultra-Bold"/>
                <a:ea typeface="Assistant Ultra-Bold"/>
                <a:cs typeface="Assistant Ultra-Bold"/>
                <a:sym typeface="Assistant Ultra-Bold"/>
              </a:rPr>
              <a:t>VALORES DE LAS MEDIDAS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AE2DF5-1005-89ED-D0BB-39A87267B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407550"/>
              </p:ext>
            </p:extLst>
          </p:nvPr>
        </p:nvGraphicFramePr>
        <p:xfrm>
          <a:off x="400050" y="838649"/>
          <a:ext cx="4106006" cy="338798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53003">
                  <a:extLst>
                    <a:ext uri="{9D8B030D-6E8A-4147-A177-3AD203B41FA5}">
                      <a16:colId xmlns:a16="http://schemas.microsoft.com/office/drawing/2014/main" val="2915183924"/>
                    </a:ext>
                  </a:extLst>
                </a:gridCol>
                <a:gridCol w="2053003">
                  <a:extLst>
                    <a:ext uri="{9D8B030D-6E8A-4147-A177-3AD203B41FA5}">
                      <a16:colId xmlns:a16="http://schemas.microsoft.com/office/drawing/2014/main" val="1356230808"/>
                    </a:ext>
                  </a:extLst>
                </a:gridCol>
              </a:tblGrid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{{R1C1}}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{{R1C2}}</a:t>
                      </a:r>
                      <a:endParaRPr lang="en-VE" sz="8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28459575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{{R2C1}}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{{R2C2}}</a:t>
                      </a:r>
                      <a:endParaRPr lang="en-VE" sz="8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39046568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{{R3C1}}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{{R3C2}}</a:t>
                      </a:r>
                      <a:endParaRPr lang="en-VE" sz="8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95037693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{{R4C1}}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{{R4C2}}</a:t>
                      </a:r>
                      <a:endParaRPr lang="en-VE" sz="8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23804842"/>
                  </a:ext>
                </a:extLst>
              </a:tr>
              <a:tr h="13030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{{R5C1}}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80368355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{{R6C1}}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{{R6C2}}</a:t>
                      </a:r>
                      <a:endParaRPr lang="en-VE" sz="8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16071062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{{R7C1}}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{{R7C2}}</a:t>
                      </a:r>
                      <a:endParaRPr lang="en-VE" sz="8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3878402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{{R8C1}}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{{R8C2}}</a:t>
                      </a:r>
                      <a:endParaRPr lang="en-VE" sz="8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72219585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{{R9C1}}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{{R9C2}}</a:t>
                      </a:r>
                      <a:endParaRPr lang="en-VE" sz="8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65548115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{{R10C1}}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{{R10C2}}</a:t>
                      </a:r>
                      <a:endParaRPr lang="en-VE" sz="8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26775010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{{R11C1}}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{{R11C2}}</a:t>
                      </a:r>
                      <a:endParaRPr lang="en-VE" sz="8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7314938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{{R12C1}}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{{R12C2}}</a:t>
                      </a:r>
                      <a:endParaRPr lang="en-VE" sz="8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695258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{{R13C1}}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{{R13C2}}</a:t>
                      </a:r>
                      <a:endParaRPr lang="en-VE" sz="800" b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7407115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{{R14C1}}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{{R14C2}}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63668554"/>
                  </a:ext>
                </a:extLst>
              </a:tr>
              <a:tr h="13030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{{R15C1}}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58899100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{{R16C1}}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{{R16C2}}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57017689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{{R17C1}}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{{R17C2}}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06418079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{{R18C1}}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{{R18C2}}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96115708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{{R19C1}}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{{R19C2}}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4321400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{{R20C1}}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{{R20C2}}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96869619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{{R21C1}}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{{R21C2}}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44570959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{{R22C1}}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{{R22C2}}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37062367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{{R23C1}}</a:t>
                      </a:r>
                      <a:endParaRPr lang="en-VE" sz="800" b="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{{R23C2}}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82000611"/>
                  </a:ext>
                </a:extLst>
              </a:tr>
              <a:tr h="13030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{{R24C1}}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77092759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{{R25C1}}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{{R25C2}}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74434085"/>
                  </a:ext>
                </a:extLst>
              </a:tr>
              <a:tr h="1303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{{R26C1}}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{{R26C2}}</a:t>
                      </a:r>
                      <a:endParaRPr kumimoji="0" lang="en-V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892745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71713"/>
            <a:ext cx="3072982" cy="890787"/>
            <a:chOff x="0" y="0"/>
            <a:chExt cx="4015645" cy="1164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15646" cy="1164044"/>
            </a:xfrm>
            <a:custGeom>
              <a:avLst/>
              <a:gdLst/>
              <a:ahLst/>
              <a:cxnLst/>
              <a:rect l="l" t="t" r="r" b="b"/>
              <a:pathLst>
                <a:path w="4015646" h="1164044">
                  <a:moveTo>
                    <a:pt x="0" y="0"/>
                  </a:moveTo>
                  <a:lnTo>
                    <a:pt x="4015646" y="0"/>
                  </a:lnTo>
                  <a:lnTo>
                    <a:pt x="4015646" y="1164044"/>
                  </a:lnTo>
                  <a:lnTo>
                    <a:pt x="0" y="1164044"/>
                  </a:lnTo>
                  <a:close/>
                </a:path>
              </a:pathLst>
            </a:custGeom>
            <a:solidFill>
              <a:srgbClr val="293B6A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3846" y="3887123"/>
            <a:ext cx="863339" cy="859966"/>
            <a:chOff x="0" y="0"/>
            <a:chExt cx="6502400" cy="6477000"/>
          </a:xfrm>
        </p:grpSpPr>
        <p:sp>
          <p:nvSpPr>
            <p:cNvPr id="5" name="Freeform 5"/>
            <p:cNvSpPr/>
            <p:nvPr/>
          </p:nvSpPr>
          <p:spPr>
            <a:xfrm>
              <a:off x="116940" y="124149"/>
              <a:ext cx="6262195" cy="6234315"/>
            </a:xfrm>
            <a:custGeom>
              <a:avLst/>
              <a:gdLst/>
              <a:ahLst/>
              <a:cxnLst/>
              <a:rect l="l" t="t" r="r" b="b"/>
              <a:pathLst>
                <a:path w="6262195" h="623431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2"/>
              <a:stretch>
                <a:fillRect l="-12295" r="223" b="-12573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2581377" y="4340318"/>
            <a:ext cx="272025" cy="302250"/>
          </a:xfrm>
          <a:custGeom>
            <a:avLst/>
            <a:gdLst/>
            <a:ahLst/>
            <a:cxnLst/>
            <a:rect l="l" t="t" r="r" b="b"/>
            <a:pathLst>
              <a:path w="272025" h="302250">
                <a:moveTo>
                  <a:pt x="0" y="0"/>
                </a:moveTo>
                <a:lnTo>
                  <a:pt x="272024" y="0"/>
                </a:lnTo>
                <a:lnTo>
                  <a:pt x="272024" y="302249"/>
                </a:lnTo>
                <a:lnTo>
                  <a:pt x="0" y="3022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8" name="Group 8"/>
          <p:cNvGrpSpPr/>
          <p:nvPr/>
        </p:nvGrpSpPr>
        <p:grpSpPr>
          <a:xfrm rot="-5400000">
            <a:off x="2176377" y="-2108196"/>
            <a:ext cx="415999" cy="4762502"/>
            <a:chOff x="0" y="0"/>
            <a:chExt cx="660400" cy="82950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0400" cy="8295007"/>
            </a:xfrm>
            <a:custGeom>
              <a:avLst/>
              <a:gdLst/>
              <a:ahLst/>
              <a:cxnLst/>
              <a:rect l="l" t="t" r="r" b="b"/>
              <a:pathLst>
                <a:path w="660400" h="8295007">
                  <a:moveTo>
                    <a:pt x="220252" y="8275937"/>
                  </a:moveTo>
                  <a:cubicBezTo>
                    <a:pt x="254109" y="8287452"/>
                    <a:pt x="292600" y="8295007"/>
                    <a:pt x="330378" y="8295007"/>
                  </a:cubicBezTo>
                  <a:cubicBezTo>
                    <a:pt x="368157" y="8295007"/>
                    <a:pt x="404509" y="8288530"/>
                    <a:pt x="438009" y="8277016"/>
                  </a:cubicBezTo>
                  <a:cubicBezTo>
                    <a:pt x="438723" y="8276656"/>
                    <a:pt x="439435" y="8276656"/>
                    <a:pt x="440148" y="8276297"/>
                  </a:cubicBezTo>
                  <a:cubicBezTo>
                    <a:pt x="565955" y="8230242"/>
                    <a:pt x="658618" y="8108628"/>
                    <a:pt x="660400" y="780030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794515"/>
                  </a:lnTo>
                  <a:cubicBezTo>
                    <a:pt x="1782" y="8109347"/>
                    <a:pt x="93019" y="8230962"/>
                    <a:pt x="220252" y="8275937"/>
                  </a:cubicBezTo>
                  <a:close/>
                </a:path>
              </a:pathLst>
            </a:custGeom>
            <a:solidFill>
              <a:srgbClr val="233A5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660400" cy="821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7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60013" y="526490"/>
            <a:ext cx="4426039" cy="324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04"/>
              </a:lnSpc>
            </a:pP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Garantizar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al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menos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4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sesiones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entrenamiento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a la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semana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. Es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importante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que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consideres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que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si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bien la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prioridad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es la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programación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musculación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,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los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trabajos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resistencia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aeróbica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(cardio)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que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te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mencioné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en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consulta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deben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ser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añadidos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al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menos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3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veces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por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semana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,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preferiblemente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bajo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una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combinación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cardio HIIT y LISS.</a:t>
            </a:r>
          </a:p>
          <a:p>
            <a:pPr algn="just">
              <a:lnSpc>
                <a:spcPts val="1104"/>
              </a:lnSpc>
            </a:pPr>
            <a:endParaRPr lang="en-US" sz="849" dirty="0">
              <a:solidFill>
                <a:srgbClr val="000000"/>
              </a:solidFill>
              <a:latin typeface="Exo"/>
              <a:ea typeface="Exo"/>
              <a:cs typeface="Exo"/>
              <a:sym typeface="Exo"/>
            </a:endParaRPr>
          </a:p>
          <a:p>
            <a:pPr algn="just">
              <a:lnSpc>
                <a:spcPts val="1104"/>
              </a:lnSpc>
            </a:pP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Trabajar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en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rangos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hipertrofia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, tanto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en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repeticiones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como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en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porcentaje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peso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manejado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. Esto se describe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en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un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número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repeticiones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entre 8-12, y un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porcentaje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RM entre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el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80-85 %.</a:t>
            </a:r>
          </a:p>
          <a:p>
            <a:pPr algn="just">
              <a:lnSpc>
                <a:spcPts val="1104"/>
              </a:lnSpc>
            </a:pPr>
            <a:endParaRPr lang="en-US" sz="849" dirty="0">
              <a:solidFill>
                <a:srgbClr val="000000"/>
              </a:solidFill>
              <a:latin typeface="Exo"/>
              <a:ea typeface="Exo"/>
              <a:cs typeface="Exo"/>
              <a:sym typeface="Exo"/>
            </a:endParaRPr>
          </a:p>
          <a:p>
            <a:pPr algn="just">
              <a:lnSpc>
                <a:spcPts val="1104"/>
              </a:lnSpc>
            </a:pP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Distribuir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los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grupos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musculares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forma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más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óptima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,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te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sugiero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combinar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días de push (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pecho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,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hombros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,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tríceps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), días de pull (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espalda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,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trapecios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,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bíceps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) y días de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piernas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.</a:t>
            </a:r>
          </a:p>
          <a:p>
            <a:pPr algn="just">
              <a:lnSpc>
                <a:spcPts val="1104"/>
              </a:lnSpc>
            </a:pPr>
            <a:endParaRPr lang="en-US" sz="849" dirty="0">
              <a:solidFill>
                <a:srgbClr val="000000"/>
              </a:solidFill>
              <a:latin typeface="Exo"/>
              <a:ea typeface="Exo"/>
              <a:cs typeface="Exo"/>
              <a:sym typeface="Exo"/>
            </a:endParaRPr>
          </a:p>
          <a:p>
            <a:pPr algn="just">
              <a:lnSpc>
                <a:spcPts val="1104"/>
              </a:lnSpc>
            </a:pP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Realiza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b="1" dirty="0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al </a:t>
            </a:r>
            <a:r>
              <a:rPr lang="en-US" sz="849" b="1" dirty="0" err="1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menos</a:t>
            </a:r>
            <a:r>
              <a:rPr lang="en-US" sz="849" b="1" dirty="0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 2 </a:t>
            </a:r>
            <a:r>
              <a:rPr lang="en-US" sz="849" b="1" dirty="0" err="1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veces</a:t>
            </a:r>
            <a:r>
              <a:rPr lang="en-US" sz="849" b="1" dirty="0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 </a:t>
            </a:r>
            <a:r>
              <a:rPr lang="en-US" sz="849" b="1" dirty="0" err="1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por</a:t>
            </a:r>
            <a:r>
              <a:rPr lang="en-US" sz="849" b="1" dirty="0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 </a:t>
            </a:r>
            <a:r>
              <a:rPr lang="en-US" sz="849" b="1" dirty="0" err="1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semana</a:t>
            </a:r>
            <a:r>
              <a:rPr lang="en-US" sz="849" b="1" dirty="0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 </a:t>
            </a:r>
            <a:r>
              <a:rPr lang="en-US" sz="849" b="1" dirty="0" err="1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ejercicios</a:t>
            </a:r>
            <a:r>
              <a:rPr lang="en-US" sz="849" b="1" dirty="0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 </a:t>
            </a:r>
            <a:r>
              <a:rPr lang="en-US" sz="849" b="1" dirty="0" err="1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destinados</a:t>
            </a:r>
            <a:r>
              <a:rPr lang="en-US" sz="849" b="1" dirty="0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 a </a:t>
            </a:r>
            <a:r>
              <a:rPr lang="en-US" sz="849" b="1" dirty="0" err="1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mejorar</a:t>
            </a:r>
            <a:r>
              <a:rPr lang="en-US" sz="849" b="1" dirty="0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 </a:t>
            </a:r>
            <a:r>
              <a:rPr lang="en-US" sz="849" b="1" dirty="0" err="1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tu</a:t>
            </a:r>
            <a:r>
              <a:rPr lang="en-US" sz="849" b="1" dirty="0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 </a:t>
            </a:r>
            <a:r>
              <a:rPr lang="en-US" sz="849" b="1" dirty="0" err="1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movilidad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,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aspecto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importante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para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los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rangos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movimiento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los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ejercicios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y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disminuir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el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riesgo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lesiones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. </a:t>
            </a:r>
          </a:p>
          <a:p>
            <a:pPr algn="just">
              <a:lnSpc>
                <a:spcPts val="1104"/>
              </a:lnSpc>
            </a:pPr>
            <a:endParaRPr lang="en-US" sz="849" dirty="0">
              <a:solidFill>
                <a:srgbClr val="000000"/>
              </a:solidFill>
              <a:latin typeface="Exo"/>
              <a:ea typeface="Exo"/>
              <a:cs typeface="Exo"/>
              <a:sym typeface="Exo"/>
            </a:endParaRPr>
          </a:p>
          <a:p>
            <a:pPr algn="just">
              <a:lnSpc>
                <a:spcPts val="1104"/>
              </a:lnSpc>
            </a:pP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Trata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moverte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lo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más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posible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durante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el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día,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recuerda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que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mientras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más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activo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te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mantengas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mejor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responderá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tu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cuerpo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a la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pérdida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grasa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. OJO con las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pausas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activas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.</a:t>
            </a:r>
          </a:p>
          <a:p>
            <a:pPr algn="just">
              <a:lnSpc>
                <a:spcPts val="1104"/>
              </a:lnSpc>
            </a:pPr>
            <a:endParaRPr lang="en-US" sz="849" dirty="0">
              <a:solidFill>
                <a:srgbClr val="000000"/>
              </a:solidFill>
              <a:latin typeface="Exo"/>
              <a:ea typeface="Exo"/>
              <a:cs typeface="Exo"/>
              <a:sym typeface="Exo"/>
            </a:endParaRPr>
          </a:p>
          <a:p>
            <a:pPr algn="just">
              <a:lnSpc>
                <a:spcPts val="1104"/>
              </a:lnSpc>
            </a:pP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Garantizar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en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la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medida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lo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posible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un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descanso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OPTIMO,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irte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a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dormir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antes de las 10:30 pm.  </a:t>
            </a:r>
            <a:r>
              <a:rPr lang="en-US" sz="849" b="1" dirty="0">
                <a:solidFill>
                  <a:srgbClr val="D44F02"/>
                </a:solidFill>
                <a:latin typeface="Exo Bold"/>
                <a:ea typeface="Exo Bold"/>
                <a:cs typeface="Exo Bold"/>
                <a:sym typeface="Exo Bold"/>
              </a:rPr>
              <a:t>IMPORTANTISÍMO.</a:t>
            </a:r>
          </a:p>
          <a:p>
            <a:pPr algn="just">
              <a:lnSpc>
                <a:spcPts val="1104"/>
              </a:lnSpc>
            </a:pPr>
            <a:endParaRPr lang="en-US" sz="849" b="1" dirty="0">
              <a:solidFill>
                <a:srgbClr val="D44F02"/>
              </a:solidFill>
              <a:latin typeface="Exo Bold"/>
              <a:ea typeface="Exo Bold"/>
              <a:cs typeface="Exo Bold"/>
              <a:sym typeface="Exo Bold"/>
            </a:endParaRPr>
          </a:p>
          <a:p>
            <a:pPr algn="just">
              <a:lnSpc>
                <a:spcPts val="1104"/>
              </a:lnSpc>
            </a:pP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Apegarse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lo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más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posible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a las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indicaciones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nutricionales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reflejadas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en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el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plan de </a:t>
            </a:r>
            <a:r>
              <a:rPr lang="en-US" sz="849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alimentación</a:t>
            </a:r>
            <a:r>
              <a:rPr lang="en-US" sz="849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.</a:t>
            </a:r>
          </a:p>
        </p:txBody>
      </p:sp>
      <p:sp>
        <p:nvSpPr>
          <p:cNvPr id="12" name="Freeform 12"/>
          <p:cNvSpPr/>
          <p:nvPr/>
        </p:nvSpPr>
        <p:spPr>
          <a:xfrm>
            <a:off x="76448" y="584505"/>
            <a:ext cx="153094" cy="158442"/>
          </a:xfrm>
          <a:custGeom>
            <a:avLst/>
            <a:gdLst/>
            <a:ahLst/>
            <a:cxnLst/>
            <a:rect l="l" t="t" r="r" b="b"/>
            <a:pathLst>
              <a:path w="153094" h="158442">
                <a:moveTo>
                  <a:pt x="0" y="0"/>
                </a:moveTo>
                <a:lnTo>
                  <a:pt x="153094" y="0"/>
                </a:lnTo>
                <a:lnTo>
                  <a:pt x="153094" y="158442"/>
                </a:lnTo>
                <a:lnTo>
                  <a:pt x="0" y="158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76448" y="1247074"/>
            <a:ext cx="153094" cy="158442"/>
          </a:xfrm>
          <a:custGeom>
            <a:avLst/>
            <a:gdLst/>
            <a:ahLst/>
            <a:cxnLst/>
            <a:rect l="l" t="t" r="r" b="b"/>
            <a:pathLst>
              <a:path w="153094" h="158442">
                <a:moveTo>
                  <a:pt x="0" y="0"/>
                </a:moveTo>
                <a:lnTo>
                  <a:pt x="153094" y="0"/>
                </a:lnTo>
                <a:lnTo>
                  <a:pt x="153094" y="158442"/>
                </a:lnTo>
                <a:lnTo>
                  <a:pt x="0" y="158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76448" y="1816874"/>
            <a:ext cx="153094" cy="158442"/>
          </a:xfrm>
          <a:custGeom>
            <a:avLst/>
            <a:gdLst/>
            <a:ahLst/>
            <a:cxnLst/>
            <a:rect l="l" t="t" r="r" b="b"/>
            <a:pathLst>
              <a:path w="153094" h="158442">
                <a:moveTo>
                  <a:pt x="0" y="0"/>
                </a:moveTo>
                <a:lnTo>
                  <a:pt x="153094" y="0"/>
                </a:lnTo>
                <a:lnTo>
                  <a:pt x="153094" y="158441"/>
                </a:lnTo>
                <a:lnTo>
                  <a:pt x="0" y="1584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76448" y="2228109"/>
            <a:ext cx="153094" cy="158442"/>
          </a:xfrm>
          <a:custGeom>
            <a:avLst/>
            <a:gdLst/>
            <a:ahLst/>
            <a:cxnLst/>
            <a:rect l="l" t="t" r="r" b="b"/>
            <a:pathLst>
              <a:path w="153094" h="158442">
                <a:moveTo>
                  <a:pt x="0" y="0"/>
                </a:moveTo>
                <a:lnTo>
                  <a:pt x="153094" y="0"/>
                </a:lnTo>
                <a:lnTo>
                  <a:pt x="153094" y="158441"/>
                </a:lnTo>
                <a:lnTo>
                  <a:pt x="0" y="1584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76448" y="2751080"/>
            <a:ext cx="153094" cy="158442"/>
          </a:xfrm>
          <a:custGeom>
            <a:avLst/>
            <a:gdLst/>
            <a:ahLst/>
            <a:cxnLst/>
            <a:rect l="l" t="t" r="r" b="b"/>
            <a:pathLst>
              <a:path w="153094" h="158442">
                <a:moveTo>
                  <a:pt x="0" y="0"/>
                </a:moveTo>
                <a:lnTo>
                  <a:pt x="153094" y="0"/>
                </a:lnTo>
                <a:lnTo>
                  <a:pt x="153094" y="158441"/>
                </a:lnTo>
                <a:lnTo>
                  <a:pt x="0" y="1584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76448" y="3166696"/>
            <a:ext cx="153094" cy="158442"/>
          </a:xfrm>
          <a:custGeom>
            <a:avLst/>
            <a:gdLst/>
            <a:ahLst/>
            <a:cxnLst/>
            <a:rect l="l" t="t" r="r" b="b"/>
            <a:pathLst>
              <a:path w="153094" h="158442">
                <a:moveTo>
                  <a:pt x="0" y="0"/>
                </a:moveTo>
                <a:lnTo>
                  <a:pt x="153094" y="0"/>
                </a:lnTo>
                <a:lnTo>
                  <a:pt x="153094" y="158442"/>
                </a:lnTo>
                <a:lnTo>
                  <a:pt x="0" y="158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76448" y="3582313"/>
            <a:ext cx="153094" cy="158442"/>
          </a:xfrm>
          <a:custGeom>
            <a:avLst/>
            <a:gdLst/>
            <a:ahLst/>
            <a:cxnLst/>
            <a:rect l="l" t="t" r="r" b="b"/>
            <a:pathLst>
              <a:path w="153094" h="158442">
                <a:moveTo>
                  <a:pt x="0" y="0"/>
                </a:moveTo>
                <a:lnTo>
                  <a:pt x="153094" y="0"/>
                </a:lnTo>
                <a:lnTo>
                  <a:pt x="153094" y="158442"/>
                </a:lnTo>
                <a:lnTo>
                  <a:pt x="0" y="158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4034563" y="3867131"/>
            <a:ext cx="679638" cy="890787"/>
          </a:xfrm>
          <a:custGeom>
            <a:avLst/>
            <a:gdLst/>
            <a:ahLst/>
            <a:cxnLst/>
            <a:rect l="l" t="t" r="r" b="b"/>
            <a:pathLst>
              <a:path w="679638" h="890787">
                <a:moveTo>
                  <a:pt x="0" y="0"/>
                </a:moveTo>
                <a:lnTo>
                  <a:pt x="679638" y="0"/>
                </a:lnTo>
                <a:lnTo>
                  <a:pt x="679638" y="890787"/>
                </a:lnTo>
                <a:lnTo>
                  <a:pt x="0" y="8907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893529" y="3918268"/>
            <a:ext cx="1197311" cy="16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5"/>
              </a:lnSpc>
            </a:pPr>
            <a:r>
              <a:rPr lang="en-US" sz="995" b="1" spc="59">
                <a:solidFill>
                  <a:srgbClr val="9AB7FD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OBSERVACIONES: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4814" y="4117086"/>
            <a:ext cx="2158229" cy="22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7"/>
              </a:lnSpc>
            </a:pPr>
            <a:r>
              <a:rPr lang="en-US" sz="723" b="1" spc="57" dirty="0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FECHA DE PRÓXIMO CONTROL:</a:t>
            </a:r>
          </a:p>
          <a:p>
            <a:pPr algn="ctr">
              <a:lnSpc>
                <a:spcPts val="897"/>
              </a:lnSpc>
            </a:pPr>
            <a:r>
              <a:rPr lang="en-US" sz="723" b="1" spc="57" dirty="0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{{PROXIMO_CONTROL}}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7234" y="4420297"/>
            <a:ext cx="1194016" cy="22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5"/>
              </a:lnSpc>
            </a:pPr>
            <a:r>
              <a:rPr lang="en-US" sz="697" b="1" spc="55" dirty="0">
                <a:solidFill>
                  <a:srgbClr val="FFFF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RECUERDA QUE DEBES RESERVAR TU CUPO.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-69304" y="142090"/>
            <a:ext cx="483493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0"/>
              </a:lnSpc>
              <a:spcBef>
                <a:spcPct val="0"/>
              </a:spcBef>
            </a:pPr>
            <a:r>
              <a:rPr lang="en-US" sz="1800" b="1" spc="117" dirty="0">
                <a:solidFill>
                  <a:srgbClr val="FFFFFF"/>
                </a:solidFill>
                <a:latin typeface="Assistant Ultra-Bold"/>
                <a:ea typeface="Assistant Ultra-Bold"/>
                <a:cs typeface="Assistant Ultra-Bold"/>
                <a:sym typeface="Assistant Ultra-Bold"/>
              </a:rPr>
              <a:t>RECOMENDACIONES (ACTIVIDAD FÍSICA)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7E5D6-C5BA-18ED-FD9A-D3E267D73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2BFB3CF-32FF-459A-A256-8E51C56C9FB7}"/>
              </a:ext>
            </a:extLst>
          </p:cNvPr>
          <p:cNvGrpSpPr/>
          <p:nvPr/>
        </p:nvGrpSpPr>
        <p:grpSpPr>
          <a:xfrm>
            <a:off x="0" y="3871713"/>
            <a:ext cx="3072982" cy="890787"/>
            <a:chOff x="0" y="0"/>
            <a:chExt cx="4015645" cy="116404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B5444CD-E1A2-31C1-F16C-AEBE8B2293BF}"/>
                </a:ext>
              </a:extLst>
            </p:cNvPr>
            <p:cNvSpPr/>
            <p:nvPr/>
          </p:nvSpPr>
          <p:spPr>
            <a:xfrm>
              <a:off x="0" y="0"/>
              <a:ext cx="4015646" cy="1164044"/>
            </a:xfrm>
            <a:custGeom>
              <a:avLst/>
              <a:gdLst/>
              <a:ahLst/>
              <a:cxnLst/>
              <a:rect l="l" t="t" r="r" b="b"/>
              <a:pathLst>
                <a:path w="4015646" h="1164044">
                  <a:moveTo>
                    <a:pt x="0" y="0"/>
                  </a:moveTo>
                  <a:lnTo>
                    <a:pt x="4015646" y="0"/>
                  </a:lnTo>
                  <a:lnTo>
                    <a:pt x="4015646" y="1164044"/>
                  </a:lnTo>
                  <a:lnTo>
                    <a:pt x="0" y="1164044"/>
                  </a:lnTo>
                  <a:close/>
                </a:path>
              </a:pathLst>
            </a:custGeom>
            <a:solidFill>
              <a:srgbClr val="293B6A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18C4B1D-76E9-4494-7755-CB3338237154}"/>
              </a:ext>
            </a:extLst>
          </p:cNvPr>
          <p:cNvGrpSpPr>
            <a:grpSpLocks noChangeAspect="1"/>
          </p:cNvGrpSpPr>
          <p:nvPr/>
        </p:nvGrpSpPr>
        <p:grpSpPr>
          <a:xfrm>
            <a:off x="113846" y="3887123"/>
            <a:ext cx="863339" cy="859966"/>
            <a:chOff x="0" y="0"/>
            <a:chExt cx="6502400" cy="6477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CFB1C2B-E86A-8862-561C-706D4ADB2114}"/>
                </a:ext>
              </a:extLst>
            </p:cNvPr>
            <p:cNvSpPr/>
            <p:nvPr/>
          </p:nvSpPr>
          <p:spPr>
            <a:xfrm>
              <a:off x="116940" y="124149"/>
              <a:ext cx="6262195" cy="6234315"/>
            </a:xfrm>
            <a:custGeom>
              <a:avLst/>
              <a:gdLst/>
              <a:ahLst/>
              <a:cxnLst/>
              <a:rect l="l" t="t" r="r" b="b"/>
              <a:pathLst>
                <a:path w="6262195" h="623431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2"/>
              <a:stretch>
                <a:fillRect l="-12295" r="223" b="-12573"/>
              </a:stretch>
            </a:blipFill>
          </p:spPr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433033C-182A-9E83-3A02-5DFDF0A059A1}"/>
                </a:ext>
              </a:extLst>
            </p:cNvPr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C229151-6208-58EF-E207-2378E4563584}"/>
              </a:ext>
            </a:extLst>
          </p:cNvPr>
          <p:cNvSpPr/>
          <p:nvPr/>
        </p:nvSpPr>
        <p:spPr>
          <a:xfrm>
            <a:off x="2581377" y="4340318"/>
            <a:ext cx="272025" cy="302250"/>
          </a:xfrm>
          <a:custGeom>
            <a:avLst/>
            <a:gdLst/>
            <a:ahLst/>
            <a:cxnLst/>
            <a:rect l="l" t="t" r="r" b="b"/>
            <a:pathLst>
              <a:path w="272025" h="302250">
                <a:moveTo>
                  <a:pt x="0" y="0"/>
                </a:moveTo>
                <a:lnTo>
                  <a:pt x="272024" y="0"/>
                </a:lnTo>
                <a:lnTo>
                  <a:pt x="272024" y="302249"/>
                </a:lnTo>
                <a:lnTo>
                  <a:pt x="0" y="3022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7D651B2F-EDD7-CA97-1122-DDF5D270D8E5}"/>
              </a:ext>
            </a:extLst>
          </p:cNvPr>
          <p:cNvGrpSpPr/>
          <p:nvPr/>
        </p:nvGrpSpPr>
        <p:grpSpPr>
          <a:xfrm rot="-5400000">
            <a:off x="2176377" y="-2108196"/>
            <a:ext cx="415999" cy="4762502"/>
            <a:chOff x="0" y="0"/>
            <a:chExt cx="660400" cy="8295007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D70DB34-DDEF-6320-9CAA-EC9AA55C8BC0}"/>
                </a:ext>
              </a:extLst>
            </p:cNvPr>
            <p:cNvSpPr/>
            <p:nvPr/>
          </p:nvSpPr>
          <p:spPr>
            <a:xfrm>
              <a:off x="0" y="0"/>
              <a:ext cx="660400" cy="8295007"/>
            </a:xfrm>
            <a:custGeom>
              <a:avLst/>
              <a:gdLst/>
              <a:ahLst/>
              <a:cxnLst/>
              <a:rect l="l" t="t" r="r" b="b"/>
              <a:pathLst>
                <a:path w="660400" h="8295007">
                  <a:moveTo>
                    <a:pt x="220252" y="8275937"/>
                  </a:moveTo>
                  <a:cubicBezTo>
                    <a:pt x="254109" y="8287452"/>
                    <a:pt x="292600" y="8295007"/>
                    <a:pt x="330378" y="8295007"/>
                  </a:cubicBezTo>
                  <a:cubicBezTo>
                    <a:pt x="368157" y="8295007"/>
                    <a:pt x="404509" y="8288530"/>
                    <a:pt x="438009" y="8277016"/>
                  </a:cubicBezTo>
                  <a:cubicBezTo>
                    <a:pt x="438723" y="8276656"/>
                    <a:pt x="439435" y="8276656"/>
                    <a:pt x="440148" y="8276297"/>
                  </a:cubicBezTo>
                  <a:cubicBezTo>
                    <a:pt x="565955" y="8230242"/>
                    <a:pt x="658618" y="8108628"/>
                    <a:pt x="660400" y="780030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794515"/>
                  </a:lnTo>
                  <a:cubicBezTo>
                    <a:pt x="1782" y="8109347"/>
                    <a:pt x="93019" y="8230962"/>
                    <a:pt x="220252" y="8275937"/>
                  </a:cubicBezTo>
                  <a:close/>
                </a:path>
              </a:pathLst>
            </a:custGeom>
            <a:solidFill>
              <a:srgbClr val="233A57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5CAF3AF-B0EA-391D-E329-838CB8493227}"/>
                </a:ext>
              </a:extLst>
            </p:cNvPr>
            <p:cNvSpPr txBox="1"/>
            <p:nvPr/>
          </p:nvSpPr>
          <p:spPr>
            <a:xfrm>
              <a:off x="0" y="-47625"/>
              <a:ext cx="660400" cy="821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7"/>
                </a:lnSpc>
              </a:pPr>
              <a:endParaRPr/>
            </a:p>
          </p:txBody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4CA9E548-6558-B579-5B7D-A3AC9120EF94}"/>
              </a:ext>
            </a:extLst>
          </p:cNvPr>
          <p:cNvSpPr/>
          <p:nvPr/>
        </p:nvSpPr>
        <p:spPr>
          <a:xfrm>
            <a:off x="76448" y="584505"/>
            <a:ext cx="153094" cy="158442"/>
          </a:xfrm>
          <a:custGeom>
            <a:avLst/>
            <a:gdLst/>
            <a:ahLst/>
            <a:cxnLst/>
            <a:rect l="l" t="t" r="r" b="b"/>
            <a:pathLst>
              <a:path w="153094" h="158442">
                <a:moveTo>
                  <a:pt x="0" y="0"/>
                </a:moveTo>
                <a:lnTo>
                  <a:pt x="153094" y="0"/>
                </a:lnTo>
                <a:lnTo>
                  <a:pt x="153094" y="158442"/>
                </a:lnTo>
                <a:lnTo>
                  <a:pt x="0" y="158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E814C223-5C2D-EE0A-82BD-F128B67440C7}"/>
              </a:ext>
            </a:extLst>
          </p:cNvPr>
          <p:cNvSpPr/>
          <p:nvPr/>
        </p:nvSpPr>
        <p:spPr>
          <a:xfrm>
            <a:off x="46996" y="1457625"/>
            <a:ext cx="153094" cy="158442"/>
          </a:xfrm>
          <a:custGeom>
            <a:avLst/>
            <a:gdLst/>
            <a:ahLst/>
            <a:cxnLst/>
            <a:rect l="l" t="t" r="r" b="b"/>
            <a:pathLst>
              <a:path w="153094" h="158442">
                <a:moveTo>
                  <a:pt x="0" y="0"/>
                </a:moveTo>
                <a:lnTo>
                  <a:pt x="153094" y="0"/>
                </a:lnTo>
                <a:lnTo>
                  <a:pt x="153094" y="158441"/>
                </a:lnTo>
                <a:lnTo>
                  <a:pt x="0" y="1584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6DBD1CD3-5F43-D51A-F2BD-21C349EFE359}"/>
              </a:ext>
            </a:extLst>
          </p:cNvPr>
          <p:cNvSpPr/>
          <p:nvPr/>
        </p:nvSpPr>
        <p:spPr>
          <a:xfrm>
            <a:off x="46996" y="1852978"/>
            <a:ext cx="153094" cy="158442"/>
          </a:xfrm>
          <a:custGeom>
            <a:avLst/>
            <a:gdLst/>
            <a:ahLst/>
            <a:cxnLst/>
            <a:rect l="l" t="t" r="r" b="b"/>
            <a:pathLst>
              <a:path w="153094" h="158442">
                <a:moveTo>
                  <a:pt x="0" y="0"/>
                </a:moveTo>
                <a:lnTo>
                  <a:pt x="153094" y="0"/>
                </a:lnTo>
                <a:lnTo>
                  <a:pt x="153094" y="158441"/>
                </a:lnTo>
                <a:lnTo>
                  <a:pt x="0" y="1584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05BD4E31-D9EF-6E63-9699-518431D670BD}"/>
              </a:ext>
            </a:extLst>
          </p:cNvPr>
          <p:cNvSpPr/>
          <p:nvPr/>
        </p:nvSpPr>
        <p:spPr>
          <a:xfrm>
            <a:off x="46996" y="2430616"/>
            <a:ext cx="153094" cy="158442"/>
          </a:xfrm>
          <a:custGeom>
            <a:avLst/>
            <a:gdLst/>
            <a:ahLst/>
            <a:cxnLst/>
            <a:rect l="l" t="t" r="r" b="b"/>
            <a:pathLst>
              <a:path w="153094" h="158442">
                <a:moveTo>
                  <a:pt x="0" y="0"/>
                </a:moveTo>
                <a:lnTo>
                  <a:pt x="153094" y="0"/>
                </a:lnTo>
                <a:lnTo>
                  <a:pt x="153094" y="158441"/>
                </a:lnTo>
                <a:lnTo>
                  <a:pt x="0" y="1584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BB43F0B4-F4CE-4316-B120-E783D1E2B808}"/>
              </a:ext>
            </a:extLst>
          </p:cNvPr>
          <p:cNvSpPr/>
          <p:nvPr/>
        </p:nvSpPr>
        <p:spPr>
          <a:xfrm>
            <a:off x="46996" y="2987992"/>
            <a:ext cx="153094" cy="158442"/>
          </a:xfrm>
          <a:custGeom>
            <a:avLst/>
            <a:gdLst/>
            <a:ahLst/>
            <a:cxnLst/>
            <a:rect l="l" t="t" r="r" b="b"/>
            <a:pathLst>
              <a:path w="153094" h="158442">
                <a:moveTo>
                  <a:pt x="0" y="0"/>
                </a:moveTo>
                <a:lnTo>
                  <a:pt x="153094" y="0"/>
                </a:lnTo>
                <a:lnTo>
                  <a:pt x="153094" y="158442"/>
                </a:lnTo>
                <a:lnTo>
                  <a:pt x="0" y="158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9AD318EF-03B7-558B-5001-4803A1BEB8C5}"/>
              </a:ext>
            </a:extLst>
          </p:cNvPr>
          <p:cNvSpPr/>
          <p:nvPr/>
        </p:nvSpPr>
        <p:spPr>
          <a:xfrm>
            <a:off x="46996" y="3369589"/>
            <a:ext cx="153094" cy="158442"/>
          </a:xfrm>
          <a:custGeom>
            <a:avLst/>
            <a:gdLst/>
            <a:ahLst/>
            <a:cxnLst/>
            <a:rect l="l" t="t" r="r" b="b"/>
            <a:pathLst>
              <a:path w="153094" h="158442">
                <a:moveTo>
                  <a:pt x="0" y="0"/>
                </a:moveTo>
                <a:lnTo>
                  <a:pt x="153094" y="0"/>
                </a:lnTo>
                <a:lnTo>
                  <a:pt x="153094" y="158442"/>
                </a:lnTo>
                <a:lnTo>
                  <a:pt x="0" y="158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669EF69C-EED7-A71A-814D-F5BB7A725B80}"/>
              </a:ext>
            </a:extLst>
          </p:cNvPr>
          <p:cNvSpPr/>
          <p:nvPr/>
        </p:nvSpPr>
        <p:spPr>
          <a:xfrm>
            <a:off x="4034563" y="3867131"/>
            <a:ext cx="679638" cy="890787"/>
          </a:xfrm>
          <a:custGeom>
            <a:avLst/>
            <a:gdLst/>
            <a:ahLst/>
            <a:cxnLst/>
            <a:rect l="l" t="t" r="r" b="b"/>
            <a:pathLst>
              <a:path w="679638" h="890787">
                <a:moveTo>
                  <a:pt x="0" y="0"/>
                </a:moveTo>
                <a:lnTo>
                  <a:pt x="679638" y="0"/>
                </a:lnTo>
                <a:lnTo>
                  <a:pt x="679638" y="890787"/>
                </a:lnTo>
                <a:lnTo>
                  <a:pt x="0" y="8907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7A70442-CC53-4BFD-7554-EDAB4B7E891C}"/>
              </a:ext>
            </a:extLst>
          </p:cNvPr>
          <p:cNvSpPr txBox="1"/>
          <p:nvPr/>
        </p:nvSpPr>
        <p:spPr>
          <a:xfrm>
            <a:off x="893529" y="3918268"/>
            <a:ext cx="1197311" cy="16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5"/>
              </a:lnSpc>
            </a:pPr>
            <a:r>
              <a:rPr lang="en-US" sz="995" b="1" spc="59">
                <a:solidFill>
                  <a:srgbClr val="9AB7FD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OBSERVACIONES: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CCFD3AF-F353-6EC4-0FC2-C1E6B82C6BAA}"/>
              </a:ext>
            </a:extLst>
          </p:cNvPr>
          <p:cNvSpPr txBox="1"/>
          <p:nvPr/>
        </p:nvSpPr>
        <p:spPr>
          <a:xfrm>
            <a:off x="804814" y="4117086"/>
            <a:ext cx="2158229" cy="22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7"/>
              </a:lnSpc>
            </a:pPr>
            <a:r>
              <a:rPr lang="en-US" sz="723" b="1" spc="57" dirty="0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FECHA DE PRÓXIMO CONTROL:</a:t>
            </a:r>
          </a:p>
          <a:p>
            <a:pPr algn="ctr">
              <a:lnSpc>
                <a:spcPts val="897"/>
              </a:lnSpc>
            </a:pPr>
            <a:r>
              <a:rPr lang="en-US" sz="723" b="1" spc="57" dirty="0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{{PROXIMO_CONTROL}}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F9BDB23-5845-3658-191D-EE666CE1F55B}"/>
              </a:ext>
            </a:extLst>
          </p:cNvPr>
          <p:cNvSpPr txBox="1"/>
          <p:nvPr/>
        </p:nvSpPr>
        <p:spPr>
          <a:xfrm>
            <a:off x="1187234" y="4420297"/>
            <a:ext cx="1194016" cy="22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5"/>
              </a:lnSpc>
            </a:pPr>
            <a:r>
              <a:rPr lang="en-US" sz="697" b="1" spc="55" dirty="0">
                <a:solidFill>
                  <a:srgbClr val="FFFF00"/>
                </a:solidFill>
                <a:latin typeface="Cooper Hewitt Bold Italics"/>
                <a:ea typeface="Cooper Hewitt Bold Italics"/>
                <a:cs typeface="Cooper Hewitt Bold Italics"/>
                <a:sym typeface="Cooper Hewitt Bold Italics"/>
              </a:rPr>
              <a:t>RECUERDA QUE DEBES RESERVAR TU CUPO.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5CD8382-C566-405C-2EFD-37DFC26EDE60}"/>
              </a:ext>
            </a:extLst>
          </p:cNvPr>
          <p:cNvSpPr txBox="1"/>
          <p:nvPr/>
        </p:nvSpPr>
        <p:spPr>
          <a:xfrm>
            <a:off x="-69304" y="142090"/>
            <a:ext cx="483493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0"/>
              </a:lnSpc>
              <a:spcBef>
                <a:spcPct val="0"/>
              </a:spcBef>
            </a:pPr>
            <a:r>
              <a:rPr lang="en-US" sz="1800" b="1" spc="117" dirty="0">
                <a:solidFill>
                  <a:srgbClr val="FFFFFF"/>
                </a:solidFill>
                <a:latin typeface="Assistant Ultra-Bold"/>
                <a:ea typeface="Assistant Ultra-Bold"/>
                <a:cs typeface="Assistant Ultra-Bold"/>
                <a:sym typeface="Assistant Ultra-Bold"/>
              </a:rPr>
              <a:t>RECOMENDACIONES (ACTIVIDAD FÍSICA)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83DC27A5-9DA2-D366-C4C1-9E9C376B2509}"/>
              </a:ext>
            </a:extLst>
          </p:cNvPr>
          <p:cNvSpPr txBox="1"/>
          <p:nvPr/>
        </p:nvSpPr>
        <p:spPr>
          <a:xfrm>
            <a:off x="250867" y="612013"/>
            <a:ext cx="4426039" cy="3091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04"/>
              </a:lnSpc>
            </a:pP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Garantizar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al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menos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4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sesiones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entrenamiento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a la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semana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. Es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importante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que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consideres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que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si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bien la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prioridad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es la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programación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musculación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,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los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trabajos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resistencia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aeróbica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(cardio)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que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te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mencioné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en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consulta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deben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ser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añadidos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al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menos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3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veces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por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semana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,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preferiblemente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bajo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una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combinación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cardio HIIT y LISS.</a:t>
            </a:r>
          </a:p>
          <a:p>
            <a:pPr algn="just">
              <a:lnSpc>
                <a:spcPts val="1104"/>
              </a:lnSpc>
            </a:pPr>
            <a:endParaRPr lang="en-US" sz="900" dirty="0">
              <a:solidFill>
                <a:srgbClr val="000000"/>
              </a:solidFill>
              <a:latin typeface="Exo"/>
              <a:ea typeface="Exo"/>
              <a:cs typeface="Exo"/>
              <a:sym typeface="Exo"/>
            </a:endParaRPr>
          </a:p>
          <a:p>
            <a:pPr algn="just">
              <a:lnSpc>
                <a:spcPts val="1104"/>
              </a:lnSpc>
            </a:pPr>
            <a:r>
              <a:rPr lang="es-E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Incluye dentro de tu entrenamiento ejercicios para la zona abdominal, estos te ayudarán a fortalecer tu abdomen y hará diferencia en cuanto a POSTURA.</a:t>
            </a:r>
          </a:p>
          <a:p>
            <a:pPr algn="just">
              <a:lnSpc>
                <a:spcPts val="1104"/>
              </a:lnSpc>
            </a:pPr>
            <a:endParaRPr lang="en-US" sz="900" dirty="0">
              <a:solidFill>
                <a:srgbClr val="000000"/>
              </a:solidFill>
              <a:latin typeface="Exo"/>
              <a:ea typeface="Exo"/>
              <a:cs typeface="Exo"/>
              <a:sym typeface="Exo"/>
            </a:endParaRPr>
          </a:p>
          <a:p>
            <a:pPr algn="just">
              <a:lnSpc>
                <a:spcPts val="1104"/>
              </a:lnSpc>
            </a:pP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Realiza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b="1" dirty="0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al </a:t>
            </a:r>
            <a:r>
              <a:rPr lang="en-US" sz="900" b="1" dirty="0" err="1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menos</a:t>
            </a:r>
            <a:r>
              <a:rPr lang="en-US" sz="900" b="1" dirty="0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 2 </a:t>
            </a:r>
            <a:r>
              <a:rPr lang="en-US" sz="900" b="1" dirty="0" err="1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veces</a:t>
            </a:r>
            <a:r>
              <a:rPr lang="en-US" sz="900" b="1" dirty="0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 </a:t>
            </a:r>
            <a:r>
              <a:rPr lang="en-US" sz="900" b="1" dirty="0" err="1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por</a:t>
            </a:r>
            <a:r>
              <a:rPr lang="en-US" sz="900" b="1" dirty="0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 </a:t>
            </a:r>
            <a:r>
              <a:rPr lang="en-US" sz="900" b="1" dirty="0" err="1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semana</a:t>
            </a:r>
            <a:r>
              <a:rPr lang="en-US" sz="900" b="1" dirty="0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 </a:t>
            </a:r>
            <a:r>
              <a:rPr lang="en-US" sz="900" b="1" dirty="0" err="1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ejercicios</a:t>
            </a:r>
            <a:r>
              <a:rPr lang="en-US" sz="900" b="1" dirty="0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 </a:t>
            </a:r>
            <a:r>
              <a:rPr lang="en-US" sz="900" b="1" dirty="0" err="1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destinados</a:t>
            </a:r>
            <a:r>
              <a:rPr lang="en-US" sz="900" b="1" dirty="0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 a </a:t>
            </a:r>
            <a:r>
              <a:rPr lang="en-US" sz="900" b="1" dirty="0" err="1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mejorar</a:t>
            </a:r>
            <a:r>
              <a:rPr lang="en-US" sz="900" b="1" dirty="0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 </a:t>
            </a:r>
            <a:r>
              <a:rPr lang="en-US" sz="900" b="1" dirty="0" err="1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tu</a:t>
            </a:r>
            <a:r>
              <a:rPr lang="en-US" sz="900" b="1" dirty="0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 </a:t>
            </a:r>
            <a:r>
              <a:rPr lang="en-US" sz="900" b="1" dirty="0" err="1">
                <a:solidFill>
                  <a:srgbClr val="000000"/>
                </a:solidFill>
                <a:latin typeface="Exo Bold"/>
                <a:ea typeface="Exo Bold"/>
                <a:cs typeface="Exo Bold"/>
                <a:sym typeface="Exo Bold"/>
              </a:rPr>
              <a:t>movilidad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,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aspecto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importante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para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los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rangos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movimiento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los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ejercicios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y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disminuir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el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riesgo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lesiones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. </a:t>
            </a:r>
          </a:p>
          <a:p>
            <a:pPr algn="just">
              <a:lnSpc>
                <a:spcPts val="1104"/>
              </a:lnSpc>
            </a:pPr>
            <a:endParaRPr lang="en-US" sz="900" dirty="0">
              <a:solidFill>
                <a:srgbClr val="000000"/>
              </a:solidFill>
              <a:latin typeface="Exo"/>
              <a:ea typeface="Exo"/>
              <a:cs typeface="Exo"/>
              <a:sym typeface="Exo"/>
            </a:endParaRPr>
          </a:p>
          <a:p>
            <a:pPr algn="just">
              <a:lnSpc>
                <a:spcPts val="1104"/>
              </a:lnSpc>
            </a:pP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Trata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moverte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lo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más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posible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durante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el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día,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recuerda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que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mientras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más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activo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te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mantengas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mejor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responderá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tu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cuerpo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a la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pérdida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grasa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. OJO con las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pausas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activas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.</a:t>
            </a:r>
          </a:p>
          <a:p>
            <a:pPr algn="just">
              <a:lnSpc>
                <a:spcPts val="1104"/>
              </a:lnSpc>
            </a:pPr>
            <a:endParaRPr lang="en-US" sz="900" dirty="0">
              <a:solidFill>
                <a:srgbClr val="000000"/>
              </a:solidFill>
              <a:latin typeface="Exo"/>
              <a:ea typeface="Exo"/>
              <a:cs typeface="Exo"/>
              <a:sym typeface="Exo"/>
            </a:endParaRPr>
          </a:p>
          <a:p>
            <a:pPr algn="just">
              <a:lnSpc>
                <a:spcPts val="1104"/>
              </a:lnSpc>
            </a:pP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Garantizar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en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la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medida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de lo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posible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un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descanso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OPTIMO,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irte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a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dormir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antes de las 10:30 pm.  </a:t>
            </a:r>
            <a:r>
              <a:rPr lang="en-US" sz="900" b="1" dirty="0">
                <a:solidFill>
                  <a:srgbClr val="D44F02"/>
                </a:solidFill>
                <a:latin typeface="Exo Bold"/>
                <a:ea typeface="Exo Bold"/>
                <a:cs typeface="Exo Bold"/>
                <a:sym typeface="Exo Bold"/>
              </a:rPr>
              <a:t>IMPORTANTISÍMO.</a:t>
            </a:r>
          </a:p>
          <a:p>
            <a:pPr algn="just">
              <a:lnSpc>
                <a:spcPts val="1104"/>
              </a:lnSpc>
            </a:pPr>
            <a:endParaRPr lang="en-US" sz="900" b="1" dirty="0">
              <a:solidFill>
                <a:srgbClr val="D44F02"/>
              </a:solidFill>
              <a:latin typeface="Exo Bold"/>
              <a:ea typeface="Exo Bold"/>
              <a:cs typeface="Exo Bold"/>
              <a:sym typeface="Exo Bold"/>
            </a:endParaRPr>
          </a:p>
          <a:p>
            <a:pPr algn="just">
              <a:lnSpc>
                <a:spcPts val="1104"/>
              </a:lnSpc>
            </a:pP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Apegarse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lo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más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posible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a las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indicaciones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nutricionales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reflejadas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en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el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 plan de </a:t>
            </a:r>
            <a:r>
              <a:rPr lang="en-US" sz="900" dirty="0" err="1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alimentación</a:t>
            </a:r>
            <a:r>
              <a:rPr lang="en-US" sz="900" dirty="0">
                <a:solidFill>
                  <a:srgbClr val="000000"/>
                </a:solidFill>
                <a:latin typeface="Exo"/>
                <a:ea typeface="Exo"/>
                <a:cs typeface="Exo"/>
                <a:sym typeface="Ex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0875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1090</Words>
  <Application>Microsoft Macintosh PowerPoint</Application>
  <PresentationFormat>Custom</PresentationFormat>
  <Paragraphs>135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Lovelo</vt:lpstr>
      <vt:lpstr>Arial Black</vt:lpstr>
      <vt:lpstr>Cabin</vt:lpstr>
      <vt:lpstr>Calibri</vt:lpstr>
      <vt:lpstr>Assistant Ultra-Bold</vt:lpstr>
      <vt:lpstr>Cooper Hewitt Bold</vt:lpstr>
      <vt:lpstr>Exo Bold</vt:lpstr>
      <vt:lpstr>Cooper Hewitt Bold Italics</vt:lpstr>
      <vt:lpstr>Aptos</vt:lpstr>
      <vt:lpstr>Assistant Bold</vt:lpstr>
      <vt:lpstr>Exo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antropométrico David Tabares. Noviembre 2025</dc:title>
  <cp:lastModifiedBy>Ernesto Lugo</cp:lastModifiedBy>
  <cp:revision>18</cp:revision>
  <dcterms:created xsi:type="dcterms:W3CDTF">2006-08-16T00:00:00Z</dcterms:created>
  <dcterms:modified xsi:type="dcterms:W3CDTF">2026-04-05T16:57:13Z</dcterms:modified>
  <dc:identifier>DAGsh3b10XY</dc:identifier>
</cp:coreProperties>
</file>